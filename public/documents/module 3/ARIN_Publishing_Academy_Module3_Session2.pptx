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85" r:id="rId3"/>
    <p:sldId id="283" r:id="rId4"/>
    <p:sldId id="289" r:id="rId5"/>
    <p:sldId id="314" r:id="rId6"/>
    <p:sldId id="317" r:id="rId7"/>
    <p:sldId id="318" r:id="rId8"/>
    <p:sldId id="319" r:id="rId9"/>
    <p:sldId id="290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282" r:id="rId19"/>
  </p:sldIdLst>
  <p:sldSz cx="9144000" cy="5143500" type="screen16x9"/>
  <p:notesSz cx="6858000" cy="9144000"/>
  <p:embeddedFontLst>
    <p:embeddedFont>
      <p:font typeface="Average" panose="020B0604020202020204" charset="0"/>
      <p:regular r:id="rId21"/>
    </p:embeddedFont>
    <p:embeddedFont>
      <p:font typeface="Oswald" panose="00000500000000000000" pitchFamily="2" charset="0"/>
      <p:regular r:id="rId22"/>
      <p:bold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Rubik" panose="020B0604020202020204" charset="-79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C49"/>
    <a:srgbClr val="30B6E0"/>
    <a:srgbClr val="BDE9FF"/>
    <a:srgbClr val="00FFFF"/>
    <a:srgbClr val="FF7C8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7D09B5E-6C5B-4721-BDBA-B05FA65F1475}">
  <a:tblStyle styleId="{77D09B5E-6C5B-4721-BDBA-B05FA65F14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B80124-4610-42D2-A984-0F97B37847D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36"/>
    <p:restoredTop sz="94662"/>
  </p:normalViewPr>
  <p:slideViewPr>
    <p:cSldViewPr snapToGrid="0">
      <p:cViewPr varScale="1">
        <p:scale>
          <a:sx n="133" d="100"/>
          <a:sy n="133" d="100"/>
        </p:scale>
        <p:origin x="312" y="1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86857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980f9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980f9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3fcad37ad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3fcad37ad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21C4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 hasCustomPrompt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Poppins" pitchFamily="2" charset="77"/>
                <a:cs typeface="Poppins" pitchFamily="2" charset="7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 dirty="0"/>
              <a:t>Insert Text</a:t>
            </a:r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115950" y="4532650"/>
            <a:ext cx="9375900" cy="51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996750" y="4566100"/>
            <a:ext cx="715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" name="Google Shape;46;p8">
            <a:extLst>
              <a:ext uri="{FF2B5EF4-FFF2-40B4-BE49-F238E27FC236}">
                <a16:creationId xmlns:a16="http://schemas.microsoft.com/office/drawing/2014/main" id="{D6381813-04E5-7B97-D1A8-6D735EE16DD7}"/>
              </a:ext>
            </a:extLst>
          </p:cNvPr>
          <p:cNvSpPr/>
          <p:nvPr userDrawn="1"/>
        </p:nvSpPr>
        <p:spPr>
          <a:xfrm rot="10800000" flipH="1">
            <a:off x="3818778" y="-106326"/>
            <a:ext cx="1091953" cy="984435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Google Shape;47;p8">
            <a:extLst>
              <a:ext uri="{FF2B5EF4-FFF2-40B4-BE49-F238E27FC236}">
                <a16:creationId xmlns:a16="http://schemas.microsoft.com/office/drawing/2014/main" id="{472FE6FF-34D3-EDBD-0CF6-1471BE5F5090}"/>
              </a:ext>
            </a:extLst>
          </p:cNvPr>
          <p:cNvPicPr preferRelativeResize="0"/>
          <p:nvPr userDrawn="1"/>
        </p:nvPicPr>
        <p:blipFill>
          <a:blip r:embed="rId2"/>
          <a:srcRect t="20646" b="18790"/>
          <a:stretch/>
        </p:blipFill>
        <p:spPr>
          <a:xfrm>
            <a:off x="3872218" y="68891"/>
            <a:ext cx="956122" cy="58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bg>
      <p:bgPr>
        <a:solidFill>
          <a:srgbClr val="021C49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671250" y="932126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-115950" y="4532650"/>
            <a:ext cx="9375900" cy="513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996750" y="4566100"/>
            <a:ext cx="715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b="1" dirty="0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E777491E-991B-F8D3-0BDF-F945F8C0D26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71250" y="2056976"/>
            <a:ext cx="7852200" cy="215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Google Shape;46;p8">
            <a:extLst>
              <a:ext uri="{FF2B5EF4-FFF2-40B4-BE49-F238E27FC236}">
                <a16:creationId xmlns:a16="http://schemas.microsoft.com/office/drawing/2014/main" id="{143A6F68-56AB-1218-39D4-74688E64A9ED}"/>
              </a:ext>
            </a:extLst>
          </p:cNvPr>
          <p:cNvSpPr/>
          <p:nvPr userDrawn="1"/>
        </p:nvSpPr>
        <p:spPr>
          <a:xfrm rot="10800000" flipH="1">
            <a:off x="184031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47;p8">
            <a:extLst>
              <a:ext uri="{FF2B5EF4-FFF2-40B4-BE49-F238E27FC236}">
                <a16:creationId xmlns:a16="http://schemas.microsoft.com/office/drawing/2014/main" id="{8EF94C0A-4CE6-ABB8-131B-1039DAE52865}"/>
              </a:ext>
            </a:extLst>
          </p:cNvPr>
          <p:cNvPicPr preferRelativeResize="0"/>
          <p:nvPr userDrawn="1"/>
        </p:nvPicPr>
        <p:blipFill>
          <a:blip r:embed="rId2"/>
          <a:srcRect t="20646" b="18790"/>
          <a:stretch/>
        </p:blipFill>
        <p:spPr>
          <a:xfrm>
            <a:off x="237470" y="68891"/>
            <a:ext cx="752322" cy="45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tx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Poppins" pitchFamily="2" charset="77"/>
                <a:cs typeface="Poppins" pitchFamily="2" charset="77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rgbClr val="021C49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rgbClr val="021C49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021C49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Poppins" pitchFamily="2" charset="77"/>
                <a:cs typeface="Poppins" pitchFamily="2" charset="77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userDrawn="1">
  <p:cSld name="MAIN_POINT"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1025912"/>
            <a:ext cx="6227100" cy="10259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021C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3" name="Google Shape;43;p8"/>
          <p:cNvSpPr txBox="1"/>
          <p:nvPr/>
        </p:nvSpPr>
        <p:spPr>
          <a:xfrm>
            <a:off x="385525" y="46052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/>
          <p:nvPr/>
        </p:nvSpPr>
        <p:spPr>
          <a:xfrm rot="10800000" flipH="1">
            <a:off x="184031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2"/>
          <a:srcRect t="20646" b="18790"/>
          <a:stretch/>
        </p:blipFill>
        <p:spPr>
          <a:xfrm>
            <a:off x="237470" y="68891"/>
            <a:ext cx="752322" cy="4574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;p1">
            <a:extLst>
              <a:ext uri="{FF2B5EF4-FFF2-40B4-BE49-F238E27FC236}">
                <a16:creationId xmlns:a16="http://schemas.microsoft.com/office/drawing/2014/main" id="{1A1A3D08-F8F2-F272-44C8-3D53FCA5927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90249" y="2274848"/>
            <a:ext cx="8118491" cy="1936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Poppins" pitchFamily="2" charset="77"/>
                <a:ea typeface="Poppins" pitchFamily="2" charset="77"/>
                <a:cs typeface="Poppins" pitchFamily="2" charset="77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 preserve="1">
  <p:cSld name="1_Main point">
    <p:bg>
      <p:bgPr>
        <a:solidFill>
          <a:schemeClr val="lt2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rgbClr val="021C4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43" name="Google Shape;43;p8"/>
          <p:cNvSpPr txBox="1"/>
          <p:nvPr/>
        </p:nvSpPr>
        <p:spPr>
          <a:xfrm>
            <a:off x="385525" y="46052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" name="Google Shape;46;p8"/>
          <p:cNvSpPr/>
          <p:nvPr/>
        </p:nvSpPr>
        <p:spPr>
          <a:xfrm rot="10800000" flipH="1">
            <a:off x="8111350" y="-106325"/>
            <a:ext cx="859200" cy="774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142875" dist="76200" dir="4680000" algn="bl" rotWithShape="0">
              <a:srgbClr val="434343">
                <a:alpha val="43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" name="Google Shape;47;p8"/>
          <p:cNvPicPr preferRelativeResize="0"/>
          <p:nvPr/>
        </p:nvPicPr>
        <p:blipFill>
          <a:blip r:embed="rId2"/>
          <a:srcRect t="20646" b="18790"/>
          <a:stretch/>
        </p:blipFill>
        <p:spPr>
          <a:xfrm>
            <a:off x="8164789" y="68891"/>
            <a:ext cx="752322" cy="457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03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1_Section title and 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  <a:latin typeface="Poppins" pitchFamily="2" charset="77"/>
                <a:cs typeface="Poppins" pitchFamily="2" charset="7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rgbClr val="021C49"/>
                </a:solidFill>
                <a:latin typeface="Poppins" pitchFamily="2" charset="77"/>
                <a:cs typeface="Poppins" pitchFamily="2" charset="77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4" name="Google Shape;54;p9"/>
          <p:cNvSpPr txBox="1"/>
          <p:nvPr/>
        </p:nvSpPr>
        <p:spPr>
          <a:xfrm>
            <a:off x="385525" y="4681450"/>
            <a:ext cx="504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arin-africa.org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4139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rgbClr val="021C49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021C49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Poppins" pitchFamily="2" charset="77"/>
                <a:cs typeface="Poppins" pitchFamily="2" charset="77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021C49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rgbClr val="021C49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60" r:id="rId8"/>
    <p:sldLayoutId id="2147483661" r:id="rId9"/>
    <p:sldLayoutId id="2147483656" r:id="rId10"/>
    <p:sldLayoutId id="2147483657" r:id="rId11"/>
    <p:sldLayoutId id="214748365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oppins" pitchFamily="2" charset="77"/>
          <a:ea typeface="Poppins" pitchFamily="2" charset="77"/>
          <a:cs typeface="Poppins" pitchFamily="2" charset="77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Poppins"/>
                <a:ea typeface="Poppins"/>
                <a:cs typeface="Poppins"/>
                <a:sym typeface="Poppins"/>
              </a:rPr>
              <a:t>Transparency between Research Methods and Results</a:t>
            </a:r>
            <a:endParaRPr sz="32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Rubik"/>
                <a:ea typeface="Rubik"/>
                <a:cs typeface="Rubik"/>
                <a:sym typeface="Rubik"/>
              </a:rPr>
              <a:t>Francis Oloo (Dr. rer. </a:t>
            </a:r>
            <a:r>
              <a:rPr lang="en-AU" dirty="0">
                <a:latin typeface="Rubik"/>
                <a:ea typeface="Rubik"/>
                <a:cs typeface="Rubik"/>
                <a:sym typeface="Rubik"/>
              </a:rPr>
              <a:t>N</a:t>
            </a:r>
            <a:r>
              <a:rPr lang="en" dirty="0">
                <a:latin typeface="Rubik"/>
                <a:ea typeface="Rubik"/>
                <a:cs typeface="Rubik"/>
                <a:sym typeface="Rubik"/>
              </a:rPr>
              <a:t>at)</a:t>
            </a:r>
            <a:endParaRPr dirty="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7873-C68C-00E7-EE68-D56DE237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8BC6F-1848-50D1-3643-A97D47990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Defining transparency in research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Linking methods to results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Reporting quantitative and qualitative results transparently</a:t>
            </a:r>
          </a:p>
        </p:txBody>
      </p:sp>
    </p:spTree>
    <p:extLst>
      <p:ext uri="{BB962C8B-B14F-4D97-AF65-F5344CB8AC3E}">
        <p14:creationId xmlns:p14="http://schemas.microsoft.com/office/powerpoint/2010/main" val="234780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10364-3EB4-72E2-F93F-D76548D7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Recap on IMRAD method</a:t>
            </a:r>
          </a:p>
        </p:txBody>
      </p:sp>
      <p:pic>
        <p:nvPicPr>
          <p:cNvPr id="6" name="Picture 5" descr="Improving the writing of research papers: IMRAD and beyond ...">
            <a:extLst>
              <a:ext uri="{FF2B5EF4-FFF2-40B4-BE49-F238E27FC236}">
                <a16:creationId xmlns:a16="http://schemas.microsoft.com/office/drawing/2014/main" id="{AF234C3B-A421-F208-A1F8-054F4FF93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99" y="1042987"/>
            <a:ext cx="6010959" cy="34641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999BC7D-F945-E139-D910-F7ABE34FD3E8}"/>
              </a:ext>
            </a:extLst>
          </p:cNvPr>
          <p:cNvSpPr/>
          <p:nvPr/>
        </p:nvSpPr>
        <p:spPr>
          <a:xfrm>
            <a:off x="3376800" y="2894400"/>
            <a:ext cx="1036800" cy="3312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8295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1538A-F510-4909-0FA0-515D3415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772CBAE-370E-82FE-5721-4E7940B54F76}"/>
              </a:ext>
            </a:extLst>
          </p:cNvPr>
          <p:cNvSpPr/>
          <p:nvPr/>
        </p:nvSpPr>
        <p:spPr>
          <a:xfrm>
            <a:off x="2952000" y="1332000"/>
            <a:ext cx="1620000" cy="2397600"/>
          </a:xfrm>
          <a:prstGeom prst="roundRect">
            <a:avLst/>
          </a:prstGeom>
          <a:solidFill>
            <a:srgbClr val="BDE9FF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F139A-D799-6112-0FB4-53A4598D7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>
                <a:solidFill>
                  <a:srgbClr val="002060"/>
                </a:solidFill>
              </a:rPr>
              <a:t>Research Workflow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EA69E9-B26A-D416-825C-B0599799D88E}"/>
              </a:ext>
            </a:extLst>
          </p:cNvPr>
          <p:cNvSpPr/>
          <p:nvPr/>
        </p:nvSpPr>
        <p:spPr>
          <a:xfrm>
            <a:off x="208800" y="2303101"/>
            <a:ext cx="1288800" cy="453600"/>
          </a:xfrm>
          <a:prstGeom prst="roundRect">
            <a:avLst/>
          </a:prstGeom>
          <a:solidFill>
            <a:srgbClr val="FF7C8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Problem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E6216B-0DC3-2997-835E-CA39F25794FA}"/>
              </a:ext>
            </a:extLst>
          </p:cNvPr>
          <p:cNvSpPr/>
          <p:nvPr/>
        </p:nvSpPr>
        <p:spPr>
          <a:xfrm>
            <a:off x="1580400" y="2303101"/>
            <a:ext cx="1288800" cy="453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Objectives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B76BA9-9B92-B85A-099D-8C30279F30F9}"/>
              </a:ext>
            </a:extLst>
          </p:cNvPr>
          <p:cNvSpPr/>
          <p:nvPr/>
        </p:nvSpPr>
        <p:spPr>
          <a:xfrm>
            <a:off x="3110400" y="1714800"/>
            <a:ext cx="1288800" cy="453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Design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2C1897-BB4D-5AB8-5DCE-7FC3168FD50B}"/>
              </a:ext>
            </a:extLst>
          </p:cNvPr>
          <p:cNvSpPr/>
          <p:nvPr/>
        </p:nvSpPr>
        <p:spPr>
          <a:xfrm>
            <a:off x="3110400" y="2313600"/>
            <a:ext cx="1288800" cy="453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Data collection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492AA7-A94D-3A60-C0D2-ECB38EAFA60C}"/>
              </a:ext>
            </a:extLst>
          </p:cNvPr>
          <p:cNvSpPr/>
          <p:nvPr/>
        </p:nvSpPr>
        <p:spPr>
          <a:xfrm>
            <a:off x="3110400" y="2941501"/>
            <a:ext cx="1288800" cy="4536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Data analysis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9A48BD-CF2A-72BD-BD69-D6F6BD7D5659}"/>
              </a:ext>
            </a:extLst>
          </p:cNvPr>
          <p:cNvSpPr/>
          <p:nvPr/>
        </p:nvSpPr>
        <p:spPr>
          <a:xfrm>
            <a:off x="4711200" y="2299200"/>
            <a:ext cx="1288800" cy="453600"/>
          </a:xfrm>
          <a:prstGeom prst="roundRect">
            <a:avLst/>
          </a:prstGeom>
          <a:solidFill>
            <a:srgbClr val="99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Results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A0A44B8-53AC-D7BA-CFF6-72CD1FC50D13}"/>
              </a:ext>
            </a:extLst>
          </p:cNvPr>
          <p:cNvSpPr/>
          <p:nvPr/>
        </p:nvSpPr>
        <p:spPr>
          <a:xfrm>
            <a:off x="6138000" y="2299200"/>
            <a:ext cx="1288800" cy="453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Discussion</a:t>
            </a:r>
            <a:endParaRPr lang="en-KE" dirty="0">
              <a:solidFill>
                <a:srgbClr val="002060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81DF402-2BEC-7BBB-8DB1-63818F13ED31}"/>
              </a:ext>
            </a:extLst>
          </p:cNvPr>
          <p:cNvSpPr/>
          <p:nvPr/>
        </p:nvSpPr>
        <p:spPr>
          <a:xfrm>
            <a:off x="7560000" y="2288701"/>
            <a:ext cx="1288800" cy="453600"/>
          </a:xfrm>
          <a:prstGeom prst="roundRect">
            <a:avLst/>
          </a:prstGeom>
          <a:solidFill>
            <a:srgbClr val="30B6E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Conclusion</a:t>
            </a:r>
            <a:endParaRPr lang="en-KE" dirty="0">
              <a:solidFill>
                <a:srgbClr val="00206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141983-CDA8-0708-71E5-11C2A5CBF34A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1497600" y="2529901"/>
            <a:ext cx="82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2658FB-581E-335B-50D9-F1D041A32B17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2869200" y="2529901"/>
            <a:ext cx="82800" cy="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F18A16E-0D9B-AD6A-CA21-8A151FE6D916}"/>
              </a:ext>
            </a:extLst>
          </p:cNvPr>
          <p:cNvCxnSpPr>
            <a:stCxn id="21" idx="3"/>
            <a:endCxn id="16" idx="1"/>
          </p:cNvCxnSpPr>
          <p:nvPr/>
        </p:nvCxnSpPr>
        <p:spPr>
          <a:xfrm flipV="1">
            <a:off x="4572000" y="2526000"/>
            <a:ext cx="139200" cy="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CBCB04A-E98F-9107-9867-4F7D3375F859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6000000" y="2526000"/>
            <a:ext cx="13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C2BC633-ECA8-E284-F17D-1404478699D8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V="1">
            <a:off x="7426800" y="2515501"/>
            <a:ext cx="133200" cy="10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64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1052D-DD3C-DDAE-7C46-705528D5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3487-7CCE-FFC2-31B3-5929AE82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Transparency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81148-F311-6E1C-D2F2-D57B0013978B}"/>
              </a:ext>
            </a:extLst>
          </p:cNvPr>
          <p:cNvSpPr txBox="1"/>
          <p:nvPr/>
        </p:nvSpPr>
        <p:spPr>
          <a:xfrm>
            <a:off x="798852" y="1463801"/>
            <a:ext cx="708869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KE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Oswald" panose="00000500000000000000" pitchFamily="2" charset="0"/>
              </a:rPr>
              <a:t>methodological transparency refers to “the degree of detail and disclosure about the specific steps, decisions, and judgment calls made during a scientific study</a:t>
            </a: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Oswald" panose="00000500000000000000" pitchFamily="2" charset="0"/>
              </a:rPr>
              <a:t>”</a:t>
            </a:r>
            <a:endParaRPr lang="en-KE" sz="3200" dirty="0">
              <a:solidFill>
                <a:schemeClr val="accent5">
                  <a:lumMod val="60000"/>
                  <a:lumOff val="40000"/>
                </a:schemeClr>
              </a:solidFill>
              <a:latin typeface="Oswa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545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F464-B156-C93D-52E2-700CB53CA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1C84-3BC1-23D8-D43A-61867742F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050" y="221438"/>
            <a:ext cx="7852200" cy="861000"/>
          </a:xfrm>
        </p:spPr>
        <p:txBody>
          <a:bodyPr/>
          <a:lstStyle/>
          <a:p>
            <a:r>
              <a:rPr lang="en-GB" dirty="0"/>
              <a:t>Transparency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C5E3C-6350-E3C5-EF2E-A62CC92C89E9}"/>
              </a:ext>
            </a:extLst>
          </p:cNvPr>
          <p:cNvSpPr txBox="1"/>
          <p:nvPr/>
        </p:nvSpPr>
        <p:spPr>
          <a:xfrm>
            <a:off x="928452" y="1602254"/>
            <a:ext cx="70886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  <a:latin typeface="Oswald" panose="00000500000000000000" pitchFamily="2" charset="0"/>
              </a:rPr>
              <a:t>Entails clear reporting of design, sampling, analysis, uncertainty, limitation and ethics</a:t>
            </a:r>
            <a:endParaRPr lang="en-KE" sz="4000" dirty="0">
              <a:solidFill>
                <a:schemeClr val="accent5">
                  <a:lumMod val="60000"/>
                  <a:lumOff val="40000"/>
                </a:schemeClr>
              </a:solidFill>
              <a:latin typeface="Oswa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98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E4B84-4E0E-627C-51A7-0BB5C610B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25CA-A865-12A2-A4B2-BB9BDF952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250" y="1025912"/>
            <a:ext cx="7688950" cy="1025912"/>
          </a:xfrm>
        </p:spPr>
        <p:txBody>
          <a:bodyPr/>
          <a:lstStyle/>
          <a:p>
            <a:r>
              <a:rPr lang="en-GB" dirty="0"/>
              <a:t>Benefits of research transparency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58E59-4B6A-3477-1479-411811AA0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Credibility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Reproducibility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Scientific Integrity</a:t>
            </a:r>
          </a:p>
          <a:p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Trustworthiness</a:t>
            </a:r>
          </a:p>
        </p:txBody>
      </p:sp>
    </p:spTree>
    <p:extLst>
      <p:ext uri="{BB962C8B-B14F-4D97-AF65-F5344CB8AC3E}">
        <p14:creationId xmlns:p14="http://schemas.microsoft.com/office/powerpoint/2010/main" val="1175388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0E31F-04C4-68F4-1083-A0F4C9C2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7049-21F3-BFE4-A9A7-A7132DA0E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50" y="176312"/>
            <a:ext cx="7688950" cy="1025912"/>
          </a:xfrm>
        </p:spPr>
        <p:txBody>
          <a:bodyPr/>
          <a:lstStyle/>
          <a:p>
            <a:r>
              <a:rPr lang="en-GB" sz="3600" b="1" dirty="0"/>
              <a:t>Objectives </a:t>
            </a:r>
            <a:r>
              <a:rPr lang="en-GB" sz="3600" b="1" dirty="0">
                <a:sym typeface="Wingdings" panose="05000000000000000000" pitchFamily="2" charset="2"/>
              </a:rPr>
              <a:t> Methods  Results</a:t>
            </a:r>
            <a:r>
              <a:rPr lang="en-GB" sz="3600" b="1" dirty="0"/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907D1B-8879-C19C-DD70-DCFAEAC03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685105"/>
              </p:ext>
            </p:extLst>
          </p:nvPr>
        </p:nvGraphicFramePr>
        <p:xfrm>
          <a:off x="457200" y="1639821"/>
          <a:ext cx="8229600" cy="164592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306276216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0822571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4657618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99745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 dirty="0">
                          <a:solidFill>
                            <a:srgbClr val="021C49"/>
                          </a:solidFill>
                        </a:rPr>
                        <a:t>Objective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>
                          <a:solidFill>
                            <a:srgbClr val="021C49"/>
                          </a:solidFill>
                        </a:rPr>
                        <a:t>Data Collection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>
                          <a:solidFill>
                            <a:srgbClr val="021C49"/>
                          </a:solidFill>
                        </a:rPr>
                        <a:t>Analysis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b="1" dirty="0">
                          <a:solidFill>
                            <a:srgbClr val="021C49"/>
                          </a:solidFill>
                        </a:rPr>
                        <a:t>Results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7068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21C49"/>
                          </a:solidFill>
                        </a:rPr>
                        <a:t>To </a:t>
                      </a:r>
                      <a:r>
                        <a:rPr lang="en-KE" dirty="0">
                          <a:solidFill>
                            <a:srgbClr val="021C49"/>
                          </a:solidFill>
                        </a:rPr>
                        <a:t>determine flood exposure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>
                          <a:solidFill>
                            <a:srgbClr val="021C49"/>
                          </a:solidFill>
                        </a:rPr>
                        <a:t>Household survey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>
                          <a:solidFill>
                            <a:srgbClr val="021C49"/>
                          </a:solidFill>
                        </a:rPr>
                        <a:t>Descriptive statistics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>
                          <a:solidFill>
                            <a:srgbClr val="021C49"/>
                          </a:solidFill>
                        </a:rPr>
                        <a:t>Exposure percentages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9002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21C49"/>
                          </a:solidFill>
                        </a:rPr>
                        <a:t>To </a:t>
                      </a:r>
                      <a:r>
                        <a:rPr lang="en-KE" dirty="0">
                          <a:solidFill>
                            <a:srgbClr val="021C49"/>
                          </a:solidFill>
                        </a:rPr>
                        <a:t>understand community perceptions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>
                          <a:solidFill>
                            <a:srgbClr val="021C49"/>
                          </a:solidFill>
                        </a:rPr>
                        <a:t>Interviews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>
                          <a:solidFill>
                            <a:srgbClr val="021C49"/>
                          </a:solidFill>
                        </a:rPr>
                        <a:t>Thematic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dirty="0">
                          <a:solidFill>
                            <a:srgbClr val="021C49"/>
                          </a:solidFill>
                        </a:rPr>
                        <a:t>Themes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448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021C49"/>
                          </a:solidFill>
                        </a:rPr>
                        <a:t>To </a:t>
                      </a:r>
                      <a:r>
                        <a:rPr lang="en-KE" dirty="0">
                          <a:solidFill>
                            <a:srgbClr val="021C49"/>
                          </a:solidFill>
                        </a:rPr>
                        <a:t>predict flood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dirty="0">
                          <a:solidFill>
                            <a:srgbClr val="021C49"/>
                          </a:solidFill>
                        </a:rPr>
                        <a:t>GIS &amp; Remote Sensing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>
                          <a:solidFill>
                            <a:srgbClr val="021C49"/>
                          </a:solidFill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dirty="0">
                          <a:solidFill>
                            <a:srgbClr val="021C49"/>
                          </a:solidFill>
                        </a:rPr>
                        <a:t>Flood risk maps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836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77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BF27D-9398-688A-11EE-D2D9790E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B215-0D1D-E760-4B21-28E792E3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300" y="2057438"/>
            <a:ext cx="7852200" cy="861000"/>
          </a:xfrm>
        </p:spPr>
        <p:txBody>
          <a:bodyPr/>
          <a:lstStyle/>
          <a:p>
            <a:r>
              <a:rPr lang="en-GB" dirty="0"/>
              <a:t>Discuss more examples from participants</a:t>
            </a:r>
          </a:p>
        </p:txBody>
      </p:sp>
    </p:spTree>
    <p:extLst>
      <p:ext uri="{BB962C8B-B14F-4D97-AF65-F5344CB8AC3E}">
        <p14:creationId xmlns:p14="http://schemas.microsoft.com/office/powerpoint/2010/main" val="1663973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7374-D0C6-A128-9E73-E5240FF7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8DC1-CEA6-8E18-5520-488684DC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2000" y="1497600"/>
            <a:ext cx="6206150" cy="2332800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GB" dirty="0"/>
              <a:t>No results should be reported without corresponding method</a:t>
            </a:r>
          </a:p>
        </p:txBody>
      </p:sp>
    </p:spTree>
    <p:extLst>
      <p:ext uri="{BB962C8B-B14F-4D97-AF65-F5344CB8AC3E}">
        <p14:creationId xmlns:p14="http://schemas.microsoft.com/office/powerpoint/2010/main" val="310805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110ECB-EEAC-9A89-1DFD-0E3003A0A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AFF1D-BF9F-181E-5D1B-3BA1E062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50" y="176312"/>
            <a:ext cx="7688950" cy="1025912"/>
          </a:xfrm>
        </p:spPr>
        <p:txBody>
          <a:bodyPr/>
          <a:lstStyle/>
          <a:p>
            <a:r>
              <a:rPr lang="en-GB" sz="2800" b="1" dirty="0"/>
              <a:t>Reporting results from quantitative methods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8B07A4A-5B7F-F11D-80ED-5DF7E52FDAD3}"/>
              </a:ext>
            </a:extLst>
          </p:cNvPr>
          <p:cNvSpPr txBox="1">
            <a:spLocks/>
          </p:cNvSpPr>
          <p:nvPr/>
        </p:nvSpPr>
        <p:spPr>
          <a:xfrm>
            <a:off x="1239050" y="1007824"/>
            <a:ext cx="7688950" cy="512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rgbClr val="021C4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Present findings in the same order as described in Methods.</a:t>
            </a:r>
            <a:endParaRPr lang="en-GB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2061E-DD04-B93D-A9AC-5A5306945ED7}"/>
              </a:ext>
            </a:extLst>
          </p:cNvPr>
          <p:cNvSpPr txBox="1"/>
          <p:nvPr/>
        </p:nvSpPr>
        <p:spPr>
          <a:xfrm>
            <a:off x="1239050" y="1917225"/>
            <a:ext cx="220255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KE" b="1" dirty="0">
                <a:solidFill>
                  <a:srgbClr val="002060"/>
                </a:solidFill>
                <a:latin typeface="Oswald" panose="00000500000000000000" pitchFamily="2" charset="0"/>
              </a:rPr>
              <a:t>Descriptive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Means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Standard deviations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Frequencies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Percentages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33472-E576-ADDB-7B3F-3048A76EB504}"/>
              </a:ext>
            </a:extLst>
          </p:cNvPr>
          <p:cNvSpPr txBox="1"/>
          <p:nvPr/>
        </p:nvSpPr>
        <p:spPr>
          <a:xfrm>
            <a:off x="3441600" y="1902825"/>
            <a:ext cx="18144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KE" b="1" dirty="0">
                <a:solidFill>
                  <a:srgbClr val="002060"/>
                </a:solidFill>
                <a:latin typeface="Oswald" panose="00000500000000000000" pitchFamily="2" charset="0"/>
              </a:rPr>
              <a:t>Inferential Statistics</a:t>
            </a:r>
          </a:p>
          <a:p>
            <a:pPr>
              <a:buNone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Include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Test statistic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Degrees of freedom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p-values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Confidence intervals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Effect size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40C44-93E0-9170-9A1C-B6A52BA9BA57}"/>
              </a:ext>
            </a:extLst>
          </p:cNvPr>
          <p:cNvSpPr txBox="1"/>
          <p:nvPr/>
        </p:nvSpPr>
        <p:spPr>
          <a:xfrm>
            <a:off x="5504400" y="1902825"/>
            <a:ext cx="31822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KE" b="1" dirty="0">
                <a:solidFill>
                  <a:srgbClr val="002060"/>
                </a:solidFill>
                <a:latin typeface="Oswald" panose="00000500000000000000" pitchFamily="2" charset="0"/>
              </a:rPr>
              <a:t>Tables, Figures and Maps</a:t>
            </a:r>
          </a:p>
          <a:p>
            <a:pPr>
              <a:buNone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Good visualizations should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Clear titles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Units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Legends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Sample size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Source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Numbering</a:t>
            </a:r>
          </a:p>
        </p:txBody>
      </p:sp>
    </p:spTree>
    <p:extLst>
      <p:ext uri="{BB962C8B-B14F-4D97-AF65-F5344CB8AC3E}">
        <p14:creationId xmlns:p14="http://schemas.microsoft.com/office/powerpoint/2010/main" val="1249747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A122-55F7-362A-89D4-BE5FD14DA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15A7-EB26-29CB-16EB-D09C44D7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50" y="176312"/>
            <a:ext cx="7688950" cy="1025912"/>
          </a:xfrm>
        </p:spPr>
        <p:txBody>
          <a:bodyPr/>
          <a:lstStyle/>
          <a:p>
            <a:r>
              <a:rPr lang="en-GB" sz="2800" b="1" dirty="0"/>
              <a:t>Using Maps to report results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1E622A-15BC-2D3C-151F-38A2835F15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83"/>
          <a:stretch>
            <a:fillRect/>
          </a:stretch>
        </p:blipFill>
        <p:spPr>
          <a:xfrm>
            <a:off x="2030400" y="944420"/>
            <a:ext cx="4428000" cy="384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50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8F731-C7DE-1C60-9357-9E3B9961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D0B2C-B1F4-722A-25AB-81FC64D9C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50" y="176312"/>
            <a:ext cx="7688950" cy="1025912"/>
          </a:xfrm>
        </p:spPr>
        <p:txBody>
          <a:bodyPr/>
          <a:lstStyle/>
          <a:p>
            <a:r>
              <a:rPr lang="en-GB" sz="2800" b="1" dirty="0"/>
              <a:t>Using Charts to report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B78C2F-E89B-E382-7E86-B1460195B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70" y="1112221"/>
            <a:ext cx="5375460" cy="354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4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97EA00-C38B-A497-4EB4-9A61EC2EC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71362-5DB5-C479-DA09-6E1869C69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50" y="176312"/>
            <a:ext cx="7688950" cy="1025912"/>
          </a:xfrm>
        </p:spPr>
        <p:txBody>
          <a:bodyPr/>
          <a:lstStyle/>
          <a:p>
            <a:r>
              <a:rPr lang="en-GB" sz="2800" b="1" dirty="0"/>
              <a:t>Reporting results from qualitative methods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85F2F1-4A97-6623-5748-7AEF4EECA796}"/>
              </a:ext>
            </a:extLst>
          </p:cNvPr>
          <p:cNvSpPr txBox="1">
            <a:spLocks/>
          </p:cNvSpPr>
          <p:nvPr/>
        </p:nvSpPr>
        <p:spPr>
          <a:xfrm>
            <a:off x="1239050" y="1007824"/>
            <a:ext cx="7688950" cy="512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rgbClr val="021C4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Present findings by theme</a:t>
            </a:r>
            <a:endParaRPr lang="en-GB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5CFF02-EF8A-3F1E-BDFD-90E9D67C45DD}"/>
              </a:ext>
            </a:extLst>
          </p:cNvPr>
          <p:cNvSpPr txBox="1"/>
          <p:nvPr/>
        </p:nvSpPr>
        <p:spPr>
          <a:xfrm>
            <a:off x="1239050" y="1663809"/>
            <a:ext cx="542095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KE" b="1" dirty="0">
                <a:solidFill>
                  <a:srgbClr val="002060"/>
                </a:solidFill>
                <a:latin typeface="Oswald" panose="00000500000000000000" pitchFamily="2" charset="0"/>
              </a:rPr>
              <a:t>Theme 1</a:t>
            </a:r>
            <a:r>
              <a:rPr lang="en-US" b="1" dirty="0">
                <a:solidFill>
                  <a:srgbClr val="002060"/>
                </a:solidFill>
                <a:latin typeface="Oswald" panose="00000500000000000000" pitchFamily="2" charset="0"/>
              </a:rPr>
              <a:t>: </a:t>
            </a: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Limited Access to Climate Information</a:t>
            </a:r>
          </a:p>
          <a:p>
            <a:pPr>
              <a:buNone/>
            </a:pPr>
            <a:endParaRPr lang="en-US" dirty="0">
              <a:solidFill>
                <a:srgbClr val="002060"/>
              </a:solidFill>
              <a:latin typeface="Oswald" panose="00000500000000000000" pitchFamily="2" charset="0"/>
            </a:endParaRPr>
          </a:p>
          <a:p>
            <a:pPr>
              <a:buNone/>
            </a:pPr>
            <a:r>
              <a:rPr lang="en-KE" b="1" dirty="0">
                <a:solidFill>
                  <a:srgbClr val="002060"/>
                </a:solidFill>
                <a:latin typeface="Oswald" panose="00000500000000000000" pitchFamily="2" charset="0"/>
              </a:rPr>
              <a:t>Quotation</a:t>
            </a:r>
          </a:p>
          <a:p>
            <a:pPr>
              <a:buNone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"Flood warnings usually arrive after the flooding has already started."</a:t>
            </a:r>
          </a:p>
          <a:p>
            <a:pPr>
              <a:buNone/>
            </a:pPr>
            <a:endParaRPr lang="en-US" dirty="0">
              <a:solidFill>
                <a:srgbClr val="002060"/>
              </a:solidFill>
              <a:latin typeface="Oswald" panose="00000500000000000000" pitchFamily="2" charset="0"/>
            </a:endParaRPr>
          </a:p>
          <a:p>
            <a:pPr>
              <a:buNone/>
            </a:pPr>
            <a:r>
              <a:rPr lang="en-KE" b="1" dirty="0">
                <a:solidFill>
                  <a:srgbClr val="002060"/>
                </a:solidFill>
                <a:latin typeface="Oswald" panose="00000500000000000000" pitchFamily="2" charset="0"/>
              </a:rPr>
              <a:t>Interpretation</a:t>
            </a:r>
          </a:p>
          <a:p>
            <a:pPr>
              <a:buNone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Delayed communication increases household vulnerability.</a:t>
            </a:r>
          </a:p>
        </p:txBody>
      </p:sp>
    </p:spTree>
    <p:extLst>
      <p:ext uri="{BB962C8B-B14F-4D97-AF65-F5344CB8AC3E}">
        <p14:creationId xmlns:p14="http://schemas.microsoft.com/office/powerpoint/2010/main" val="3426219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CFC0F-212E-0BB9-6DFA-2FF80E2B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DDC8B-2C58-22EC-9215-DD6A6559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50" y="176312"/>
            <a:ext cx="7688950" cy="1025912"/>
          </a:xfrm>
        </p:spPr>
        <p:txBody>
          <a:bodyPr/>
          <a:lstStyle/>
          <a:p>
            <a:r>
              <a:rPr lang="en-GB" sz="2800" b="1" dirty="0"/>
              <a:t>Reporting results from mixed methods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E7E36F-EE78-7062-B04A-1CF76C0DA0F0}"/>
              </a:ext>
            </a:extLst>
          </p:cNvPr>
          <p:cNvSpPr txBox="1">
            <a:spLocks/>
          </p:cNvSpPr>
          <p:nvPr/>
        </p:nvSpPr>
        <p:spPr>
          <a:xfrm>
            <a:off x="1239050" y="1007824"/>
            <a:ext cx="7688950" cy="512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rgbClr val="021C4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swald"/>
              <a:buNone/>
              <a:defRPr sz="4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600" dirty="0">
                <a:solidFill>
                  <a:schemeClr val="tx2">
                    <a:lumMod val="50000"/>
                  </a:schemeClr>
                </a:solidFill>
              </a:rPr>
              <a:t>Integrate quantitative and qualitative findings</a:t>
            </a:r>
            <a:endParaRPr lang="en-GB"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246481-1BAC-3BAF-04C5-A22A64D31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26237"/>
              </p:ext>
            </p:extLst>
          </p:nvPr>
        </p:nvGraphicFramePr>
        <p:xfrm>
          <a:off x="311150" y="2190115"/>
          <a:ext cx="8521701" cy="134112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3378924490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869954045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25866186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 b="1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Quantitative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 b="1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Qualitative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 b="1" dirty="0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Interpretation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558502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 dirty="0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72% flooded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Residents cited blocked drainage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Infrastructure contributes to flood risk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63937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 dirty="0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63% lacked insurance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Participants reported poverty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400" dirty="0">
                          <a:solidFill>
                            <a:srgbClr val="002060"/>
                          </a:solidFill>
                          <a:latin typeface="Oswald" panose="00000500000000000000" pitchFamily="2" charset="0"/>
                        </a:rPr>
                        <a:t>Financial vulnerability limits resilience</a:t>
                      </a:r>
                    </a:p>
                  </a:txBody>
                  <a:tcPr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>
                      <a:noFill/>
                    </a:lnT>
                    <a:lnB w="12700" cap="flat" cmpd="sng" algn="ctr">
                      <a:solidFill>
                        <a:schemeClr val="tx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6656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38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46FCD-26D9-AE74-D3F2-A9677145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0C6D-8687-B515-FB87-EAB6BB69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050" y="176312"/>
            <a:ext cx="7688950" cy="1025912"/>
          </a:xfrm>
        </p:spPr>
        <p:txBody>
          <a:bodyPr/>
          <a:lstStyle/>
          <a:p>
            <a:r>
              <a:rPr lang="en-GB" sz="2800" b="1" dirty="0"/>
              <a:t>Reporting results from AI and GIS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4643C-1AE1-3034-5AA7-E8378B083BF1}"/>
              </a:ext>
            </a:extLst>
          </p:cNvPr>
          <p:cNvSpPr txBox="1"/>
          <p:nvPr/>
        </p:nvSpPr>
        <p:spPr>
          <a:xfrm>
            <a:off x="1239050" y="1485503"/>
            <a:ext cx="24329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KE" b="1" dirty="0">
                <a:solidFill>
                  <a:srgbClr val="002060"/>
                </a:solidFill>
                <a:latin typeface="Oswald" panose="00000500000000000000" pitchFamily="2" charset="0"/>
              </a:rPr>
              <a:t>For GIS studies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Spatial resolution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Coordinate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Classification algorithm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Accuracy assessment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537C05-42C8-6FBD-590B-4D7FFFA7B8B6}"/>
              </a:ext>
            </a:extLst>
          </p:cNvPr>
          <p:cNvSpPr txBox="1"/>
          <p:nvPr/>
        </p:nvSpPr>
        <p:spPr>
          <a:xfrm>
            <a:off x="3560400" y="1485503"/>
            <a:ext cx="20772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KE" b="1" dirty="0">
                <a:solidFill>
                  <a:srgbClr val="002060"/>
                </a:solidFill>
                <a:latin typeface="Oswald" panose="00000500000000000000" pitchFamily="2" charset="0"/>
              </a:rPr>
              <a:t>For AI studies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Model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Hyperparameters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Feature selection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Precision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Recall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F1-score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E" dirty="0">
                <a:solidFill>
                  <a:srgbClr val="002060"/>
                </a:solidFill>
                <a:latin typeface="Oswald" panose="00000500000000000000" pitchFamily="2" charset="0"/>
              </a:rPr>
              <a:t>Explainability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E257C4-EF40-1581-0399-D3D586819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600" y="1392729"/>
            <a:ext cx="3137691" cy="264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335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AFA5E4-EDB7-AC0D-E1A2-A49E5EF0F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00" y="931721"/>
            <a:ext cx="1477926" cy="57270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Mistakes</a:t>
            </a:r>
            <a:endParaRPr lang="en-KE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7C1A0-7E10-A000-3E2E-C968CBE4C86B}"/>
              </a:ext>
            </a:extLst>
          </p:cNvPr>
          <p:cNvSpPr txBox="1"/>
          <p:nvPr/>
        </p:nvSpPr>
        <p:spPr>
          <a:xfrm>
            <a:off x="501445" y="1680400"/>
            <a:ext cx="36502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KE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 Reporting results not described in Methods</a:t>
            </a: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KE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 Introducing new variables</a:t>
            </a: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KE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 Mixing Results with Discussion</a:t>
            </a: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KE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 Too many quotations without analysis</a:t>
            </a: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KE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 Poor figure captions</a:t>
            </a: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KE" dirty="0">
                <a:solidFill>
                  <a:schemeClr val="accent5">
                    <a:lumMod val="20000"/>
                    <a:lumOff val="80000"/>
                  </a:schemeClr>
                </a:solidFill>
                <a:latin typeface="Oswald" panose="00000500000000000000" pitchFamily="2" charset="0"/>
              </a:rPr>
              <a:t> Lack of uncertainty reporting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6D14B0-3A9B-8E83-166A-42F8DF1CCFF4}"/>
              </a:ext>
            </a:extLst>
          </p:cNvPr>
          <p:cNvSpPr txBox="1"/>
          <p:nvPr/>
        </p:nvSpPr>
        <p:spPr>
          <a:xfrm>
            <a:off x="4894007" y="1680399"/>
            <a:ext cx="36502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  <a:latin typeface="Oswald" panose="00000500000000000000" pitchFamily="2" charset="0"/>
              </a:rPr>
              <a:t>Every objective should have a corresponding method and results</a:t>
            </a:r>
            <a:endParaRPr lang="en-KE" dirty="0">
              <a:solidFill>
                <a:schemeClr val="bg1">
                  <a:lumMod val="10000"/>
                  <a:lumOff val="90000"/>
                </a:schemeClr>
              </a:solidFill>
              <a:latin typeface="Oswald" panose="00000500000000000000" pitchFamily="2" charset="0"/>
            </a:endParaRP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  <a:latin typeface="Oswald" panose="00000500000000000000" pitchFamily="2" charset="0"/>
              </a:rPr>
              <a:t>Results should be presented in the same order of the methods</a:t>
            </a:r>
            <a:endParaRPr lang="en-KE" dirty="0">
              <a:solidFill>
                <a:schemeClr val="bg1">
                  <a:lumMod val="10000"/>
                  <a:lumOff val="90000"/>
                </a:schemeClr>
              </a:solidFill>
              <a:latin typeface="Oswald" panose="00000500000000000000" pitchFamily="2" charset="0"/>
            </a:endParaRP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  <a:latin typeface="Oswald" panose="00000500000000000000" pitchFamily="2" charset="0"/>
              </a:rPr>
              <a:t>Use tables and figures effectively</a:t>
            </a:r>
            <a:endParaRPr lang="en-KE" dirty="0">
              <a:solidFill>
                <a:schemeClr val="bg1">
                  <a:lumMod val="10000"/>
                  <a:lumOff val="90000"/>
                </a:schemeClr>
              </a:solidFill>
              <a:latin typeface="Oswald" panose="00000500000000000000" pitchFamily="2" charset="0"/>
            </a:endParaRPr>
          </a:p>
          <a:p>
            <a:pPr marL="285750" indent="-285750">
              <a:buClr>
                <a:schemeClr val="tx1">
                  <a:lumMod val="95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  <a:latin typeface="Oswald" panose="00000500000000000000" pitchFamily="2" charset="0"/>
              </a:rPr>
              <a:t>Report uncertainty and limitations of the study</a:t>
            </a:r>
            <a:endParaRPr lang="en-KE" dirty="0">
              <a:solidFill>
                <a:schemeClr val="bg1">
                  <a:lumMod val="10000"/>
                  <a:lumOff val="90000"/>
                </a:schemeClr>
              </a:solidFill>
              <a:latin typeface="Oswald" panose="00000500000000000000" pitchFamily="2" charset="0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9CF983FD-4D9E-9767-EEC0-33A9A3D2A227}"/>
              </a:ext>
            </a:extLst>
          </p:cNvPr>
          <p:cNvSpPr txBox="1">
            <a:spLocks/>
          </p:cNvSpPr>
          <p:nvPr/>
        </p:nvSpPr>
        <p:spPr>
          <a:xfrm>
            <a:off x="4802428" y="931721"/>
            <a:ext cx="311745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</a:rPr>
              <a:t>Best Practices </a:t>
            </a:r>
            <a:endParaRPr lang="en-KE" dirty="0">
              <a:solidFill>
                <a:schemeClr val="bg1">
                  <a:lumMod val="10000"/>
                  <a:lumOff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994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>
            <a:spLocks noGrp="1"/>
          </p:cNvSpPr>
          <p:nvPr>
            <p:ph type="title"/>
          </p:nvPr>
        </p:nvSpPr>
        <p:spPr>
          <a:xfrm>
            <a:off x="64590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Questions and discussions</a:t>
            </a:r>
            <a:endParaRPr b="1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073A35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IN PPT Template" id="{53380C18-BCFF-204B-8B61-35E0BC1D6498}" vid="{889FEF5D-2F43-1249-83CE-7023C32503F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613</TotalTime>
  <Words>393</Words>
  <Application>Microsoft Office PowerPoint</Application>
  <PresentationFormat>On-screen Show (16:9)</PresentationFormat>
  <Paragraphs>117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Poppins</vt:lpstr>
      <vt:lpstr>Oswald</vt:lpstr>
      <vt:lpstr>Wingdings</vt:lpstr>
      <vt:lpstr>Rubik</vt:lpstr>
      <vt:lpstr>Average</vt:lpstr>
      <vt:lpstr>Arial</vt:lpstr>
      <vt:lpstr>Slate</vt:lpstr>
      <vt:lpstr>Transparency between Research Methods and Results</vt:lpstr>
      <vt:lpstr>Outline</vt:lpstr>
      <vt:lpstr>Recap on IMRAD method</vt:lpstr>
      <vt:lpstr>Research Workflow</vt:lpstr>
      <vt:lpstr>Transparency</vt:lpstr>
      <vt:lpstr>Transparency</vt:lpstr>
      <vt:lpstr>Benefits of research transparency</vt:lpstr>
      <vt:lpstr>Objectives  Methods  Results </vt:lpstr>
      <vt:lpstr>Discuss more examples from participants</vt:lpstr>
      <vt:lpstr>No results should be reported without corresponding method</vt:lpstr>
      <vt:lpstr>Reporting results from quantitative methods </vt:lpstr>
      <vt:lpstr>Using Maps to report results</vt:lpstr>
      <vt:lpstr>Using Charts to report results</vt:lpstr>
      <vt:lpstr>Reporting results from qualitative methods </vt:lpstr>
      <vt:lpstr>Reporting results from mixed methods </vt:lpstr>
      <vt:lpstr>Reporting results from AI and GIS </vt:lpstr>
      <vt:lpstr>Mistakes</vt:lpstr>
      <vt:lpstr>Questions and discussions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Masila</dc:creator>
  <cp:lastModifiedBy>FO</cp:lastModifiedBy>
  <cp:revision>5</cp:revision>
  <dcterms:created xsi:type="dcterms:W3CDTF">2026-07-06T08:09:00Z</dcterms:created>
  <dcterms:modified xsi:type="dcterms:W3CDTF">2026-07-22T21:12:05Z</dcterms:modified>
</cp:coreProperties>
</file>