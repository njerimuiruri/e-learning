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3" r:id="rId2"/>
  </p:sldMasterIdLst>
  <p:notesMasterIdLst>
    <p:notesMasterId r:id="rId25"/>
  </p:notesMasterIdLst>
  <p:sldIdLst>
    <p:sldId id="256" r:id="rId3"/>
    <p:sldId id="285" r:id="rId4"/>
    <p:sldId id="283" r:id="rId5"/>
    <p:sldId id="288" r:id="rId6"/>
    <p:sldId id="289" r:id="rId7"/>
    <p:sldId id="314" r:id="rId8"/>
    <p:sldId id="290" r:id="rId9"/>
    <p:sldId id="301" r:id="rId10"/>
    <p:sldId id="302" r:id="rId11"/>
    <p:sldId id="287" r:id="rId12"/>
    <p:sldId id="304" r:id="rId13"/>
    <p:sldId id="306" r:id="rId14"/>
    <p:sldId id="308" r:id="rId15"/>
    <p:sldId id="309" r:id="rId16"/>
    <p:sldId id="310" r:id="rId17"/>
    <p:sldId id="311" r:id="rId18"/>
    <p:sldId id="286" r:id="rId19"/>
    <p:sldId id="312" r:id="rId20"/>
    <p:sldId id="313" r:id="rId21"/>
    <p:sldId id="315" r:id="rId22"/>
    <p:sldId id="316" r:id="rId23"/>
    <p:sldId id="282" r:id="rId24"/>
  </p:sldIdLst>
  <p:sldSz cx="9144000" cy="5143500" type="screen16x9"/>
  <p:notesSz cx="6858000" cy="9144000"/>
  <p:embeddedFontLst>
    <p:embeddedFont>
      <p:font typeface="Average" panose="020B0604020202020204" charset="0"/>
      <p:regular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Oswald" panose="00000500000000000000" pitchFamily="2" charset="0"/>
      <p:regular r:id="rId31"/>
      <p:bold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Rubik" panose="020B0604020202020204" charset="-79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C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D09B5E-6C5B-4721-BDBA-B05FA65F1475}">
  <a:tblStyle styleId="{77D09B5E-6C5B-4721-BDBA-B05FA65F14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80124-4610-42D2-A984-0F97B37847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6"/>
    <p:restoredTop sz="94662"/>
  </p:normalViewPr>
  <p:slideViewPr>
    <p:cSldViewPr snapToGrid="0">
      <p:cViewPr varScale="1">
        <p:scale>
          <a:sx n="133" d="100"/>
          <a:sy n="133" d="100"/>
        </p:scale>
        <p:origin x="414" y="1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86857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6AAB9-2071-3496-EA3A-7DB26754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18B9D-94E4-07D6-AB91-13A2FB384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37E4D-F266-648C-F487-E6337BD8C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F57B1-0D55-10B3-7008-BB6AB4A1B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29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42E78-C44B-E3AE-34B3-325E5F4A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A9A45-608E-FBB0-F41D-D9C81290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CB540-D0AA-1240-7123-6E817E0F7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4CC0C-F6F4-E5BA-564D-47A560FF3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90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5AE40-1013-3F51-F2C5-CC9B5592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BD0DE-B98C-774D-E1DF-110E5CDE9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DF7BB-858F-7FFA-B89C-1D2EFED00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BA95D-ED84-3F2A-7BCD-D951B5DC7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69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6891-9C01-02B9-0296-2FB9E950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C7932-B261-7731-7160-9548B11E1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B0A3E-5594-7856-067E-0A6576110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97739-5BF8-B768-1FC3-8C314AE94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53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D1F8-642A-C3E6-E3B0-A0414D88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6B088-505E-3580-2188-2AEF0DD8A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FBBAB-E40E-BB39-ADE7-D5B2409A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D005-2D8B-CA2F-ED3E-40B8DBE2A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874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3fcad37ad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3fcad37ad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21C4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 hasCustomPrompt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Poppins" pitchFamily="2" charset="77"/>
                <a:cs typeface="Poppins" pitchFamily="2" charset="7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 dirty="0"/>
              <a:t>Insert Text</a:t>
            </a:r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115950" y="4532650"/>
            <a:ext cx="9375900" cy="51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996750" y="4566100"/>
            <a:ext cx="715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46;p8">
            <a:extLst>
              <a:ext uri="{FF2B5EF4-FFF2-40B4-BE49-F238E27FC236}">
                <a16:creationId xmlns:a16="http://schemas.microsoft.com/office/drawing/2014/main" id="{D6381813-04E5-7B97-D1A8-6D735EE16DD7}"/>
              </a:ext>
            </a:extLst>
          </p:cNvPr>
          <p:cNvSpPr/>
          <p:nvPr userDrawn="1"/>
        </p:nvSpPr>
        <p:spPr>
          <a:xfrm rot="10800000" flipH="1">
            <a:off x="3818778" y="-106326"/>
            <a:ext cx="1091953" cy="984435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47;p8">
            <a:extLst>
              <a:ext uri="{FF2B5EF4-FFF2-40B4-BE49-F238E27FC236}">
                <a16:creationId xmlns:a16="http://schemas.microsoft.com/office/drawing/2014/main" id="{472FE6FF-34D3-EDBD-0CF6-1471BE5F5090}"/>
              </a:ext>
            </a:extLst>
          </p:cNvPr>
          <p:cNvPicPr preferRelativeResize="0"/>
          <p:nvPr userDrawn="1"/>
        </p:nvPicPr>
        <p:blipFill>
          <a:blip r:embed="rId2"/>
          <a:srcRect t="20646" b="18790"/>
          <a:stretch/>
        </p:blipFill>
        <p:spPr>
          <a:xfrm>
            <a:off x="3872218" y="68891"/>
            <a:ext cx="956122" cy="5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bg>
      <p:bgPr>
        <a:solidFill>
          <a:srgbClr val="021C49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71250" y="932126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115950" y="4532650"/>
            <a:ext cx="9375900" cy="51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996750" y="4566100"/>
            <a:ext cx="715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E777491E-991B-F8D3-0BDF-F945F8C0D26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1250" y="2056976"/>
            <a:ext cx="7852200" cy="215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Google Shape;46;p8">
            <a:extLst>
              <a:ext uri="{FF2B5EF4-FFF2-40B4-BE49-F238E27FC236}">
                <a16:creationId xmlns:a16="http://schemas.microsoft.com/office/drawing/2014/main" id="{143A6F68-56AB-1218-39D4-74688E64A9ED}"/>
              </a:ext>
            </a:extLst>
          </p:cNvPr>
          <p:cNvSpPr/>
          <p:nvPr userDrawn="1"/>
        </p:nvSpPr>
        <p:spPr>
          <a:xfrm rot="10800000" flipH="1">
            <a:off x="184031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47;p8">
            <a:extLst>
              <a:ext uri="{FF2B5EF4-FFF2-40B4-BE49-F238E27FC236}">
                <a16:creationId xmlns:a16="http://schemas.microsoft.com/office/drawing/2014/main" id="{8EF94C0A-4CE6-ABB8-131B-1039DAE52865}"/>
              </a:ext>
            </a:extLst>
          </p:cNvPr>
          <p:cNvPicPr preferRelativeResize="0"/>
          <p:nvPr userDrawn="1"/>
        </p:nvPicPr>
        <p:blipFill>
          <a:blip r:embed="rId2"/>
          <a:srcRect t="20646" b="18790"/>
          <a:stretch/>
        </p:blipFill>
        <p:spPr>
          <a:xfrm>
            <a:off x="237470" y="68891"/>
            <a:ext cx="752322" cy="45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Poppins" pitchFamily="2" charset="77"/>
                <a:cs typeface="Poppins" pitchFamily="2" charset="77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021C49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021C49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021C49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_POINT"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1025912"/>
            <a:ext cx="6227100" cy="10259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021C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3" name="Google Shape;43;p8"/>
          <p:cNvSpPr txBox="1"/>
          <p:nvPr/>
        </p:nvSpPr>
        <p:spPr>
          <a:xfrm>
            <a:off x="385525" y="46052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/>
          <p:nvPr/>
        </p:nvSpPr>
        <p:spPr>
          <a:xfrm rot="10800000" flipH="1">
            <a:off x="184031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2"/>
          <a:srcRect t="20646" b="18790"/>
          <a:stretch/>
        </p:blipFill>
        <p:spPr>
          <a:xfrm>
            <a:off x="237470" y="68891"/>
            <a:ext cx="752322" cy="4574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;p1">
            <a:extLst>
              <a:ext uri="{FF2B5EF4-FFF2-40B4-BE49-F238E27FC236}">
                <a16:creationId xmlns:a16="http://schemas.microsoft.com/office/drawing/2014/main" id="{1A1A3D08-F8F2-F272-44C8-3D53FCA5927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0249" y="2274848"/>
            <a:ext cx="8118491" cy="19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1_Main point"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021C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3" name="Google Shape;43;p8"/>
          <p:cNvSpPr txBox="1"/>
          <p:nvPr/>
        </p:nvSpPr>
        <p:spPr>
          <a:xfrm>
            <a:off x="385525" y="46052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/>
          <p:nvPr/>
        </p:nvSpPr>
        <p:spPr>
          <a:xfrm rot="10800000" flipH="1">
            <a:off x="8111350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2"/>
          <a:srcRect t="20646" b="18790"/>
          <a:stretch/>
        </p:blipFill>
        <p:spPr>
          <a:xfrm>
            <a:off x="8164789" y="68891"/>
            <a:ext cx="752322" cy="457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03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1_Section title and 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  <a:latin typeface="Poppins" pitchFamily="2" charset="77"/>
                <a:cs typeface="Poppins" pitchFamily="2" charset="7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rgbClr val="021C49"/>
                </a:solidFill>
                <a:latin typeface="Poppins" pitchFamily="2" charset="77"/>
                <a:cs typeface="Poppins" pitchFamily="2" charset="77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Google Shape;54;p9"/>
          <p:cNvSpPr txBox="1"/>
          <p:nvPr/>
        </p:nvSpPr>
        <p:spPr>
          <a:xfrm>
            <a:off x="385525" y="46814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4139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021C49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021C49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Poppins" pitchFamily="2" charset="77"/>
                <a:cs typeface="Poppins" pitchFamily="2" charset="77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21C49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339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20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rgbClr val="021C4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0" r:id="rId8"/>
    <p:sldLayoutId id="2147483661" r:id="rId9"/>
    <p:sldLayoutId id="2147483656" r:id="rId10"/>
    <p:sldLayoutId id="2147483657" r:id="rId11"/>
    <p:sldLayoutId id="2147483658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itchFamily="2" charset="77"/>
          <a:ea typeface="Poppins" pitchFamily="2" charset="77"/>
          <a:cs typeface="Poppins" pitchFamily="2" charset="77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749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Translating Research Gaps into Method</a:t>
            </a:r>
            <a:endParaRPr sz="32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ubik"/>
                <a:ea typeface="Rubik"/>
                <a:cs typeface="Rubik"/>
                <a:sym typeface="Rubik"/>
              </a:rPr>
              <a:t>Francis Oloo (Dr. rer. </a:t>
            </a:r>
            <a:r>
              <a:rPr lang="en-AU" dirty="0">
                <a:latin typeface="Rubik"/>
                <a:ea typeface="Rubik"/>
                <a:cs typeface="Rubik"/>
                <a:sym typeface="Rubik"/>
              </a:rPr>
              <a:t>N</a:t>
            </a:r>
            <a:r>
              <a:rPr lang="en" dirty="0">
                <a:latin typeface="Rubik"/>
                <a:ea typeface="Rubik"/>
                <a:cs typeface="Rubik"/>
                <a:sym typeface="Rubik"/>
              </a:rPr>
              <a:t>at)</a:t>
            </a:r>
            <a:endParaRPr dirty="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7873-C68C-00E7-EE68-D56DE237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8BC6F-1848-50D1-3643-A97D47990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Identify and articulate research gaps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Translate gaps into research objectives, questions and hypothesis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Align objectives with quantitative and social science methods</a:t>
            </a:r>
          </a:p>
        </p:txBody>
      </p:sp>
    </p:spTree>
    <p:extLst>
      <p:ext uri="{BB962C8B-B14F-4D97-AF65-F5344CB8AC3E}">
        <p14:creationId xmlns:p14="http://schemas.microsoft.com/office/powerpoint/2010/main" val="234780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364-3EB4-72E2-F93F-D76548D7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Recap on IMRAD method</a:t>
            </a:r>
          </a:p>
        </p:txBody>
      </p:sp>
      <p:pic>
        <p:nvPicPr>
          <p:cNvPr id="6" name="Picture 5" descr="Improving the writing of research papers: IMRAD and beyond ...">
            <a:extLst>
              <a:ext uri="{FF2B5EF4-FFF2-40B4-BE49-F238E27FC236}">
                <a16:creationId xmlns:a16="http://schemas.microsoft.com/office/drawing/2014/main" id="{AF234C3B-A421-F208-A1F8-054F4FF9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99" y="1042987"/>
            <a:ext cx="6010959" cy="346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5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32F2-AFC0-9D69-2554-05D2F31F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EE71-1E91-3920-AE70-FD49E3E6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Recap on Abstract</a:t>
            </a:r>
          </a:p>
        </p:txBody>
      </p:sp>
      <p:pic>
        <p:nvPicPr>
          <p:cNvPr id="7" name="Picture 6" descr="Journal Article: Abstract : Broad Institute of MIT and Harvard">
            <a:extLst>
              <a:ext uri="{FF2B5EF4-FFF2-40B4-BE49-F238E27FC236}">
                <a16:creationId xmlns:a16="http://schemas.microsoft.com/office/drawing/2014/main" id="{8669C0C6-1D40-85D9-BA6E-AE4F49FA0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909" y="1082438"/>
            <a:ext cx="3140892" cy="34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9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538A-F510-4909-0FA0-515D3415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139A-D799-6112-0FB4-53A4598D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Recap on 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C8000-6CFE-2333-3CB1-28F18BB79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99" y="916838"/>
            <a:ext cx="6800897" cy="35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4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052D-DD3C-DDAE-7C46-705528D5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3487-7CCE-FFC2-31B3-5929AE82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Recap on Abstract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A86BC-EFE6-AFB3-400E-D7BF89CAA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10" y="917087"/>
            <a:ext cx="4793890" cy="363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4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F27D-9398-688A-11EE-D2D9790E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B215-0D1D-E760-4B21-28E792E3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300" y="2057438"/>
            <a:ext cx="7852200" cy="861000"/>
          </a:xfrm>
        </p:spPr>
        <p:txBody>
          <a:bodyPr/>
          <a:lstStyle/>
          <a:p>
            <a:r>
              <a:rPr lang="en-GB" dirty="0"/>
              <a:t>Discuss some examples from participants</a:t>
            </a:r>
          </a:p>
        </p:txBody>
      </p:sp>
    </p:spTree>
    <p:extLst>
      <p:ext uri="{BB962C8B-B14F-4D97-AF65-F5344CB8AC3E}">
        <p14:creationId xmlns:p14="http://schemas.microsoft.com/office/powerpoint/2010/main" val="166397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Research Gap? Gap-Spotting vs. Problematization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6" name="Text 4"/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B6670"/>
                </a:solidFill>
              </a:rPr>
              <a:t>42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200150"/>
            <a:ext cx="4046220" cy="1028700"/>
          </a:xfrm>
          <a:prstGeom prst="roundRect">
            <a:avLst>
              <a:gd name="adj" fmla="val 6667"/>
            </a:avLst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582930" y="13030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F2A43"/>
                </a:solidFill>
              </a:rPr>
              <a:t>Gap-Spotting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82930" y="1577340"/>
            <a:ext cx="3703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32B32"/>
                </a:solidFill>
              </a:rPr>
              <a:t>Identifying something existing literature has not yet covered, the most common approach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00150"/>
            <a:ext cx="4046220" cy="102870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4834890" y="13030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FFFFFF"/>
                </a:solidFill>
              </a:rPr>
              <a:t>Problematization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34890" y="1577340"/>
            <a:ext cx="3703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EF1F4"/>
                </a:solidFill>
              </a:rPr>
              <a:t>Questioning the underlying assumptions of existing literature itself,  rarer, often more influential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40030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b="1" dirty="0">
                <a:solidFill>
                  <a:srgbClr val="0F2A43"/>
                </a:solidFill>
              </a:rPr>
              <a:t>Common gap types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411480" y="2674620"/>
            <a:ext cx="8229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675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32B32"/>
                </a:solidFill>
              </a:rPr>
              <a:t>Empirical</a:t>
            </a:r>
            <a:r>
              <a:rPr lang="en-US" dirty="0">
                <a:solidFill>
                  <a:srgbClr val="232B32"/>
                </a:solidFill>
              </a:rPr>
              <a:t> </a:t>
            </a:r>
            <a:r>
              <a:rPr lang="en-US" dirty="0">
                <a:solidFill>
                  <a:srgbClr val="232B3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32B32"/>
                </a:solidFill>
              </a:rPr>
              <a:t>not yet measured in a setting</a:t>
            </a:r>
            <a:endParaRPr lang="en-US" dirty="0"/>
          </a:p>
          <a:p>
            <a:pPr marL="285750" indent="-285750">
              <a:spcAft>
                <a:spcPts val="675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32B32"/>
                </a:solidFill>
              </a:rPr>
              <a:t>Theoretical</a:t>
            </a:r>
            <a:r>
              <a:rPr lang="en-US" dirty="0">
                <a:solidFill>
                  <a:srgbClr val="232B32"/>
                </a:solidFill>
              </a:rPr>
              <a:t> </a:t>
            </a:r>
            <a:r>
              <a:rPr lang="en-US" dirty="0">
                <a:solidFill>
                  <a:srgbClr val="232B3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32B32"/>
                </a:solidFill>
              </a:rPr>
              <a:t>existing theory doesn't explain it</a:t>
            </a:r>
            <a:endParaRPr lang="en-US" dirty="0"/>
          </a:p>
          <a:p>
            <a:pPr marL="285750" indent="-285750">
              <a:spcAft>
                <a:spcPts val="675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32B32"/>
                </a:solidFill>
              </a:rPr>
              <a:t>Methodological</a:t>
            </a:r>
            <a:r>
              <a:rPr lang="en-US" dirty="0">
                <a:solidFill>
                  <a:srgbClr val="232B32"/>
                </a:solidFill>
              </a:rPr>
              <a:t> </a:t>
            </a:r>
            <a:r>
              <a:rPr lang="en-US" dirty="0">
                <a:solidFill>
                  <a:srgbClr val="232B3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32B32"/>
                </a:solidFill>
              </a:rPr>
              <a:t>prior methods had limitations</a:t>
            </a:r>
            <a:endParaRPr lang="en-US" dirty="0"/>
          </a:p>
          <a:p>
            <a:pPr marL="285750" indent="-285750">
              <a:spcAft>
                <a:spcPts val="675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32B32"/>
                </a:solidFill>
              </a:rPr>
              <a:t>Contextual/geographic</a:t>
            </a:r>
            <a:r>
              <a:rPr lang="en-US" dirty="0">
                <a:solidFill>
                  <a:srgbClr val="232B32"/>
                </a:solidFill>
              </a:rPr>
              <a:t> </a:t>
            </a:r>
            <a:r>
              <a:rPr lang="en-US" dirty="0">
                <a:solidFill>
                  <a:srgbClr val="232B3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32B32"/>
                </a:solidFill>
              </a:rPr>
              <a:t>untested in this region</a:t>
            </a:r>
            <a:endParaRPr lang="en-US" dirty="0"/>
          </a:p>
          <a:p>
            <a:pPr marL="285750" indent="-285750">
              <a:spcAft>
                <a:spcPts val="675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32B32"/>
                </a:solidFill>
              </a:rPr>
              <a:t>Population</a:t>
            </a:r>
            <a:r>
              <a:rPr lang="en-US" dirty="0">
                <a:solidFill>
                  <a:srgbClr val="232B32"/>
                </a:solidFill>
              </a:rPr>
              <a:t> </a:t>
            </a:r>
            <a:r>
              <a:rPr lang="en-US" dirty="0">
                <a:solidFill>
                  <a:srgbClr val="232B3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32B32"/>
                </a:solidFill>
              </a:rPr>
              <a:t>an under-studied group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from Gap to Objectives: Aims, Questions, Hypotheses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6" name="Text 4"/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B6670"/>
                </a:solidFill>
              </a:rPr>
              <a:t>43</a:t>
            </a:r>
            <a:endParaRPr lang="en-US" sz="7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69796"/>
              </p:ext>
            </p:extLst>
          </p:nvPr>
        </p:nvGraphicFramePr>
        <p:xfrm>
          <a:off x="411480" y="1371600"/>
          <a:ext cx="8298180" cy="3817620"/>
        </p:xfrm>
        <a:graphic>
          <a:graphicData uri="http://schemas.openxmlformats.org/drawingml/2006/table">
            <a:tbl>
              <a:tblPr/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overall 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understanding of smallholder drought resilience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the impact of urban greening on urban quality of life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Objective(s)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Specific, achievable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yield effect of a drought-tolerant variety under three rainfall scenarios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a model for predicting the influence of climate on mental 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question (qualitative/exploratory)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farmers decide whether to adopt a new variety?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increase in diurnal temperature influence sleep patterns of children?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Testable, falsifiable prediction (quantitative)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Yield loss under drought is lower for the new variety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A2D9-FE38-119E-1810-8D736E3E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450" y="2058794"/>
            <a:ext cx="6227100" cy="1025912"/>
          </a:xfrm>
        </p:spPr>
        <p:txBody>
          <a:bodyPr/>
          <a:lstStyle/>
          <a:p>
            <a:pPr algn="ctr"/>
            <a:r>
              <a:rPr lang="en-GB" dirty="0"/>
              <a:t>Reread your abstract and identify a research aim, objective or question</a:t>
            </a:r>
          </a:p>
        </p:txBody>
      </p:sp>
    </p:spTree>
    <p:extLst>
      <p:ext uri="{BB962C8B-B14F-4D97-AF65-F5344CB8AC3E}">
        <p14:creationId xmlns:p14="http://schemas.microsoft.com/office/powerpoint/2010/main" val="2461461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Aligning Objectives to Methods: The Golden Thread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6" name="Text 4"/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B6670"/>
                </a:solidFill>
              </a:rPr>
              <a:t>45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200150"/>
            <a:ext cx="8298180" cy="342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Gap → Objective → Question/Hypothesis → Method → Analysis → Discussion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851660"/>
            <a:ext cx="3840480" cy="754380"/>
          </a:xfrm>
          <a:prstGeom prst="roundRect">
            <a:avLst>
              <a:gd name="adj" fmla="val 9091"/>
            </a:avLst>
          </a:prstGeom>
          <a:solidFill>
            <a:srgbClr val="EEF1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51660"/>
            <a:ext cx="3566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32B32"/>
                </a:solidFill>
              </a:rPr>
              <a:t>Measure / quantify / compare / test a relationship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51660"/>
            <a:ext cx="4320540" cy="754380"/>
          </a:xfrm>
          <a:prstGeom prst="roundRect">
            <a:avLst>
              <a:gd name="adj" fmla="val 9091"/>
            </a:avLst>
          </a:prstGeom>
          <a:solidFill>
            <a:srgbClr val="00206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51660"/>
            <a:ext cx="40462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</a:rPr>
              <a:t>→ Quantitative methods (experiments, surveys with statistics, modelling)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3840480" cy="754380"/>
          </a:xfrm>
          <a:prstGeom prst="roundRect">
            <a:avLst>
              <a:gd name="adj" fmla="val 9091"/>
            </a:avLst>
          </a:prstGeom>
          <a:solidFill>
            <a:srgbClr val="EEF1F4"/>
          </a:solidFill>
          <a:ln/>
        </p:spPr>
        <p:txBody>
          <a:bodyPr/>
          <a:lstStyle/>
          <a:p>
            <a:endParaRPr lang="en-KE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3566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32B32"/>
                </a:solidFill>
              </a:rPr>
              <a:t>Explore / understand / explain a process or meaning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743200"/>
            <a:ext cx="4320540" cy="754380"/>
          </a:xfrm>
          <a:prstGeom prst="roundRect">
            <a:avLst>
              <a:gd name="adj" fmla="val 9091"/>
            </a:avLst>
          </a:prstGeom>
          <a:solidFill>
            <a:srgbClr val="0020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743200"/>
            <a:ext cx="40462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</a:rPr>
              <a:t>→ Qualitative methods (interviews, focus groups, case studies, ethnography)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634740"/>
            <a:ext cx="3840480" cy="754380"/>
          </a:xfrm>
          <a:prstGeom prst="roundRect">
            <a:avLst>
              <a:gd name="adj" fmla="val 9091"/>
            </a:avLst>
          </a:prstGeom>
          <a:solidFill>
            <a:srgbClr val="EE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34740"/>
            <a:ext cx="3566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32B32"/>
                </a:solidFill>
              </a:rPr>
              <a:t>Requires both magnitude and meaning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3634740"/>
            <a:ext cx="4320540" cy="754380"/>
          </a:xfrm>
          <a:prstGeom prst="roundRect">
            <a:avLst>
              <a:gd name="adj" fmla="val 9091"/>
            </a:avLst>
          </a:prstGeom>
          <a:solidFill>
            <a:srgbClr val="002060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634740"/>
            <a:ext cx="40462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</a:rPr>
              <a:t>→ Mixed methods 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2100" b="1" kern="1200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Example: Agricultural Field Trial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4882896"/>
            <a:ext cx="6172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750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Session 3 — Gaps, Objectives &amp; Methods (IMRAD)</a:t>
            </a:r>
            <a:endParaRPr lang="en-US" sz="7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>
              <a:buClrTx/>
            </a:pPr>
            <a:r>
              <a:rPr lang="en-US" sz="750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47</a:t>
            </a:r>
            <a:endParaRPr lang="en-US" sz="7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27056"/>
              </p:ext>
            </p:extLst>
          </p:nvPr>
        </p:nvGraphicFramePr>
        <p:xfrm>
          <a:off x="411480" y="1165860"/>
          <a:ext cx="8298180" cy="32095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IMRAD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independent quantification of yield differences between a drought-tolerant variety and the local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the yield difference across a gradient of drought stress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Mean yield loss under drought is significantly lower for the drought-tolerant variety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 complete block field trial; ANOVA and regression against a drought stress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yield advantage justifies variety replacement programmes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2100" b="1" kern="1200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Example: Perceptions of Early Warning Systems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6" name="Text 4"/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>
              <a:buClrTx/>
            </a:pPr>
            <a:r>
              <a:rPr lang="en-US" sz="750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49</a:t>
            </a:r>
            <a:endParaRPr lang="en-US" sz="7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77704"/>
              </p:ext>
            </p:extLst>
          </p:nvPr>
        </p:nvGraphicFramePr>
        <p:xfrm>
          <a:off x="411480" y="1165860"/>
          <a:ext cx="8298180" cy="26746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IMRAD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how pastoralist communities perceive and trust a new drought early-warning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community members perceive the credibility and usefulness of the system?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design: focus group discussions and key informant interviews; framework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Implications for redesigning the system's communication and trust-building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7543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050" b="1" spc="75" dirty="0">
                <a:solidFill>
                  <a:srgbClr val="4F86C6"/>
                </a:solidFill>
                <a:latin typeface="Calibri" panose="020F0502020204030204"/>
                <a:ea typeface="+mn-ea"/>
                <a:cs typeface="+mn-cs"/>
              </a:rPr>
              <a:t>SESSION 3 · 11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2100" b="1" kern="1200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Mixed-Methods Example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6" name="Text 4"/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>
              <a:buClrTx/>
            </a:pPr>
            <a:r>
              <a:rPr lang="en-US" sz="750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50</a:t>
            </a:r>
            <a:endParaRPr lang="en-US" sz="7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268730"/>
            <a:ext cx="2708910" cy="1783080"/>
          </a:xfrm>
          <a:prstGeom prst="roundRect">
            <a:avLst>
              <a:gd name="adj" fmla="val 3846"/>
            </a:avLst>
          </a:prstGeom>
          <a:solidFill>
            <a:srgbClr val="EEF1F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268730"/>
            <a:ext cx="2708910" cy="61722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9" name="Text 7"/>
          <p:cNvSpPr/>
          <p:nvPr/>
        </p:nvSpPr>
        <p:spPr>
          <a:xfrm>
            <a:off x="582930" y="1440180"/>
            <a:ext cx="23660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600" b="1" kern="1200" dirty="0">
                <a:solidFill>
                  <a:srgbClr val="0F2A43"/>
                </a:solidFill>
                <a:latin typeface="Calibri" panose="020F0502020204030204"/>
                <a:ea typeface="+mn-ea"/>
                <a:cs typeface="+mn-cs"/>
              </a:rPr>
              <a:t>Convergent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2930" y="1851660"/>
            <a:ext cx="23660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kern="1200" dirty="0">
                <a:solidFill>
                  <a:srgbClr val="232B32"/>
                </a:solidFill>
                <a:latin typeface="Calibri" panose="020F0502020204030204"/>
                <a:ea typeface="+mn-ea"/>
                <a:cs typeface="+mn-cs"/>
              </a:rPr>
              <a:t>Quantitative + Qualitative strands collected in parallel, merged at interpretation to see where they agree or diverge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57550" y="1268730"/>
            <a:ext cx="2708910" cy="1783080"/>
          </a:xfrm>
          <a:prstGeom prst="roundRect">
            <a:avLst>
              <a:gd name="adj" fmla="val 3846"/>
            </a:avLst>
          </a:prstGeom>
          <a:solidFill>
            <a:srgbClr val="EEF1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57550" y="1268730"/>
            <a:ext cx="2708910" cy="61722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440180"/>
            <a:ext cx="23660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600" b="1" kern="1200" dirty="0">
                <a:solidFill>
                  <a:srgbClr val="0F2A43"/>
                </a:solidFill>
                <a:latin typeface="Calibri" panose="020F0502020204030204"/>
                <a:ea typeface="+mn-ea"/>
                <a:cs typeface="+mn-cs"/>
              </a:rPr>
              <a:t>Explanatory Sequential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9000" y="1851660"/>
            <a:ext cx="23660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kern="1200" dirty="0">
                <a:solidFill>
                  <a:srgbClr val="232B32"/>
                </a:solidFill>
                <a:latin typeface="Calibri" panose="020F0502020204030204"/>
                <a:ea typeface="+mn-ea"/>
                <a:cs typeface="+mn-cs"/>
              </a:rPr>
              <a:t>Quantitative phase (e.g., survey) followed by qualitative phase (e.g., interviews) to explain the results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03620" y="1268730"/>
            <a:ext cx="2708910" cy="1783080"/>
          </a:xfrm>
          <a:prstGeom prst="roundRect">
            <a:avLst>
              <a:gd name="adj" fmla="val 3846"/>
            </a:avLst>
          </a:prstGeom>
          <a:solidFill>
            <a:srgbClr val="EEF1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103620" y="1268730"/>
            <a:ext cx="2708910" cy="61722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17" name="Text 15"/>
          <p:cNvSpPr/>
          <p:nvPr/>
        </p:nvSpPr>
        <p:spPr>
          <a:xfrm>
            <a:off x="6275070" y="1440180"/>
            <a:ext cx="23660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050" b="1" kern="1200" dirty="0">
                <a:solidFill>
                  <a:srgbClr val="0F2A43"/>
                </a:solidFill>
                <a:latin typeface="Calibri" panose="020F0502020204030204"/>
                <a:ea typeface="+mn-ea"/>
                <a:cs typeface="+mn-cs"/>
              </a:rPr>
              <a:t>Exploratory Sequential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75070" y="1851660"/>
            <a:ext cx="23660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kern="1200" dirty="0">
                <a:solidFill>
                  <a:srgbClr val="232B32"/>
                </a:solidFill>
                <a:latin typeface="Calibri" panose="020F0502020204030204"/>
                <a:ea typeface="+mn-ea"/>
                <a:cs typeface="+mn-cs"/>
              </a:rPr>
              <a:t>Qualitative phase identifies locally meaningful strategies; informs a subsequent quantitative instrument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7680" y="3603879"/>
            <a:ext cx="82981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600" i="1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Example: Quantify how widespread a practice change (</a:t>
            </a:r>
            <a:r>
              <a:rPr lang="en-US" sz="1600" i="1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e.g. indigenous seed propagation)</a:t>
            </a:r>
            <a:r>
              <a:rPr lang="en-US" sz="1600" i="1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 has been (survey) → Explain why (interviews with a subsample) → integrate both in the Discussion.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 Methods Section to Match Objectives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4882896"/>
            <a:ext cx="6172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5B6670"/>
                </a:solidFill>
              </a:rPr>
              <a:t>Session 3 — Gaps, Objectives &amp; Methods (IMRAD)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B6670"/>
                </a:solidFill>
              </a:rPr>
              <a:t>51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360800" y="1576458"/>
            <a:ext cx="5968800" cy="21898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32B32"/>
                </a:solidFill>
              </a:rPr>
              <a:t>Does every objective have a corresponding method that could plausibly answer it?</a:t>
            </a:r>
            <a:endParaRPr lang="en-US" dirty="0"/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32B32"/>
                </a:solidFill>
              </a:rPr>
              <a:t>Is the sampling strategy appropriate and justified for that objective?</a:t>
            </a:r>
            <a:endParaRPr lang="en-US" dirty="0"/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32B32"/>
                </a:solidFill>
              </a:rPr>
              <a:t>Is the data collection procedure described in enough detail for replication?</a:t>
            </a:r>
            <a:endParaRPr lang="en-US" dirty="0"/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32B32"/>
                </a:solidFill>
              </a:rPr>
              <a:t>Is the analysis plan explicitly linked to the hypothesis or question it addresses?</a:t>
            </a:r>
            <a:endParaRPr lang="en-US" dirty="0"/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32B32"/>
                </a:solidFill>
              </a:rPr>
              <a:t>Are ethical considerations addressed?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42FB-9498-FBCE-07DD-BE39A201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891B906-31CA-CC75-F6B5-F23389527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73831"/>
            <a:ext cx="3996408" cy="4051804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AFFF91D-54EA-67EA-E6A3-14FB4170FCDE}"/>
              </a:ext>
            </a:extLst>
          </p:cNvPr>
          <p:cNvSpPr/>
          <p:nvPr/>
        </p:nvSpPr>
        <p:spPr>
          <a:xfrm>
            <a:off x="4572000" y="1307439"/>
            <a:ext cx="4159452" cy="23845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32B32"/>
                </a:solidFill>
              </a:rPr>
              <a:t>Write according to the specifications of your field</a:t>
            </a:r>
            <a:endParaRPr lang="en-US" sz="1200" dirty="0"/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32B32"/>
                </a:solidFill>
              </a:rPr>
              <a:t>Explain your methodological and data collection approaches in detail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32B32"/>
                </a:solidFill>
              </a:rPr>
              <a:t>Explain, each methodological step in detail so that others can replicate your work </a:t>
            </a:r>
            <a:r>
              <a:rPr lang="en-US" sz="1200" dirty="0">
                <a:solidFill>
                  <a:srgbClr val="C00000"/>
                </a:solidFill>
                <a:sym typeface="Wingdings" panose="05000000000000000000" pitchFamily="2" charset="2"/>
              </a:rPr>
              <a:t> Transparency</a:t>
            </a:r>
            <a:endParaRPr lang="en-US" sz="1200" dirty="0">
              <a:solidFill>
                <a:srgbClr val="C00000"/>
              </a:solidFill>
            </a:endParaRP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32B32"/>
                </a:solidFill>
              </a:rPr>
              <a:t>When apply other’s methods and formulars , properly cite</a:t>
            </a:r>
            <a:endParaRPr lang="en-US" sz="1200" dirty="0"/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32B32"/>
                </a:solidFill>
              </a:rPr>
              <a:t>Ensure that each objective has been adequately addressed in the methods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08373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364-3EB4-72E2-F93F-D76548D7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50" y="2141250"/>
            <a:ext cx="7852200" cy="861000"/>
          </a:xfrm>
        </p:spPr>
        <p:txBody>
          <a:bodyPr/>
          <a:lstStyle/>
          <a:p>
            <a:r>
              <a:rPr lang="en-GB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36403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B4091-6F37-A4C4-7747-EDC82B71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A4177F2-213F-990D-5BCD-47F9C1D65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800" y="266628"/>
            <a:ext cx="5558400" cy="4199230"/>
          </a:xfrm>
          <a:prstGeom prst="rect">
            <a:avLst/>
          </a:prstGeom>
        </p:spPr>
      </p:pic>
      <p:sp>
        <p:nvSpPr>
          <p:cNvPr id="3" name="Text 17">
            <a:extLst>
              <a:ext uri="{FF2B5EF4-FFF2-40B4-BE49-F238E27FC236}">
                <a16:creationId xmlns:a16="http://schemas.microsoft.com/office/drawing/2014/main" id="{2F666D5E-AE23-53E2-B816-F84CD1533D49}"/>
              </a:ext>
            </a:extLst>
          </p:cNvPr>
          <p:cNvSpPr/>
          <p:nvPr/>
        </p:nvSpPr>
        <p:spPr>
          <a:xfrm>
            <a:off x="550080" y="4465858"/>
            <a:ext cx="82981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600" i="1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A detailed description of data collection methods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7594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581B5-4605-82AB-3FEA-84AAB11C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7">
            <a:extLst>
              <a:ext uri="{FF2B5EF4-FFF2-40B4-BE49-F238E27FC236}">
                <a16:creationId xmlns:a16="http://schemas.microsoft.com/office/drawing/2014/main" id="{5CCF595B-F6BD-B1A0-4E68-744D9EE57A8A}"/>
              </a:ext>
            </a:extLst>
          </p:cNvPr>
          <p:cNvSpPr/>
          <p:nvPr/>
        </p:nvSpPr>
        <p:spPr>
          <a:xfrm>
            <a:off x="550080" y="4465858"/>
            <a:ext cx="82981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600" i="1" kern="1200" dirty="0">
                <a:solidFill>
                  <a:schemeClr val="tx2">
                    <a:lumMod val="10000"/>
                  </a:schemeClr>
                </a:solidFill>
                <a:latin typeface="Calibri" panose="020F0502020204030204"/>
                <a:ea typeface="+mn-ea"/>
                <a:cs typeface="+mn-cs"/>
              </a:rPr>
              <a:t>Using graphical aides to support in documenting methods</a:t>
            </a:r>
            <a:endParaRPr lang="en-US" sz="1600" kern="1200" dirty="0">
              <a:solidFill>
                <a:schemeClr val="tx2">
                  <a:lumMod val="10000"/>
                </a:scheme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F142B-BA2F-33A3-DF94-F438BDE4A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8" y="295200"/>
            <a:ext cx="6576602" cy="41804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D158BC-1B85-ABFD-7586-8F478B0EC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233" y="1347616"/>
            <a:ext cx="4715533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36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F9F55-B532-52A5-0DB0-2A699FCB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7">
            <a:extLst>
              <a:ext uri="{FF2B5EF4-FFF2-40B4-BE49-F238E27FC236}">
                <a16:creationId xmlns:a16="http://schemas.microsoft.com/office/drawing/2014/main" id="{25C58EEB-2DD7-3AEB-ECE4-54A10AC3059D}"/>
              </a:ext>
            </a:extLst>
          </p:cNvPr>
          <p:cNvSpPr/>
          <p:nvPr/>
        </p:nvSpPr>
        <p:spPr>
          <a:xfrm>
            <a:off x="535680" y="4321858"/>
            <a:ext cx="82981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600" i="1" kern="1200" dirty="0">
                <a:solidFill>
                  <a:schemeClr val="tx2">
                    <a:lumMod val="10000"/>
                  </a:schemeClr>
                </a:solidFill>
                <a:latin typeface="Calibri" panose="020F0502020204030204"/>
                <a:ea typeface="+mn-ea"/>
                <a:cs typeface="+mn-cs"/>
              </a:rPr>
              <a:t>Description of qualitative data analysis methods and citing additional methods</a:t>
            </a:r>
            <a:endParaRPr lang="en-US" sz="1600" kern="1200" dirty="0">
              <a:solidFill>
                <a:schemeClr val="tx2">
                  <a:lumMod val="10000"/>
                </a:scheme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F5389-18B7-E4A1-3F20-7BC868658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651430"/>
            <a:ext cx="6883199" cy="357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75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11A82-615D-57E4-A93D-9C8B4A95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03F41E2-CCA6-2E2A-FCBB-D98D4BC10D3D}"/>
              </a:ext>
            </a:extLst>
          </p:cNvPr>
          <p:cNvSpPr/>
          <p:nvPr/>
        </p:nvSpPr>
        <p:spPr>
          <a:xfrm>
            <a:off x="411480" y="466344"/>
            <a:ext cx="82981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buClrTx/>
            </a:pPr>
            <a:r>
              <a:rPr lang="en-US" sz="1600" b="1" kern="1200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+mn-cs"/>
              </a:rPr>
              <a:t>Assignment: Relook at your work, identify the gap, research objectives, and potential methods for each objective, and organize as below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58C55B-A5A8-7F48-FA34-B4EBBBADEADE}"/>
              </a:ext>
            </a:extLst>
          </p:cNvPr>
          <p:cNvSpPr/>
          <p:nvPr/>
        </p:nvSpPr>
        <p:spPr>
          <a:xfrm>
            <a:off x="411480" y="994410"/>
            <a:ext cx="8298180" cy="6858"/>
          </a:xfrm>
          <a:prstGeom prst="rect">
            <a:avLst/>
          </a:prstGeom>
          <a:solidFill>
            <a:srgbClr val="DADFE3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9BDD6A-1F23-7D16-2C27-2E1AFD192987}"/>
              </a:ext>
            </a:extLst>
          </p:cNvPr>
          <p:cNvSpPr/>
          <p:nvPr/>
        </p:nvSpPr>
        <p:spPr>
          <a:xfrm>
            <a:off x="8641080" y="4882896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>
              <a:buClrTx/>
            </a:pPr>
            <a:r>
              <a:rPr lang="en-US" sz="750" kern="1200" dirty="0">
                <a:solidFill>
                  <a:srgbClr val="5B6670"/>
                </a:solidFill>
                <a:latin typeface="Calibri" panose="020F0502020204030204"/>
                <a:ea typeface="+mn-ea"/>
                <a:cs typeface="+mn-cs"/>
              </a:rPr>
              <a:t>49</a:t>
            </a:r>
            <a:endParaRPr lang="en-US" sz="7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4" name="Table 0">
            <a:extLst>
              <a:ext uri="{FF2B5EF4-FFF2-40B4-BE49-F238E27FC236}">
                <a16:creationId xmlns:a16="http://schemas.microsoft.com/office/drawing/2014/main" id="{436F6963-1E9E-20D2-D8A8-AE813B3B0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58513"/>
              </p:ext>
            </p:extLst>
          </p:nvPr>
        </p:nvGraphicFramePr>
        <p:xfrm>
          <a:off x="411480" y="1165860"/>
          <a:ext cx="8298180" cy="26746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IMRAD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State a clear gap of your research (1)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Aim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overall aim/purpose of your research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Objectives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 3-4 specific objectives of your research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each specific objective, outline and briefly describe the main methodological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6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>
            <a:spLocks noGrp="1"/>
          </p:cNvSpPr>
          <p:nvPr>
            <p:ph type="title"/>
          </p:nvPr>
        </p:nvSpPr>
        <p:spPr>
          <a:xfrm>
            <a:off x="64590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Questions and discussions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073A35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N PPT Template" id="{53380C18-BCFF-204B-8B61-35E0BC1D6498}" vid="{889FEF5D-2F43-1249-83CE-7023C32503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237</TotalTime>
  <Words>834</Words>
  <Application>Microsoft Office PowerPoint</Application>
  <PresentationFormat>On-screen Show (16:9)</PresentationFormat>
  <Paragraphs>132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Poppins</vt:lpstr>
      <vt:lpstr>Cambria</vt:lpstr>
      <vt:lpstr>Oswald</vt:lpstr>
      <vt:lpstr>Calibri</vt:lpstr>
      <vt:lpstr>Wingdings</vt:lpstr>
      <vt:lpstr>Rubik</vt:lpstr>
      <vt:lpstr>Average</vt:lpstr>
      <vt:lpstr>Arial</vt:lpstr>
      <vt:lpstr>Slate</vt:lpstr>
      <vt:lpstr>Office Theme</vt:lpstr>
      <vt:lpstr>Translating Research Gaps into Method</vt:lpstr>
      <vt:lpstr>Outline</vt:lpstr>
      <vt:lpstr>Recap on IMRAD method</vt:lpstr>
      <vt:lpstr>Recap on Abstract</vt:lpstr>
      <vt:lpstr>Recap on Abstract</vt:lpstr>
      <vt:lpstr>Recap on Abstract</vt:lpstr>
      <vt:lpstr>Discuss some examples from participants</vt:lpstr>
      <vt:lpstr>PowerPoint Presentation</vt:lpstr>
      <vt:lpstr>PowerPoint Presentation</vt:lpstr>
      <vt:lpstr>Reread your abstract and identify a research aim, objective or 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PowerPoint Presentation</vt:lpstr>
      <vt:lpstr>PowerPoint Presentation</vt:lpstr>
      <vt:lpstr>PowerPoint Presentation</vt:lpstr>
      <vt:lpstr>PowerPoint Presentation</vt:lpstr>
      <vt:lpstr>Questions and discussions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Masila</dc:creator>
  <cp:lastModifiedBy>FO</cp:lastModifiedBy>
  <cp:revision>3</cp:revision>
  <dcterms:created xsi:type="dcterms:W3CDTF">2026-07-06T08:09:00Z</dcterms:created>
  <dcterms:modified xsi:type="dcterms:W3CDTF">2026-07-22T14:56:24Z</dcterms:modified>
</cp:coreProperties>
</file>