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85" r:id="rId3"/>
    <p:sldId id="283" r:id="rId4"/>
    <p:sldId id="331" r:id="rId5"/>
    <p:sldId id="289" r:id="rId6"/>
    <p:sldId id="319" r:id="rId7"/>
    <p:sldId id="332" r:id="rId8"/>
    <p:sldId id="318" r:id="rId9"/>
    <p:sldId id="333" r:id="rId10"/>
    <p:sldId id="290" r:id="rId11"/>
    <p:sldId id="329" r:id="rId12"/>
    <p:sldId id="334" r:id="rId13"/>
    <p:sldId id="335" r:id="rId14"/>
    <p:sldId id="336" r:id="rId15"/>
    <p:sldId id="337" r:id="rId16"/>
    <p:sldId id="327" r:id="rId17"/>
    <p:sldId id="338" r:id="rId18"/>
    <p:sldId id="282" r:id="rId19"/>
  </p:sldIdLst>
  <p:sldSz cx="9144000" cy="5143500" type="screen16x9"/>
  <p:notesSz cx="6858000" cy="9144000"/>
  <p:embeddedFontLst>
    <p:embeddedFont>
      <p:font typeface="Average" panose="020B0604020202020204" charset="0"/>
      <p:regular r:id="rId21"/>
    </p:embeddedFont>
    <p:embeddedFont>
      <p:font typeface="Oswald" panose="00000500000000000000" pitchFamily="2" charset="0"/>
      <p:regular r:id="rId22"/>
      <p:bold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Rubik" panose="020B0604020202020204" charset="-79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C49"/>
    <a:srgbClr val="30B6E0"/>
    <a:srgbClr val="BDE9FF"/>
    <a:srgbClr val="00FFFF"/>
    <a:srgbClr val="FF7C8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D09B5E-6C5B-4721-BDBA-B05FA65F1475}">
  <a:tblStyle styleId="{77D09B5E-6C5B-4721-BDBA-B05FA65F14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AB80124-4610-42D2-A984-0F97B37847D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36"/>
    <p:restoredTop sz="94662"/>
  </p:normalViewPr>
  <p:slideViewPr>
    <p:cSldViewPr snapToGrid="0">
      <p:cViewPr varScale="1">
        <p:scale>
          <a:sx n="133" d="100"/>
          <a:sy n="133" d="100"/>
        </p:scale>
        <p:origin x="1182" y="15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86857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6f980f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6f980f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3fcad37ad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3fcad37ad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21C49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 hasCustomPrompt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Poppins" pitchFamily="2" charset="77"/>
                <a:cs typeface="Poppins" pitchFamily="2" charset="77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 dirty="0"/>
              <a:t>Insert Text</a:t>
            </a:r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-115950" y="4532650"/>
            <a:ext cx="9375900" cy="513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996750" y="4566100"/>
            <a:ext cx="715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arin-africa.org</a:t>
            </a:r>
            <a:endParaRPr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46;p8">
            <a:extLst>
              <a:ext uri="{FF2B5EF4-FFF2-40B4-BE49-F238E27FC236}">
                <a16:creationId xmlns:a16="http://schemas.microsoft.com/office/drawing/2014/main" id="{D6381813-04E5-7B97-D1A8-6D735EE16DD7}"/>
              </a:ext>
            </a:extLst>
          </p:cNvPr>
          <p:cNvSpPr/>
          <p:nvPr userDrawn="1"/>
        </p:nvSpPr>
        <p:spPr>
          <a:xfrm rot="10800000" flipH="1">
            <a:off x="3818778" y="-106326"/>
            <a:ext cx="1091953" cy="984435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76200" dir="4680000" algn="bl" rotWithShape="0">
              <a:srgbClr val="434343">
                <a:alpha val="4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47;p8">
            <a:extLst>
              <a:ext uri="{FF2B5EF4-FFF2-40B4-BE49-F238E27FC236}">
                <a16:creationId xmlns:a16="http://schemas.microsoft.com/office/drawing/2014/main" id="{472FE6FF-34D3-EDBD-0CF6-1471BE5F5090}"/>
              </a:ext>
            </a:extLst>
          </p:cNvPr>
          <p:cNvPicPr preferRelativeResize="0"/>
          <p:nvPr userDrawn="1"/>
        </p:nvPicPr>
        <p:blipFill>
          <a:blip r:embed="rId2"/>
          <a:srcRect t="20646" b="18790"/>
          <a:stretch/>
        </p:blipFill>
        <p:spPr>
          <a:xfrm>
            <a:off x="3872218" y="68891"/>
            <a:ext cx="956122" cy="581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bg>
      <p:bgPr>
        <a:solidFill>
          <a:srgbClr val="021C49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671250" y="932126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-115950" y="4532650"/>
            <a:ext cx="9375900" cy="513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996750" y="4566100"/>
            <a:ext cx="715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arin-africa.org</a:t>
            </a:r>
            <a:endParaRPr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E777491E-991B-F8D3-0BDF-F945F8C0D26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1250" y="2056976"/>
            <a:ext cx="7852200" cy="215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Google Shape;46;p8">
            <a:extLst>
              <a:ext uri="{FF2B5EF4-FFF2-40B4-BE49-F238E27FC236}">
                <a16:creationId xmlns:a16="http://schemas.microsoft.com/office/drawing/2014/main" id="{143A6F68-56AB-1218-39D4-74688E64A9ED}"/>
              </a:ext>
            </a:extLst>
          </p:cNvPr>
          <p:cNvSpPr/>
          <p:nvPr userDrawn="1"/>
        </p:nvSpPr>
        <p:spPr>
          <a:xfrm rot="10800000" flipH="1">
            <a:off x="184031" y="-106325"/>
            <a:ext cx="859200" cy="774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76200" dir="4680000" algn="bl" rotWithShape="0">
              <a:srgbClr val="434343">
                <a:alpha val="4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47;p8">
            <a:extLst>
              <a:ext uri="{FF2B5EF4-FFF2-40B4-BE49-F238E27FC236}">
                <a16:creationId xmlns:a16="http://schemas.microsoft.com/office/drawing/2014/main" id="{8EF94C0A-4CE6-ABB8-131B-1039DAE52865}"/>
              </a:ext>
            </a:extLst>
          </p:cNvPr>
          <p:cNvPicPr preferRelativeResize="0"/>
          <p:nvPr userDrawn="1"/>
        </p:nvPicPr>
        <p:blipFill>
          <a:blip r:embed="rId2"/>
          <a:srcRect t="20646" b="18790"/>
          <a:stretch/>
        </p:blipFill>
        <p:spPr>
          <a:xfrm>
            <a:off x="237470" y="68891"/>
            <a:ext cx="752322" cy="45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tx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Poppins" pitchFamily="2" charset="77"/>
                <a:cs typeface="Poppins" pitchFamily="2" charset="77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rgbClr val="021C49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Poppins" pitchFamily="2" charset="77"/>
                <a:cs typeface="Poppins" pitchFamily="2" charset="77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Poppins" pitchFamily="2" charset="77"/>
                <a:cs typeface="Poppins" pitchFamily="2" charset="77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021C49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021C49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Poppins" pitchFamily="2" charset="77"/>
                <a:cs typeface="Poppins" pitchFamily="2" charset="77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userDrawn="1">
  <p:cSld name="MAIN_POINT">
    <p:bg>
      <p:bgPr>
        <a:solidFill>
          <a:schemeClr val="lt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1025912"/>
            <a:ext cx="6227100" cy="10259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rgbClr val="021C4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43" name="Google Shape;43;p8"/>
          <p:cNvSpPr txBox="1"/>
          <p:nvPr/>
        </p:nvSpPr>
        <p:spPr>
          <a:xfrm>
            <a:off x="385525" y="4605250"/>
            <a:ext cx="504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arin-africa.org</a:t>
            </a:r>
            <a:endParaRPr sz="1200" dirty="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8"/>
          <p:cNvSpPr/>
          <p:nvPr/>
        </p:nvSpPr>
        <p:spPr>
          <a:xfrm rot="10800000" flipH="1">
            <a:off x="184031" y="-106325"/>
            <a:ext cx="859200" cy="774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76200" dir="4680000" algn="bl" rotWithShape="0">
              <a:srgbClr val="434343">
                <a:alpha val="4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8"/>
          <p:cNvPicPr preferRelativeResize="0"/>
          <p:nvPr/>
        </p:nvPicPr>
        <p:blipFill>
          <a:blip r:embed="rId2"/>
          <a:srcRect t="20646" b="18790"/>
          <a:stretch/>
        </p:blipFill>
        <p:spPr>
          <a:xfrm>
            <a:off x="237470" y="68891"/>
            <a:ext cx="752322" cy="4574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;p1">
            <a:extLst>
              <a:ext uri="{FF2B5EF4-FFF2-40B4-BE49-F238E27FC236}">
                <a16:creationId xmlns:a16="http://schemas.microsoft.com/office/drawing/2014/main" id="{1A1A3D08-F8F2-F272-44C8-3D53FCA5927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90249" y="2274848"/>
            <a:ext cx="8118491" cy="19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>
  <p:cSld name="1_Main point">
    <p:bg>
      <p:bgPr>
        <a:solidFill>
          <a:schemeClr val="lt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rgbClr val="021C4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43" name="Google Shape;43;p8"/>
          <p:cNvSpPr txBox="1"/>
          <p:nvPr/>
        </p:nvSpPr>
        <p:spPr>
          <a:xfrm>
            <a:off x="385525" y="4605250"/>
            <a:ext cx="504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arin-africa.org</a:t>
            </a:r>
            <a:endParaRPr sz="1200" dirty="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8"/>
          <p:cNvSpPr/>
          <p:nvPr/>
        </p:nvSpPr>
        <p:spPr>
          <a:xfrm rot="10800000" flipH="1">
            <a:off x="8111350" y="-106325"/>
            <a:ext cx="859200" cy="774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76200" dir="4680000" algn="bl" rotWithShape="0">
              <a:srgbClr val="434343">
                <a:alpha val="4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8"/>
          <p:cNvPicPr preferRelativeResize="0"/>
          <p:nvPr/>
        </p:nvPicPr>
        <p:blipFill>
          <a:blip r:embed="rId2"/>
          <a:srcRect t="20646" b="18790"/>
          <a:stretch/>
        </p:blipFill>
        <p:spPr>
          <a:xfrm>
            <a:off x="8164789" y="68891"/>
            <a:ext cx="752322" cy="4574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9031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1_Section title and 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  <a:latin typeface="Poppins" pitchFamily="2" charset="77"/>
                <a:cs typeface="Poppins" pitchFamily="2" charset="77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rgbClr val="021C49"/>
                </a:solidFill>
                <a:latin typeface="Poppins" pitchFamily="2" charset="77"/>
                <a:cs typeface="Poppins" pitchFamily="2" charset="77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Google Shape;54;p9"/>
          <p:cNvSpPr txBox="1"/>
          <p:nvPr/>
        </p:nvSpPr>
        <p:spPr>
          <a:xfrm>
            <a:off x="385525" y="4681450"/>
            <a:ext cx="504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arin-africa.org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74139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rgbClr val="021C49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021C49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Poppins" pitchFamily="2" charset="77"/>
                <a:cs typeface="Poppins" pitchFamily="2" charset="77"/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Google Shape;6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021C49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rgbClr val="021C49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0" r:id="rId8"/>
    <p:sldLayoutId id="2147483661" r:id="rId9"/>
    <p:sldLayoutId id="2147483656" r:id="rId10"/>
    <p:sldLayoutId id="2147483657" r:id="rId11"/>
    <p:sldLayoutId id="214748365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oppins" pitchFamily="2" charset="77"/>
          <a:ea typeface="Poppins" pitchFamily="2" charset="77"/>
          <a:cs typeface="Poppins" pitchFamily="2" charset="77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tgender.eu/wp-content/uploads/sites/207/2022/03/Academic-Writing-for-Graduate-Students-PDFDrive-.pdf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Poppins"/>
                <a:ea typeface="Poppins"/>
                <a:cs typeface="Poppins"/>
                <a:sym typeface="Poppins"/>
              </a:rPr>
              <a:t>From Results to Discussion and back to Objectives</a:t>
            </a:r>
            <a:endParaRPr sz="32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ubik"/>
                <a:ea typeface="Rubik"/>
                <a:cs typeface="Rubik"/>
                <a:sym typeface="Rubik"/>
              </a:rPr>
              <a:t>Francis Oloo (Dr. rer. </a:t>
            </a:r>
            <a:r>
              <a:rPr lang="en-AU" dirty="0">
                <a:latin typeface="Rubik"/>
                <a:ea typeface="Rubik"/>
                <a:cs typeface="Rubik"/>
                <a:sym typeface="Rubik"/>
              </a:rPr>
              <a:t>N</a:t>
            </a:r>
            <a:r>
              <a:rPr lang="en" dirty="0">
                <a:latin typeface="Rubik"/>
                <a:ea typeface="Rubik"/>
                <a:cs typeface="Rubik"/>
                <a:sym typeface="Rubik"/>
              </a:rPr>
              <a:t>at)</a:t>
            </a:r>
            <a:endParaRPr dirty="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B7873-C68C-00E7-EE68-D56DE237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8BC6F-1848-50D1-3643-A97D47990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Understand the function of Discussion relative to Results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Structuring the discussion section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Link the discussion back to the study's objectives</a:t>
            </a:r>
            <a:endParaRPr lang="en-GB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806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0364-3EB4-72E2-F93F-D76548D7B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050" y="221438"/>
            <a:ext cx="7852200" cy="861000"/>
          </a:xfrm>
        </p:spPr>
        <p:txBody>
          <a:bodyPr/>
          <a:lstStyle/>
          <a:p>
            <a:r>
              <a:rPr lang="en-GB" dirty="0"/>
              <a:t>Recap on IMRAD method</a:t>
            </a:r>
          </a:p>
        </p:txBody>
      </p:sp>
      <p:pic>
        <p:nvPicPr>
          <p:cNvPr id="6" name="Picture 5" descr="Improving the writing of research papers: IMRAD and beyond ...">
            <a:extLst>
              <a:ext uri="{FF2B5EF4-FFF2-40B4-BE49-F238E27FC236}">
                <a16:creationId xmlns:a16="http://schemas.microsoft.com/office/drawing/2014/main" id="{AF234C3B-A421-F208-A1F8-054F4FF93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999" y="1042987"/>
            <a:ext cx="6010959" cy="34641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999BC7D-F945-E139-D910-F7ABE34FD3E8}"/>
              </a:ext>
            </a:extLst>
          </p:cNvPr>
          <p:cNvSpPr/>
          <p:nvPr/>
        </p:nvSpPr>
        <p:spPr>
          <a:xfrm>
            <a:off x="2930400" y="3232800"/>
            <a:ext cx="1965600" cy="4824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82953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5DFE6-2076-C1FE-CA0B-D8FFE7676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2161C-14CE-0440-CA19-8D61756F6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050" y="221438"/>
            <a:ext cx="7852200" cy="861000"/>
          </a:xfrm>
        </p:spPr>
        <p:txBody>
          <a:bodyPr/>
          <a:lstStyle/>
          <a:p>
            <a:r>
              <a:rPr lang="en-GB" dirty="0"/>
              <a:t>Discussion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C97E68-0A42-C6FC-5AEF-2B3E1C68C4D9}"/>
              </a:ext>
            </a:extLst>
          </p:cNvPr>
          <p:cNvSpPr txBox="1"/>
          <p:nvPr/>
        </p:nvSpPr>
        <p:spPr>
          <a:xfrm>
            <a:off x="798852" y="1463801"/>
            <a:ext cx="70886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Oswald" panose="00000500000000000000" pitchFamily="2" charset="0"/>
              </a:rPr>
              <a:t>The introduction narrows down to a gap/objective while Discussion widens back out to the field</a:t>
            </a:r>
            <a:endParaRPr lang="en-KE" sz="3200" dirty="0">
              <a:solidFill>
                <a:schemeClr val="accent5">
                  <a:lumMod val="60000"/>
                  <a:lumOff val="40000"/>
                </a:schemeClr>
              </a:solidFill>
              <a:latin typeface="Oswald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369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01538A-F510-4909-0FA0-515D34151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772CBAE-370E-82FE-5721-4E7940B54F76}"/>
              </a:ext>
            </a:extLst>
          </p:cNvPr>
          <p:cNvSpPr/>
          <p:nvPr/>
        </p:nvSpPr>
        <p:spPr>
          <a:xfrm>
            <a:off x="2952000" y="1332000"/>
            <a:ext cx="1620000" cy="2397600"/>
          </a:xfrm>
          <a:prstGeom prst="roundRect">
            <a:avLst/>
          </a:prstGeom>
          <a:solidFill>
            <a:srgbClr val="BDE9FF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CF139A-D799-6112-0FB4-53A4598D7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050" y="221438"/>
            <a:ext cx="7852200" cy="861000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Research Workflow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EA69E9-B26A-D416-825C-B0599799D88E}"/>
              </a:ext>
            </a:extLst>
          </p:cNvPr>
          <p:cNvSpPr/>
          <p:nvPr/>
        </p:nvSpPr>
        <p:spPr>
          <a:xfrm>
            <a:off x="208800" y="2303101"/>
            <a:ext cx="1288800" cy="453600"/>
          </a:xfrm>
          <a:prstGeom prst="roundRect">
            <a:avLst/>
          </a:prstGeom>
          <a:solidFill>
            <a:srgbClr val="FF7C8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Problem</a:t>
            </a:r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E6216B-0DC3-2997-835E-CA39F25794FA}"/>
              </a:ext>
            </a:extLst>
          </p:cNvPr>
          <p:cNvSpPr/>
          <p:nvPr/>
        </p:nvSpPr>
        <p:spPr>
          <a:xfrm>
            <a:off x="1580400" y="2303101"/>
            <a:ext cx="1288800" cy="453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Objectives</a:t>
            </a:r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B76BA9-9B92-B85A-099D-8C30279F30F9}"/>
              </a:ext>
            </a:extLst>
          </p:cNvPr>
          <p:cNvSpPr/>
          <p:nvPr/>
        </p:nvSpPr>
        <p:spPr>
          <a:xfrm>
            <a:off x="3110400" y="1714800"/>
            <a:ext cx="1288800" cy="453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Design</a:t>
            </a:r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2C1897-BB4D-5AB8-5DCE-7FC3168FD50B}"/>
              </a:ext>
            </a:extLst>
          </p:cNvPr>
          <p:cNvSpPr/>
          <p:nvPr/>
        </p:nvSpPr>
        <p:spPr>
          <a:xfrm>
            <a:off x="3110400" y="2313600"/>
            <a:ext cx="1288800" cy="453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Data collection</a:t>
            </a:r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492AA7-A94D-3A60-C0D2-ECB38EAFA60C}"/>
              </a:ext>
            </a:extLst>
          </p:cNvPr>
          <p:cNvSpPr/>
          <p:nvPr/>
        </p:nvSpPr>
        <p:spPr>
          <a:xfrm>
            <a:off x="3110400" y="2941501"/>
            <a:ext cx="1288800" cy="453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Data analysis</a:t>
            </a:r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9A48BD-CF2A-72BD-BD69-D6F6BD7D5659}"/>
              </a:ext>
            </a:extLst>
          </p:cNvPr>
          <p:cNvSpPr/>
          <p:nvPr/>
        </p:nvSpPr>
        <p:spPr>
          <a:xfrm>
            <a:off x="4711200" y="2299200"/>
            <a:ext cx="1288800" cy="453600"/>
          </a:xfrm>
          <a:prstGeom prst="roundRect">
            <a:avLst/>
          </a:prstGeom>
          <a:solidFill>
            <a:srgbClr val="99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Results</a:t>
            </a:r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A0A44B8-53AC-D7BA-CFF6-72CD1FC50D13}"/>
              </a:ext>
            </a:extLst>
          </p:cNvPr>
          <p:cNvSpPr/>
          <p:nvPr/>
        </p:nvSpPr>
        <p:spPr>
          <a:xfrm>
            <a:off x="6138000" y="2299200"/>
            <a:ext cx="1288800" cy="453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Discussion</a:t>
            </a:r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81DF402-2BEC-7BBB-8DB1-63818F13ED31}"/>
              </a:ext>
            </a:extLst>
          </p:cNvPr>
          <p:cNvSpPr/>
          <p:nvPr/>
        </p:nvSpPr>
        <p:spPr>
          <a:xfrm>
            <a:off x="7560000" y="2288701"/>
            <a:ext cx="1288800" cy="453600"/>
          </a:xfrm>
          <a:prstGeom prst="roundRect">
            <a:avLst/>
          </a:prstGeom>
          <a:solidFill>
            <a:srgbClr val="30B6E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Conclusion</a:t>
            </a:r>
            <a:endParaRPr lang="en-KE" dirty="0">
              <a:solidFill>
                <a:srgbClr val="00206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141983-CDA8-0708-71E5-11C2A5CBF34A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1497600" y="2529901"/>
            <a:ext cx="82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2658FB-581E-335B-50D9-F1D041A32B17}"/>
              </a:ext>
            </a:extLst>
          </p:cNvPr>
          <p:cNvCxnSpPr>
            <a:stCxn id="8" idx="3"/>
            <a:endCxn id="21" idx="1"/>
          </p:cNvCxnSpPr>
          <p:nvPr/>
        </p:nvCxnSpPr>
        <p:spPr>
          <a:xfrm>
            <a:off x="2869200" y="2529901"/>
            <a:ext cx="82800" cy="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F18A16E-0D9B-AD6A-CA21-8A151FE6D916}"/>
              </a:ext>
            </a:extLst>
          </p:cNvPr>
          <p:cNvCxnSpPr>
            <a:stCxn id="21" idx="3"/>
            <a:endCxn id="16" idx="1"/>
          </p:cNvCxnSpPr>
          <p:nvPr/>
        </p:nvCxnSpPr>
        <p:spPr>
          <a:xfrm flipV="1">
            <a:off x="4572000" y="2526000"/>
            <a:ext cx="139200" cy="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CBCB04A-E98F-9107-9867-4F7D3375F859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>
            <a:off x="6000000" y="2526000"/>
            <a:ext cx="13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C2BC633-ECA8-E284-F17D-1404478699D8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 flipV="1">
            <a:off x="7426800" y="2515501"/>
            <a:ext cx="133200" cy="10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C1D0A84C-7B72-6CC0-D7DD-1C50C7F14FF0}"/>
              </a:ext>
            </a:extLst>
          </p:cNvPr>
          <p:cNvCxnSpPr>
            <a:cxnSpLocks/>
            <a:stCxn id="18" idx="2"/>
            <a:endCxn id="8" idx="2"/>
          </p:cNvCxnSpPr>
          <p:nvPr/>
        </p:nvCxnSpPr>
        <p:spPr>
          <a:xfrm rot="5400000">
            <a:off x="4501650" y="475950"/>
            <a:ext cx="3901" cy="4557600"/>
          </a:xfrm>
          <a:prstGeom prst="bentConnector3">
            <a:avLst>
              <a:gd name="adj1" fmla="val 2921561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9">
            <a:extLst>
              <a:ext uri="{FF2B5EF4-FFF2-40B4-BE49-F238E27FC236}">
                <a16:creationId xmlns:a16="http://schemas.microsoft.com/office/drawing/2014/main" id="{3D46FC03-542E-8776-B805-D45FC8B32F75}"/>
              </a:ext>
            </a:extLst>
          </p:cNvPr>
          <p:cNvSpPr/>
          <p:nvPr/>
        </p:nvSpPr>
        <p:spPr>
          <a:xfrm>
            <a:off x="354240" y="3874800"/>
            <a:ext cx="797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70"/>
                </a:solidFill>
              </a:rPr>
              <a:t>A Discussion that cannot be traced back, point by point, to the study's stated objectives has broken the "golden thread" — even if every sentence in it is well written.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358641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0E31F-04C4-68F4-1083-A0F4C9C2E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7049-21F3-BFE4-A9A7-A7132DA0E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050" y="176312"/>
            <a:ext cx="7688950" cy="1025912"/>
          </a:xfrm>
        </p:spPr>
        <p:txBody>
          <a:bodyPr/>
          <a:lstStyle/>
          <a:p>
            <a:r>
              <a:rPr lang="en-GB" sz="3600" b="1" dirty="0">
                <a:sym typeface="Wingdings" panose="05000000000000000000" pitchFamily="2" charset="2"/>
              </a:rPr>
              <a:t>Results Discussion (</a:t>
            </a:r>
            <a:r>
              <a:rPr lang="en-GB" sz="3600" b="1" dirty="0">
                <a:solidFill>
                  <a:srgbClr val="C00000"/>
                </a:solidFill>
                <a:sym typeface="Wingdings" panose="05000000000000000000" pitchFamily="2" charset="2"/>
              </a:rPr>
              <a:t>what changes?</a:t>
            </a:r>
            <a:r>
              <a:rPr lang="en-GB" sz="3600" b="1" dirty="0">
                <a:sym typeface="Wingdings" panose="05000000000000000000" pitchFamily="2" charset="2"/>
              </a:rPr>
              <a:t>)</a:t>
            </a:r>
            <a:r>
              <a:rPr lang="en-GB" sz="3600" b="1" dirty="0"/>
              <a:t> 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3200C28A-3903-6FFC-15FB-BC8ADF82C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99967"/>
              </p:ext>
            </p:extLst>
          </p:nvPr>
        </p:nvGraphicFramePr>
        <p:xfrm>
          <a:off x="519120" y="1473840"/>
          <a:ext cx="8105760" cy="2871080"/>
        </p:xfrm>
        <a:graphic>
          <a:graphicData uri="http://schemas.openxmlformats.org/drawingml/2006/table">
            <a:tbl>
              <a:tblPr/>
              <a:tblGrid>
                <a:gridCol w="405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Results</a:t>
                      </a:r>
                      <a:endParaRPr lang="en-US" sz="16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Discussion</a:t>
                      </a:r>
                      <a:endParaRPr lang="en-US" sz="16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Reports what was found</a:t>
                      </a:r>
                      <a:endParaRPr lang="en-US" sz="16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Interprets what the finding means</a:t>
                      </a:r>
                      <a:endParaRPr lang="en-US" sz="16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Descriptive, neutral tone</a:t>
                      </a:r>
                      <a:endParaRPr lang="en-US" sz="16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Evaluative, argumentative tone</a:t>
                      </a:r>
                      <a:endParaRPr lang="en-US" sz="16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No reference to prior literature</a:t>
                      </a:r>
                      <a:endParaRPr lang="en-US" sz="16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Compares findings to prior literature</a:t>
                      </a:r>
                      <a:endParaRPr lang="en-US" sz="16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No claims beyond the data</a:t>
                      </a:r>
                      <a:endParaRPr lang="en-US" sz="16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Draws implications, with caveats</a:t>
                      </a:r>
                      <a:endParaRPr lang="en-US" sz="16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Organised by variable/theme/hypothesis</a:t>
                      </a:r>
                      <a:endParaRPr lang="en-US" sz="16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Organised by argument, revisiting objectives</a:t>
                      </a:r>
                      <a:endParaRPr lang="en-US" sz="16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777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6FF92-DCFD-0E9E-68FE-85A772B89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365E8-24B6-44E8-18B4-A84B69CD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050" y="221438"/>
            <a:ext cx="7852200" cy="861000"/>
          </a:xfrm>
        </p:spPr>
        <p:txBody>
          <a:bodyPr/>
          <a:lstStyle/>
          <a:p>
            <a:r>
              <a:rPr lang="en-GB" dirty="0"/>
              <a:t>Argument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A8FDE-8CA1-0430-9D5C-A3E647BB6674}"/>
              </a:ext>
            </a:extLst>
          </p:cNvPr>
          <p:cNvSpPr txBox="1"/>
          <p:nvPr/>
        </p:nvSpPr>
        <p:spPr>
          <a:xfrm>
            <a:off x="798852" y="1463801"/>
            <a:ext cx="70886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Oswald" panose="00000500000000000000" pitchFamily="2" charset="0"/>
              </a:rPr>
              <a:t>Arguments are claims backed by reasons that are supported by evidence</a:t>
            </a:r>
            <a:endParaRPr lang="en-KE" sz="3200" dirty="0">
              <a:solidFill>
                <a:schemeClr val="accent5">
                  <a:lumMod val="60000"/>
                  <a:lumOff val="40000"/>
                </a:schemeClr>
              </a:solidFill>
              <a:latin typeface="Oswald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364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2E4B84-4E0E-627C-51A7-0BB5C610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B25CA-A865-12A2-A4B2-BB9BDF952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450" y="122400"/>
            <a:ext cx="7688950" cy="583200"/>
          </a:xfrm>
        </p:spPr>
        <p:txBody>
          <a:bodyPr/>
          <a:lstStyle/>
          <a:p>
            <a:r>
              <a:rPr lang="en-GB" sz="3200" dirty="0"/>
              <a:t>Writing the discussion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69D2C-5380-A5BD-C013-4439F12FF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13" y="1031169"/>
            <a:ext cx="4099388" cy="342676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B144199-06CD-6394-DAC6-5B2498276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800" y="1432448"/>
            <a:ext cx="3604740" cy="193652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One typical model is </a:t>
            </a:r>
            <a:r>
              <a:rPr lang="en-US" dirty="0">
                <a:solidFill>
                  <a:srgbClr val="C00000"/>
                </a:solidFill>
              </a:rPr>
              <a:t>5-step Move model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from Swales &amp; Feak's (2012)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sym typeface="Wingdings" panose="05000000000000000000" pitchFamily="2" charset="2"/>
              </a:rPr>
              <a:t>  Get a copy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sym typeface="Wingdings" panose="05000000000000000000" pitchFamily="2" charset="2"/>
              </a:rPr>
              <a:t>, page 368</a:t>
            </a:r>
            <a:endParaRPr lang="en-GB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388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9FC48-77F0-1514-F76B-A6342D094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18A3-EB2C-D0C8-BB51-CC762F130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450" y="122400"/>
            <a:ext cx="7688950" cy="583200"/>
          </a:xfrm>
        </p:spPr>
        <p:txBody>
          <a:bodyPr/>
          <a:lstStyle/>
          <a:p>
            <a:r>
              <a:rPr lang="en-GB" sz="2400" b="1" dirty="0">
                <a:latin typeface="Poppins" panose="00000500000000000000" pitchFamily="2" charset="0"/>
                <a:cs typeface="Poppins" panose="00000500000000000000" pitchFamily="2" charset="0"/>
              </a:rPr>
              <a:t>Sample 5-Step Move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1A127C-F820-54FA-A259-FBD3F47D3A90}"/>
              </a:ext>
            </a:extLst>
          </p:cNvPr>
          <p:cNvSpPr txBox="1"/>
          <p:nvPr/>
        </p:nvSpPr>
        <p:spPr>
          <a:xfrm>
            <a:off x="871851" y="799032"/>
            <a:ext cx="8041749" cy="375487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n-K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1 – Background:</a:t>
            </a:r>
            <a:r>
              <a:rPr lang="en-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K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set out to quantify how a new drought-tolerant maize variety performs relative to the local check variety under farmer-managed conditions, given limited independent field-scale evidence.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None/>
            </a:pPr>
            <a:endParaRPr lang="en-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None/>
            </a:pPr>
            <a:r>
              <a:rPr lang="en-K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2 – Summarizing key results:</a:t>
            </a:r>
            <a:r>
              <a:rPr lang="en-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K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all three trial sites, the drought-tolerant variety showed significantly lower yield loss under moderate-to-severe drought stress than the local check.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None/>
            </a:pPr>
            <a:endParaRPr lang="en-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None/>
            </a:pPr>
            <a:r>
              <a:rPr lang="en-K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3 – Commenting on key results:</a:t>
            </a:r>
            <a:r>
              <a:rPr lang="en-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K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effect size is practically meaningful for smallholder food security and is consistent with variety trials reported elsewhere in the region; the smaller effect observed at one site is likely explained by its shallower soil depth, which limited moisture retention for both varieties.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None/>
            </a:pPr>
            <a:endParaRPr lang="en-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None/>
            </a:pPr>
            <a:r>
              <a:rPr lang="en-K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4 – Summarizing the study / limitations:</a:t>
            </a:r>
            <a:r>
              <a:rPr lang="en-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K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findings are based on a single growing season across three sites, which limits how confidently the results can be generalized across seasons or </a:t>
            </a:r>
            <a:r>
              <a:rPr lang="en-KE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agro</a:t>
            </a:r>
            <a:r>
              <a:rPr lang="en-K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-ecological zones.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None/>
            </a:pPr>
            <a:endParaRPr lang="en-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None/>
            </a:pPr>
            <a:r>
              <a:rPr lang="en-K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5 – Recommendations:</a:t>
            </a:r>
            <a:r>
              <a:rPr lang="en-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K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Multi-season replication is recommended before any variety-replacement programme is scaled to farmers more broadly.</a:t>
            </a:r>
            <a:endParaRPr lang="en-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249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BF27D-9398-688A-11EE-D2D9790E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B215-0D1D-E760-4B21-28E792E30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300" y="2057438"/>
            <a:ext cx="7852200" cy="861000"/>
          </a:xfrm>
        </p:spPr>
        <p:txBody>
          <a:bodyPr/>
          <a:lstStyle/>
          <a:p>
            <a:r>
              <a:rPr lang="en-GB" dirty="0"/>
              <a:t>Discuss more examples from participants</a:t>
            </a:r>
          </a:p>
        </p:txBody>
      </p:sp>
    </p:spTree>
    <p:extLst>
      <p:ext uri="{BB962C8B-B14F-4D97-AF65-F5344CB8AC3E}">
        <p14:creationId xmlns:p14="http://schemas.microsoft.com/office/powerpoint/2010/main" val="1663973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615D1F-8670-A48A-8E5E-2029DE795BEE}"/>
              </a:ext>
            </a:extLst>
          </p:cNvPr>
          <p:cNvSpPr txBox="1"/>
          <p:nvPr/>
        </p:nvSpPr>
        <p:spPr>
          <a:xfrm>
            <a:off x="1270800" y="691157"/>
            <a:ext cx="725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2060"/>
                </a:solidFill>
                <a:latin typeface="Oswald" panose="00000500000000000000" pitchFamily="2" charset="0"/>
              </a:rPr>
              <a:t>Reporting, Summarizing, </a:t>
            </a:r>
            <a:r>
              <a:rPr lang="en-GB" sz="2000" b="1" dirty="0">
                <a:solidFill>
                  <a:srgbClr val="C00000"/>
                </a:solidFill>
                <a:latin typeface="Oswald" panose="00000500000000000000" pitchFamily="2" charset="0"/>
              </a:rPr>
              <a:t>Commenting</a:t>
            </a:r>
            <a:endParaRPr lang="en-KE" sz="2000" dirty="0">
              <a:solidFill>
                <a:srgbClr val="C00000"/>
              </a:solidFill>
              <a:latin typeface="Oswald" panose="00000500000000000000" pitchFamily="2" charset="0"/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C52E75E9-A771-D053-A638-C70E9125731B}"/>
              </a:ext>
            </a:extLst>
          </p:cNvPr>
          <p:cNvSpPr/>
          <p:nvPr/>
        </p:nvSpPr>
        <p:spPr>
          <a:xfrm>
            <a:off x="548640" y="1355760"/>
            <a:ext cx="1644945" cy="892800"/>
          </a:xfrm>
          <a:prstGeom prst="roundRect">
            <a:avLst>
              <a:gd name="adj" fmla="val 7692"/>
            </a:avLst>
          </a:prstGeom>
          <a:solidFill>
            <a:srgbClr val="1F4E79"/>
          </a:solidFill>
          <a:ln/>
        </p:spPr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E7BC5645-7822-CBD8-5EC4-CE10C1E5165B}"/>
              </a:ext>
            </a:extLst>
          </p:cNvPr>
          <p:cNvSpPr/>
          <p:nvPr/>
        </p:nvSpPr>
        <p:spPr>
          <a:xfrm>
            <a:off x="548640" y="1355760"/>
            <a:ext cx="1644945" cy="89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Reporting</a:t>
            </a:r>
            <a:endParaRPr lang="en-US" sz="15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56A57463-A549-7133-A338-5EBE96422428}"/>
              </a:ext>
            </a:extLst>
          </p:cNvPr>
          <p:cNvSpPr/>
          <p:nvPr/>
        </p:nvSpPr>
        <p:spPr>
          <a:xfrm>
            <a:off x="2432160" y="1355760"/>
            <a:ext cx="5883840" cy="892800"/>
          </a:xfrm>
          <a:prstGeom prst="roundRect">
            <a:avLst>
              <a:gd name="adj" fmla="val 7692"/>
            </a:avLst>
          </a:prstGeom>
          <a:solidFill>
            <a:srgbClr val="EEF1F4"/>
          </a:solidFill>
          <a:ln/>
        </p:spPr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FE4425FF-EE06-CA9B-50B8-B5BBDAD8C5C3}"/>
              </a:ext>
            </a:extLst>
          </p:cNvPr>
          <p:cNvSpPr/>
          <p:nvPr/>
        </p:nvSpPr>
        <p:spPr>
          <a:xfrm>
            <a:off x="2660760" y="1355760"/>
            <a:ext cx="5567505" cy="89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32B32"/>
                </a:solidFill>
              </a:rPr>
              <a:t>"Yield loss under drought stress was 18% lower for the new variety (95% CI: 12–24%)."</a:t>
            </a:r>
            <a:endParaRPr lang="en-US" sz="1250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C8D5B51E-8196-9758-F7E5-9BAAB2547449}"/>
              </a:ext>
            </a:extLst>
          </p:cNvPr>
          <p:cNvSpPr/>
          <p:nvPr/>
        </p:nvSpPr>
        <p:spPr>
          <a:xfrm>
            <a:off x="548640" y="2319480"/>
            <a:ext cx="1644945" cy="892800"/>
          </a:xfrm>
          <a:prstGeom prst="roundRect">
            <a:avLst>
              <a:gd name="adj" fmla="val 7692"/>
            </a:avLst>
          </a:prstGeom>
          <a:solidFill>
            <a:srgbClr val="1F4E79"/>
          </a:solidFill>
          <a:ln/>
        </p:spPr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7350CD78-E358-6166-3726-053550C2677F}"/>
              </a:ext>
            </a:extLst>
          </p:cNvPr>
          <p:cNvSpPr/>
          <p:nvPr/>
        </p:nvSpPr>
        <p:spPr>
          <a:xfrm>
            <a:off x="548640" y="2319480"/>
            <a:ext cx="1644945" cy="89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Summarizing</a:t>
            </a:r>
            <a:endParaRPr lang="en-US" sz="1500" dirty="0"/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7C83CA5D-A955-DF8D-970C-AF9ACEF195BF}"/>
              </a:ext>
            </a:extLst>
          </p:cNvPr>
          <p:cNvSpPr/>
          <p:nvPr/>
        </p:nvSpPr>
        <p:spPr>
          <a:xfrm>
            <a:off x="2432160" y="2319480"/>
            <a:ext cx="5883840" cy="892800"/>
          </a:xfrm>
          <a:prstGeom prst="roundRect">
            <a:avLst>
              <a:gd name="adj" fmla="val 7692"/>
            </a:avLst>
          </a:prstGeom>
          <a:solidFill>
            <a:srgbClr val="EEF1F4"/>
          </a:solidFill>
          <a:ln/>
        </p:spPr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4CEBA930-1935-3AD3-F617-13E75274A9AA}"/>
              </a:ext>
            </a:extLst>
          </p:cNvPr>
          <p:cNvSpPr/>
          <p:nvPr/>
        </p:nvSpPr>
        <p:spPr>
          <a:xfrm>
            <a:off x="2660760" y="2319480"/>
            <a:ext cx="5567505" cy="89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32B32"/>
                </a:solidFill>
              </a:rPr>
              <a:t>"Across all three sites, the new variety consistently outperformed the local check under drought stress."</a:t>
            </a:r>
            <a:endParaRPr lang="en-US" sz="1250" dirty="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E874C363-E912-FB31-354F-990370A9C6A3}"/>
              </a:ext>
            </a:extLst>
          </p:cNvPr>
          <p:cNvSpPr/>
          <p:nvPr/>
        </p:nvSpPr>
        <p:spPr>
          <a:xfrm>
            <a:off x="548640" y="3297600"/>
            <a:ext cx="1644945" cy="892800"/>
          </a:xfrm>
          <a:prstGeom prst="roundRect">
            <a:avLst>
              <a:gd name="adj" fmla="val 7692"/>
            </a:avLst>
          </a:prstGeom>
          <a:solidFill>
            <a:srgbClr val="1F4E79"/>
          </a:solidFill>
          <a:ln/>
        </p:spPr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DB2AD5FD-831C-7DF0-B357-4C3A9ECE7D72}"/>
              </a:ext>
            </a:extLst>
          </p:cNvPr>
          <p:cNvSpPr/>
          <p:nvPr/>
        </p:nvSpPr>
        <p:spPr>
          <a:xfrm>
            <a:off x="548640" y="3297600"/>
            <a:ext cx="1644945" cy="89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Commenting</a:t>
            </a:r>
            <a:endParaRPr lang="en-US" sz="150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FB7C6DA4-807B-D9F7-980C-0DD9EB0A396E}"/>
              </a:ext>
            </a:extLst>
          </p:cNvPr>
          <p:cNvSpPr/>
          <p:nvPr/>
        </p:nvSpPr>
        <p:spPr>
          <a:xfrm>
            <a:off x="2432160" y="3290400"/>
            <a:ext cx="5883840" cy="892800"/>
          </a:xfrm>
          <a:prstGeom prst="roundRect">
            <a:avLst>
              <a:gd name="adj" fmla="val 7692"/>
            </a:avLst>
          </a:prstGeom>
          <a:solidFill>
            <a:srgbClr val="EEF1F4"/>
          </a:solidFill>
          <a:ln/>
        </p:spPr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1AF634FF-D93F-322D-3686-833BE6F67D35}"/>
              </a:ext>
            </a:extLst>
          </p:cNvPr>
          <p:cNvSpPr/>
          <p:nvPr/>
        </p:nvSpPr>
        <p:spPr>
          <a:xfrm>
            <a:off x="2660760" y="3290400"/>
            <a:ext cx="5567505" cy="89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B32"/>
                </a:solidFill>
              </a:rPr>
              <a:t>Interpreting, comparing to literature, accounting for anomalies, evaluating strength/importance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85650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32A9A-E1EF-1844-4C99-53479FD86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AA7F558-37B3-0016-17F6-326690C08CDB}"/>
              </a:ext>
            </a:extLst>
          </p:cNvPr>
          <p:cNvSpPr txBox="1"/>
          <p:nvPr/>
        </p:nvSpPr>
        <p:spPr>
          <a:xfrm>
            <a:off x="1270800" y="691157"/>
            <a:ext cx="725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  <a:latin typeface="Oswald" panose="00000500000000000000" pitchFamily="2" charset="0"/>
              </a:rPr>
              <a:t>Commenting</a:t>
            </a:r>
            <a:r>
              <a:rPr lang="en-GB" sz="2000" b="1" dirty="0">
                <a:solidFill>
                  <a:srgbClr val="002060"/>
                </a:solidFill>
                <a:latin typeface="Oswald" panose="00000500000000000000" pitchFamily="2" charset="0"/>
              </a:rPr>
              <a:t> on Results</a:t>
            </a:r>
            <a:endParaRPr lang="en-KE" sz="2000" dirty="0">
              <a:solidFill>
                <a:srgbClr val="002060"/>
              </a:solidFill>
              <a:latin typeface="Oswald" panose="00000500000000000000" pitchFamily="2" charset="0"/>
            </a:endParaRP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068131E0-62FB-447F-00FB-BFCB3D88E3EF}"/>
              </a:ext>
            </a:extLst>
          </p:cNvPr>
          <p:cNvSpPr/>
          <p:nvPr/>
        </p:nvSpPr>
        <p:spPr>
          <a:xfrm>
            <a:off x="548640" y="1302840"/>
            <a:ext cx="3619060" cy="1435614"/>
          </a:xfrm>
          <a:prstGeom prst="roundRect">
            <a:avLst>
              <a:gd name="adj" fmla="val 4762"/>
            </a:avLst>
          </a:prstGeom>
          <a:solidFill>
            <a:srgbClr val="EEF1F4"/>
          </a:solidFill>
          <a:ln/>
        </p:spPr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DEF44C98-A64F-D094-EB97-0AA3F954FCA3}"/>
              </a:ext>
            </a:extLst>
          </p:cNvPr>
          <p:cNvSpPr/>
          <p:nvPr/>
        </p:nvSpPr>
        <p:spPr>
          <a:xfrm>
            <a:off x="548640" y="1302840"/>
            <a:ext cx="3619060" cy="87470"/>
          </a:xfrm>
          <a:prstGeom prst="rect">
            <a:avLst/>
          </a:prstGeom>
          <a:solidFill>
            <a:srgbClr val="4F86C6"/>
          </a:solidFill>
          <a:ln/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E538C775-3531-5981-7D32-6CD2E25F0FBD}"/>
              </a:ext>
            </a:extLst>
          </p:cNvPr>
          <p:cNvSpPr/>
          <p:nvPr/>
        </p:nvSpPr>
        <p:spPr>
          <a:xfrm>
            <a:off x="777240" y="1485720"/>
            <a:ext cx="3312360" cy="420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Poppins" panose="00000500000000000000" pitchFamily="2" charset="0"/>
                <a:ea typeface="Cambria" pitchFamily="34" charset="-122"/>
                <a:cs typeface="Poppins" panose="00000500000000000000" pitchFamily="2" charset="0"/>
              </a:rPr>
              <a:t>Interpreting</a:t>
            </a:r>
            <a:endParaRPr lang="en-US" sz="1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09BB661-8F39-B0E1-12C5-124FE2A6D46A}"/>
              </a:ext>
            </a:extLst>
          </p:cNvPr>
          <p:cNvSpPr/>
          <p:nvPr/>
        </p:nvSpPr>
        <p:spPr>
          <a:xfrm>
            <a:off x="777240" y="1924632"/>
            <a:ext cx="3312360" cy="293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B3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Explaining what a result means in plain terms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D39D0DD-BDE3-0DDC-3D3A-0842CC7884CC}"/>
              </a:ext>
            </a:extLst>
          </p:cNvPr>
          <p:cNvSpPr/>
          <p:nvPr/>
        </p:nvSpPr>
        <p:spPr>
          <a:xfrm>
            <a:off x="777240" y="2290207"/>
            <a:ext cx="3312360" cy="293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67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"This suggests that..."</a:t>
            </a:r>
            <a:endParaRPr lang="en-US" sz="11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5A85EEA-5A15-4BB7-30E6-C1D4C9E930C6}"/>
              </a:ext>
            </a:extLst>
          </p:cNvPr>
          <p:cNvSpPr/>
          <p:nvPr/>
        </p:nvSpPr>
        <p:spPr>
          <a:xfrm>
            <a:off x="4777920" y="1338716"/>
            <a:ext cx="3746880" cy="1435614"/>
          </a:xfrm>
          <a:prstGeom prst="roundRect">
            <a:avLst>
              <a:gd name="adj" fmla="val 4762"/>
            </a:avLst>
          </a:prstGeom>
          <a:solidFill>
            <a:srgbClr val="EEF1F4"/>
          </a:solidFill>
          <a:ln/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2F6812D5-2DEC-D2E5-ACA9-0F03DBC44A34}"/>
              </a:ext>
            </a:extLst>
          </p:cNvPr>
          <p:cNvSpPr/>
          <p:nvPr/>
        </p:nvSpPr>
        <p:spPr>
          <a:xfrm>
            <a:off x="4777920" y="1338716"/>
            <a:ext cx="3746880" cy="63927"/>
          </a:xfrm>
          <a:prstGeom prst="rect">
            <a:avLst/>
          </a:prstGeom>
          <a:solidFill>
            <a:srgbClr val="4F86C6"/>
          </a:solidFill>
          <a:ln/>
        </p:spPr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426ABFE6-2A6B-D2C5-B911-4436A4CC10EE}"/>
              </a:ext>
            </a:extLst>
          </p:cNvPr>
          <p:cNvSpPr/>
          <p:nvPr/>
        </p:nvSpPr>
        <p:spPr>
          <a:xfrm>
            <a:off x="5006520" y="1521596"/>
            <a:ext cx="3429347" cy="307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Poppins" panose="00000500000000000000" pitchFamily="2" charset="0"/>
                <a:ea typeface="Cambria" pitchFamily="34" charset="-122"/>
                <a:cs typeface="Poppins" panose="00000500000000000000" pitchFamily="2" charset="0"/>
              </a:rPr>
              <a:t>Comparing</a:t>
            </a:r>
            <a:endParaRPr lang="en-US" sz="1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E0414F20-9487-92BE-F2CC-6B2D6575EB34}"/>
              </a:ext>
            </a:extLst>
          </p:cNvPr>
          <p:cNvSpPr/>
          <p:nvPr/>
        </p:nvSpPr>
        <p:spPr>
          <a:xfrm>
            <a:off x="5006519" y="1905264"/>
            <a:ext cx="3429347" cy="410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B3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Situating the finding against prior studies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2B80A5AE-F25B-5696-B1FC-A7FB4C6323CA}"/>
              </a:ext>
            </a:extLst>
          </p:cNvPr>
          <p:cNvSpPr/>
          <p:nvPr/>
        </p:nvSpPr>
        <p:spPr>
          <a:xfrm>
            <a:off x="5006519" y="2188387"/>
            <a:ext cx="3429347" cy="410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67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"This finding is consistent with..."</a:t>
            </a:r>
            <a:endParaRPr lang="en-US" sz="11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FEC77511-2019-0279-B03A-F12134872101}"/>
              </a:ext>
            </a:extLst>
          </p:cNvPr>
          <p:cNvSpPr/>
          <p:nvPr/>
        </p:nvSpPr>
        <p:spPr>
          <a:xfrm>
            <a:off x="548640" y="2904308"/>
            <a:ext cx="3619060" cy="1416796"/>
          </a:xfrm>
          <a:prstGeom prst="roundRect">
            <a:avLst>
              <a:gd name="adj" fmla="val 4762"/>
            </a:avLst>
          </a:prstGeom>
          <a:solidFill>
            <a:srgbClr val="EEF1F4"/>
          </a:solidFill>
          <a:ln/>
        </p:spPr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130172D8-C99C-5DA0-2503-9FCEB3621314}"/>
              </a:ext>
            </a:extLst>
          </p:cNvPr>
          <p:cNvSpPr/>
          <p:nvPr/>
        </p:nvSpPr>
        <p:spPr>
          <a:xfrm>
            <a:off x="548640" y="2904308"/>
            <a:ext cx="3619060" cy="68933"/>
          </a:xfrm>
          <a:prstGeom prst="rect">
            <a:avLst/>
          </a:prstGeom>
          <a:solidFill>
            <a:srgbClr val="4F86C6"/>
          </a:solidFill>
          <a:ln/>
        </p:spPr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2377D903-F609-6595-683B-39C3AD41D764}"/>
              </a:ext>
            </a:extLst>
          </p:cNvPr>
          <p:cNvSpPr/>
          <p:nvPr/>
        </p:nvSpPr>
        <p:spPr>
          <a:xfrm>
            <a:off x="777240" y="3087188"/>
            <a:ext cx="3312360" cy="331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Poppins" panose="00000500000000000000" pitchFamily="2" charset="0"/>
                <a:ea typeface="Cambria" pitchFamily="34" charset="-122"/>
                <a:cs typeface="Poppins" panose="00000500000000000000" pitchFamily="2" charset="0"/>
              </a:rPr>
              <a:t>Accounting For</a:t>
            </a:r>
            <a:endParaRPr lang="en-US" sz="1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CE6BB9D7-6CDD-B104-4503-EFFC367FAF8D}"/>
              </a:ext>
            </a:extLst>
          </p:cNvPr>
          <p:cNvSpPr/>
          <p:nvPr/>
        </p:nvSpPr>
        <p:spPr>
          <a:xfrm>
            <a:off x="777240" y="3453842"/>
            <a:ext cx="3312360" cy="44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B3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plausible explanation for an unexpected result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9A198BB7-6A80-DB23-EF8A-E659FEC78F62}"/>
              </a:ext>
            </a:extLst>
          </p:cNvPr>
          <p:cNvSpPr/>
          <p:nvPr/>
        </p:nvSpPr>
        <p:spPr>
          <a:xfrm>
            <a:off x="777240" y="3845872"/>
            <a:ext cx="3312360" cy="44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67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"One possible explanation is..."</a:t>
            </a:r>
            <a:endParaRPr lang="en-US" sz="11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AB533416-7336-2F1C-CE17-BB6804C72065}"/>
              </a:ext>
            </a:extLst>
          </p:cNvPr>
          <p:cNvSpPr/>
          <p:nvPr/>
        </p:nvSpPr>
        <p:spPr>
          <a:xfrm>
            <a:off x="4777920" y="2927522"/>
            <a:ext cx="3746878" cy="1416796"/>
          </a:xfrm>
          <a:prstGeom prst="roundRect">
            <a:avLst>
              <a:gd name="adj" fmla="val 4762"/>
            </a:avLst>
          </a:prstGeom>
          <a:solidFill>
            <a:srgbClr val="EEF1F4"/>
          </a:solidFill>
          <a:ln/>
        </p:spPr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C4AB44AD-A167-50AC-295B-51A295E3C25A}"/>
              </a:ext>
            </a:extLst>
          </p:cNvPr>
          <p:cNvSpPr/>
          <p:nvPr/>
        </p:nvSpPr>
        <p:spPr>
          <a:xfrm>
            <a:off x="4777920" y="2927522"/>
            <a:ext cx="3746878" cy="67373"/>
          </a:xfrm>
          <a:prstGeom prst="rect">
            <a:avLst/>
          </a:prstGeom>
          <a:solidFill>
            <a:srgbClr val="4F86C6"/>
          </a:solidFill>
          <a:ln/>
        </p:spPr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AB19C812-95BD-DDBF-3F4B-443E1BAFB0CE}"/>
              </a:ext>
            </a:extLst>
          </p:cNvPr>
          <p:cNvSpPr/>
          <p:nvPr/>
        </p:nvSpPr>
        <p:spPr>
          <a:xfrm>
            <a:off x="5006520" y="3110402"/>
            <a:ext cx="3429346" cy="324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Poppins" panose="00000500000000000000" pitchFamily="2" charset="0"/>
                <a:ea typeface="Cambria" pitchFamily="34" charset="-122"/>
                <a:cs typeface="Poppins" panose="00000500000000000000" pitchFamily="2" charset="0"/>
              </a:rPr>
              <a:t>Evaluating</a:t>
            </a:r>
            <a:endParaRPr lang="en-US" sz="1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389ACB61-BA27-2AEE-26F0-6CF09294AB3B}"/>
              </a:ext>
            </a:extLst>
          </p:cNvPr>
          <p:cNvSpPr/>
          <p:nvPr/>
        </p:nvSpPr>
        <p:spPr>
          <a:xfrm>
            <a:off x="5006520" y="3434615"/>
            <a:ext cx="3429346" cy="432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B3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Judging the strength or importance of a finding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DBD0E6CB-43A0-2459-F7C2-BD45B4704B62}"/>
              </a:ext>
            </a:extLst>
          </p:cNvPr>
          <p:cNvSpPr/>
          <p:nvPr/>
        </p:nvSpPr>
        <p:spPr>
          <a:xfrm>
            <a:off x="5006520" y="3860956"/>
            <a:ext cx="3429346" cy="432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67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"This effect, while significant, was modest..."</a:t>
            </a:r>
            <a:endParaRPr lang="en-US" sz="11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558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233D4-430C-5038-BA7C-0178D0B6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F17D13-08B9-14A2-0F33-9F4EF2FE7407}"/>
              </a:ext>
            </a:extLst>
          </p:cNvPr>
          <p:cNvSpPr txBox="1"/>
          <p:nvPr/>
        </p:nvSpPr>
        <p:spPr>
          <a:xfrm>
            <a:off x="1270800" y="691157"/>
            <a:ext cx="725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2060"/>
                </a:solidFill>
                <a:latin typeface="Oswald" panose="00000500000000000000" pitchFamily="2" charset="0"/>
              </a:rPr>
              <a:t>Linking Discussion to Objectives</a:t>
            </a:r>
            <a:endParaRPr lang="en-KE" sz="2000" dirty="0">
              <a:solidFill>
                <a:srgbClr val="002060"/>
              </a:solidFill>
              <a:latin typeface="Oswald" panose="00000500000000000000" pitchFamily="2" charset="0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3CB19889-C0CF-4C9A-1F76-EE88FDF4B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575006"/>
              </p:ext>
            </p:extLst>
          </p:nvPr>
        </p:nvGraphicFramePr>
        <p:xfrm>
          <a:off x="1022400" y="2698638"/>
          <a:ext cx="7099200" cy="1504080"/>
        </p:xfrm>
        <a:graphic>
          <a:graphicData uri="http://schemas.openxmlformats.org/drawingml/2006/table">
            <a:tbl>
              <a:tblPr/>
              <a:tblGrid>
                <a:gridCol w="234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6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5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Objective / Question / Hypothesis</a:t>
                      </a:r>
                      <a:endParaRPr lang="en-US" sz="13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What Results Showed</a:t>
                      </a:r>
                      <a:endParaRPr lang="en-US" sz="13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Discussion Point to Make</a:t>
                      </a:r>
                      <a:endParaRPr lang="en-US" sz="13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(as stated in Introduction)</a:t>
                      </a:r>
                      <a:endParaRPr lang="en-US" sz="12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(the specific finding)</a:t>
                      </a:r>
                      <a:endParaRPr lang="en-US" sz="12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(interpretation, comparison, implication)</a:t>
                      </a:r>
                      <a:endParaRPr lang="en-US" sz="12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5C9926D-C7A0-2AEF-8798-DF8BD2219422}"/>
              </a:ext>
            </a:extLst>
          </p:cNvPr>
          <p:cNvSpPr txBox="1"/>
          <p:nvPr/>
        </p:nvSpPr>
        <p:spPr>
          <a:xfrm>
            <a:off x="878400" y="1275312"/>
            <a:ext cx="709919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Build one row per objective/question/hypothesis, trace the result and the discussion point</a:t>
            </a:r>
          </a:p>
          <a:p>
            <a:endParaRPr lang="en-US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Anything in the Discussion that can't be traced to a row is either </a:t>
            </a:r>
            <a:r>
              <a:rPr lang="en-US" dirty="0">
                <a:solidFill>
                  <a:srgbClr val="C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scope creep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or </a:t>
            </a:r>
            <a:r>
              <a:rPr lang="en-US" dirty="0">
                <a:solidFill>
                  <a:srgbClr val="C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unlabeled exploratory material</a:t>
            </a:r>
            <a:endParaRPr lang="en-KE" dirty="0">
              <a:solidFill>
                <a:srgbClr val="C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327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7D923-D04E-2E29-BE05-D3E9B676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F7FE4B-AD85-3702-29BB-1FD90C3FA632}"/>
              </a:ext>
            </a:extLst>
          </p:cNvPr>
          <p:cNvSpPr txBox="1"/>
          <p:nvPr/>
        </p:nvSpPr>
        <p:spPr>
          <a:xfrm>
            <a:off x="1270800" y="691157"/>
            <a:ext cx="725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2060"/>
                </a:solidFill>
                <a:latin typeface="Oswald" panose="00000500000000000000" pitchFamily="2" charset="0"/>
              </a:rPr>
              <a:t>Example from quantitative data</a:t>
            </a:r>
            <a:endParaRPr lang="en-KE" sz="2000" dirty="0">
              <a:solidFill>
                <a:srgbClr val="002060"/>
              </a:solidFill>
              <a:latin typeface="Oswald" panose="00000500000000000000" pitchFamily="2" charset="0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062E9FAE-C077-34DB-CBBB-32E7FBA5B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235248"/>
              </p:ext>
            </p:extLst>
          </p:nvPr>
        </p:nvGraphicFramePr>
        <p:xfrm>
          <a:off x="619200" y="1091267"/>
          <a:ext cx="7581600" cy="3467520"/>
        </p:xfrm>
        <a:graphic>
          <a:graphicData uri="http://schemas.openxmlformats.org/drawingml/2006/table">
            <a:tbl>
              <a:tblPr/>
              <a:tblGrid>
                <a:gridCol w="1503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7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Discussion Element</a:t>
                      </a:r>
                      <a:endParaRPr lang="en-US" sz="14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Content</a:t>
                      </a:r>
                      <a:endParaRPr lang="en-US" sz="14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Background</a:t>
                      </a:r>
                      <a:endParaRPr lang="en-US" sz="1400" b="1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Restate the objective</a:t>
                      </a:r>
                      <a:r>
                        <a:rPr lang="en-US" sz="1400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: quantifying yield difference under drought stress</a:t>
                      </a:r>
                      <a:endParaRPr lang="en-US" sz="14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Reporting/ Summarizing</a:t>
                      </a:r>
                      <a:endParaRPr lang="en-US" sz="1400" b="1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New variety showed significantly lower yield loss across all three sites</a:t>
                      </a:r>
                      <a:endParaRPr lang="en-US" sz="14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Commenting</a:t>
                      </a:r>
                      <a:endParaRPr lang="en-US" sz="1400" b="1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Interpret effect as practically meaningful; </a:t>
                      </a:r>
                      <a:r>
                        <a:rPr lang="en-US" sz="1400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compares with prior trials; accounts for the weaker site due to shallower soil</a:t>
                      </a:r>
                      <a:endParaRPr lang="en-US" sz="14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Evaluating the study</a:t>
                      </a:r>
                      <a:endParaRPr lang="en-US" sz="1400" b="1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One growing season in three sites — limits generalisability</a:t>
                      </a:r>
                      <a:endParaRPr lang="en-US" sz="14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Deductions</a:t>
                      </a:r>
                      <a:endParaRPr lang="en-US" sz="1400" b="1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Recommends multi-season replication before scaling — answers the objective</a:t>
                      </a:r>
                      <a:endParaRPr lang="en-US" sz="14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190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EB75D-118C-8C7C-D8BF-8AD74C74C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C2DEB-3935-8811-C725-D37D4EEC2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1025912"/>
            <a:ext cx="7314550" cy="1025912"/>
          </a:xfrm>
        </p:spPr>
        <p:txBody>
          <a:bodyPr/>
          <a:lstStyle/>
          <a:p>
            <a:r>
              <a:rPr lang="en-GB" sz="3600" dirty="0"/>
              <a:t>Handling unexpected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F933C-AE91-77FB-F1D0-263BC1C6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2">
                  <a:lumMod val="50000"/>
                </a:schemeClr>
              </a:buClr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State the unexpected result plainly before attempting to explain it</a:t>
            </a:r>
          </a:p>
          <a:p>
            <a:pPr>
              <a:buClr>
                <a:schemeClr val="bg2">
                  <a:lumMod val="50000"/>
                </a:schemeClr>
              </a:buClr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Offer a plausible account</a:t>
            </a:r>
          </a:p>
          <a:p>
            <a:pPr>
              <a:buClr>
                <a:schemeClr val="bg2">
                  <a:lumMod val="50000"/>
                </a:schemeClr>
              </a:buClr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Distinguish a null result (no detectable effect) from a disproved hypothesis</a:t>
            </a:r>
          </a:p>
          <a:p>
            <a:pPr>
              <a:buClr>
                <a:schemeClr val="bg2">
                  <a:lumMod val="50000"/>
                </a:schemeClr>
              </a:buClr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Do not reinterpreting the objective so that null result looks plausible</a:t>
            </a:r>
          </a:p>
        </p:txBody>
      </p:sp>
    </p:spTree>
    <p:extLst>
      <p:ext uri="{BB962C8B-B14F-4D97-AF65-F5344CB8AC3E}">
        <p14:creationId xmlns:p14="http://schemas.microsoft.com/office/powerpoint/2010/main" val="3067441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AFA5E4-EDB7-AC0D-E1A2-A49E5EF0F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99" y="931721"/>
            <a:ext cx="3579571" cy="572700"/>
          </a:xfrm>
        </p:spPr>
        <p:txBody>
          <a:bodyPr/>
          <a:lstStyle/>
          <a:p>
            <a:r>
              <a:rPr lang="en-US" sz="1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Implications/Recommendations</a:t>
            </a:r>
            <a:endParaRPr lang="en-KE" sz="18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7C1A0-7E10-A000-3E2E-C968CBE4C86B}"/>
              </a:ext>
            </a:extLst>
          </p:cNvPr>
          <p:cNvSpPr txBox="1"/>
          <p:nvPr/>
        </p:nvSpPr>
        <p:spPr>
          <a:xfrm>
            <a:off x="501445" y="1680400"/>
            <a:ext cx="36502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  <a:latin typeface="Oswald" panose="00000500000000000000" pitchFamily="2" charset="0"/>
              </a:rPr>
              <a:t>Practical implications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Oswald" panose="00000500000000000000" pitchFamily="2" charset="0"/>
              </a:rPr>
              <a:t>— </a:t>
            </a:r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Oswald" panose="00000500000000000000" pitchFamily="2" charset="0"/>
              </a:rPr>
              <a:t>what practitioners/policymakers might do differently</a:t>
            </a:r>
          </a:p>
          <a:p>
            <a:pPr marL="285750" indent="-285750"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2">
                  <a:lumMod val="90000"/>
                </a:schemeClr>
              </a:solidFill>
              <a:latin typeface="Oswald" panose="00000500000000000000" pitchFamily="2" charset="0"/>
            </a:endParaRPr>
          </a:p>
          <a:p>
            <a:pPr marL="285750" indent="-285750"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Oswald" panose="00000500000000000000" pitchFamily="2" charset="0"/>
              </a:rPr>
              <a:t>Research implications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Oswald" panose="00000500000000000000" pitchFamily="2" charset="0"/>
              </a:rPr>
              <a:t>— </a:t>
            </a:r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Oswald" panose="00000500000000000000" pitchFamily="2" charset="0"/>
              </a:rPr>
              <a:t>what the field should study next</a:t>
            </a:r>
          </a:p>
          <a:p>
            <a:pPr marL="285750" indent="-285750"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2">
                  <a:lumMod val="90000"/>
                </a:schemeClr>
              </a:solidFill>
              <a:latin typeface="Oswald" panose="00000500000000000000" pitchFamily="2" charset="0"/>
            </a:endParaRPr>
          </a:p>
          <a:p>
            <a:pPr marL="285750" indent="-285750"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  <a:latin typeface="Oswald" panose="00000500000000000000" pitchFamily="2" charset="0"/>
              </a:rPr>
              <a:t>Recommendations</a:t>
            </a:r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Oswald" panose="00000500000000000000" pitchFamily="2" charset="0"/>
              </a:rPr>
              <a:t> should be proportionate to the evidence (replicate ≠ scale nationally)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6D14B0-3A9B-8E83-166A-42F8DF1CCFF4}"/>
              </a:ext>
            </a:extLst>
          </p:cNvPr>
          <p:cNvSpPr txBox="1"/>
          <p:nvPr/>
        </p:nvSpPr>
        <p:spPr>
          <a:xfrm>
            <a:off x="4858006" y="1504421"/>
            <a:ext cx="3997993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Oswald" panose="00000500000000000000" pitchFamily="2" charset="0"/>
              </a:rPr>
              <a:t>Re-presenting full results tables instead of interpreting them</a:t>
            </a:r>
          </a:p>
          <a:p>
            <a:pPr marL="285750" indent="-285750">
              <a:spcAft>
                <a:spcPts val="600"/>
              </a:spcAft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  <a:latin typeface="Oswald" panose="00000500000000000000" pitchFamily="2" charset="0"/>
              </a:rPr>
              <a:t>Introducing new data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Oswald" panose="00000500000000000000" pitchFamily="2" charset="0"/>
              </a:rPr>
              <a:t>or citations without framing them as new context</a:t>
            </a:r>
          </a:p>
          <a:p>
            <a:pPr marL="285750" indent="-285750">
              <a:spcAft>
                <a:spcPts val="600"/>
              </a:spcAft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Oswald" panose="00000500000000000000" pitchFamily="2" charset="0"/>
              </a:rPr>
              <a:t>Discussing findings out of order from how objectives were introduced</a:t>
            </a:r>
          </a:p>
          <a:p>
            <a:pPr marL="285750" indent="-285750">
              <a:spcAft>
                <a:spcPts val="600"/>
              </a:spcAft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Oswald" panose="00000500000000000000" pitchFamily="2" charset="0"/>
              </a:rPr>
              <a:t>Claiming an objective was met when results only partially support it</a:t>
            </a:r>
          </a:p>
          <a:p>
            <a:pPr marL="285750" indent="-285750">
              <a:spcAft>
                <a:spcPts val="600"/>
              </a:spcAft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Oswald" panose="00000500000000000000" pitchFamily="2" charset="0"/>
              </a:rPr>
              <a:t>Generic limitations ("more research is needed") that specify nothing</a:t>
            </a:r>
          </a:p>
          <a:p>
            <a:pPr marL="285750" indent="-285750">
              <a:spcAft>
                <a:spcPts val="600"/>
              </a:spcAft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Oswald" panose="00000500000000000000" pitchFamily="2" charset="0"/>
              </a:rPr>
              <a:t>Never explicitly stating whether each objective was answered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9CF983FD-4D9E-9767-EEC0-33A9A3D2A227}"/>
              </a:ext>
            </a:extLst>
          </p:cNvPr>
          <p:cNvSpPr txBox="1">
            <a:spLocks/>
          </p:cNvSpPr>
          <p:nvPr/>
        </p:nvSpPr>
        <p:spPr>
          <a:xfrm>
            <a:off x="4802428" y="931721"/>
            <a:ext cx="311745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1800" b="1" dirty="0">
                <a:solidFill>
                  <a:srgbClr val="FFFF00"/>
                </a:solidFill>
              </a:rPr>
              <a:t>Common errors</a:t>
            </a:r>
            <a:endParaRPr lang="en-KE" sz="1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994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D170D-858D-E165-3B9F-5FE1F0F58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98E3FE-E64C-91C1-F3C2-6F1E40A3C674}"/>
              </a:ext>
            </a:extLst>
          </p:cNvPr>
          <p:cNvSpPr txBox="1"/>
          <p:nvPr/>
        </p:nvSpPr>
        <p:spPr>
          <a:xfrm>
            <a:off x="1270800" y="691157"/>
            <a:ext cx="725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2060"/>
                </a:solidFill>
                <a:latin typeface="Oswald" panose="00000500000000000000" pitchFamily="2" charset="0"/>
              </a:rPr>
              <a:t>Assignment</a:t>
            </a:r>
            <a:endParaRPr lang="en-KE" sz="2000" dirty="0">
              <a:solidFill>
                <a:srgbClr val="002060"/>
              </a:solidFill>
              <a:latin typeface="Oswald" panose="00000500000000000000" pitchFamily="2" charset="0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E6EE2D14-2F8E-B877-55B2-8F1F9E777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582002"/>
              </p:ext>
            </p:extLst>
          </p:nvPr>
        </p:nvGraphicFramePr>
        <p:xfrm>
          <a:off x="1022400" y="2198021"/>
          <a:ext cx="7099200" cy="1504080"/>
        </p:xfrm>
        <a:graphic>
          <a:graphicData uri="http://schemas.openxmlformats.org/drawingml/2006/table">
            <a:tbl>
              <a:tblPr/>
              <a:tblGrid>
                <a:gridCol w="234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6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5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Objective / Question / Hypothesis</a:t>
                      </a:r>
                      <a:endParaRPr lang="en-US" sz="13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What Results Showed</a:t>
                      </a:r>
                      <a:endParaRPr lang="en-US" sz="13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Discussion Point to Make</a:t>
                      </a:r>
                      <a:endParaRPr lang="en-US" sz="13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(as stated in Introduction)</a:t>
                      </a:r>
                      <a:endParaRPr lang="en-US" sz="12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(the specific finding)</a:t>
                      </a:r>
                      <a:endParaRPr lang="en-US" sz="12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232B32"/>
                          </a:solidFill>
                          <a:latin typeface="Poppins" panose="00000500000000000000" pitchFamily="2" charset="0"/>
                          <a:ea typeface="Calibri" pitchFamily="34" charset="-122"/>
                          <a:cs typeface="Poppins" panose="00000500000000000000" pitchFamily="2" charset="0"/>
                        </a:rPr>
                        <a:t>(interpretation, comparison, implication)</a:t>
                      </a:r>
                      <a:endParaRPr lang="en-US" sz="1200" dirty="0">
                        <a:latin typeface="Poppins" panose="00000500000000000000" pitchFamily="2" charset="0"/>
                        <a:ea typeface="Calibri" charset="0"/>
                        <a:cs typeface="Poppins" panose="00000500000000000000" pitchFamily="2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09F7833-3B05-BAE5-CE0F-644B80E53D2F}"/>
              </a:ext>
            </a:extLst>
          </p:cNvPr>
          <p:cNvSpPr txBox="1"/>
          <p:nvPr/>
        </p:nvSpPr>
        <p:spPr>
          <a:xfrm>
            <a:off x="878400" y="1275312"/>
            <a:ext cx="70991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Using your own study or a sample published work, trace the results and discussion points from the objectives. Write a paragraph of one discussion point using the 5-Step Move model</a:t>
            </a:r>
            <a:endParaRPr lang="en-KE" dirty="0">
              <a:solidFill>
                <a:srgbClr val="C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790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>
            <a:spLocks noGrp="1"/>
          </p:cNvSpPr>
          <p:nvPr>
            <p:ph type="title"/>
          </p:nvPr>
        </p:nvSpPr>
        <p:spPr>
          <a:xfrm>
            <a:off x="64590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Questions and discussions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073A35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IN PPT Template" id="{53380C18-BCFF-204B-8B61-35E0BC1D6498}" vid="{889FEF5D-2F43-1249-83CE-7023C32503F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4010</TotalTime>
  <Words>862</Words>
  <Application>Microsoft Office PowerPoint</Application>
  <PresentationFormat>On-screen Show (16:9)</PresentationFormat>
  <Paragraphs>117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Oswald</vt:lpstr>
      <vt:lpstr>Wingdings</vt:lpstr>
      <vt:lpstr>Rubik</vt:lpstr>
      <vt:lpstr>Average</vt:lpstr>
      <vt:lpstr>Poppins</vt:lpstr>
      <vt:lpstr>Arial</vt:lpstr>
      <vt:lpstr>Times New Roman</vt:lpstr>
      <vt:lpstr>Slate</vt:lpstr>
      <vt:lpstr>From Results to Discussion and back to Objectives</vt:lpstr>
      <vt:lpstr>Outline</vt:lpstr>
      <vt:lpstr>Recap on IMRAD method</vt:lpstr>
      <vt:lpstr>Discussion</vt:lpstr>
      <vt:lpstr>Research Workflow</vt:lpstr>
      <vt:lpstr>Results Discussion (what changes?) </vt:lpstr>
      <vt:lpstr>Argument</vt:lpstr>
      <vt:lpstr>Writing the discussion</vt:lpstr>
      <vt:lpstr>Sample 5-Step Move Model</vt:lpstr>
      <vt:lpstr>Discuss more examples from participants</vt:lpstr>
      <vt:lpstr>PowerPoint Presentation</vt:lpstr>
      <vt:lpstr>PowerPoint Presentation</vt:lpstr>
      <vt:lpstr>PowerPoint Presentation</vt:lpstr>
      <vt:lpstr>PowerPoint Presentation</vt:lpstr>
      <vt:lpstr>Handling unexpected results</vt:lpstr>
      <vt:lpstr>Implications/Recommendations</vt:lpstr>
      <vt:lpstr>PowerPoint Presentation</vt:lpstr>
      <vt:lpstr>Questions and discussions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Masila</dc:creator>
  <cp:lastModifiedBy>FO</cp:lastModifiedBy>
  <cp:revision>8</cp:revision>
  <dcterms:created xsi:type="dcterms:W3CDTF">2026-07-06T08:09:00Z</dcterms:created>
  <dcterms:modified xsi:type="dcterms:W3CDTF">2026-07-29T11:29:46Z</dcterms:modified>
</cp:coreProperties>
</file>