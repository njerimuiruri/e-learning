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ANIMATED BOOK TRAILER — one slide, ~74 seconds.
The whole sequence plays automatically when the slide opens in Slide Show mode (press F5 / Slide Show &gt; From Current Slide). If it waits, press the space bar once to start it.
TO ADD YOUR BACKGROUND MUSIC:
1. Insert &gt; Audio &gt; Audio on My PC, and pick your track.
2. Select the speaker icon, then Playback tab &gt; Start: Automatically, tick 'Play Across Slides', 'Loop until Stopped' and 'Hide During Show'.
3. Playback tab &gt; Fade In 1s, Fade Out 3s for a clean finish. Trim the track to about 74 seconds so it lands with the closing frame.
Timings live in Animations &gt; Animation Pane if you want to speed up or slow down any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/>
          <p:nvPr/>
        </p:nvSpPr>
        <p:spPr>
          <a:xfrm>
            <a:off x="777240" y="61996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60" kern="0" dirty="0">
                <a:solidFill>
                  <a:srgbClr val="E3B04B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ARIN PRESS   ·   BOOK LAUNCH WEBINAR</a:t>
            </a:r>
            <a:endParaRPr lang="en-US" sz="1100" dirty="0"/>
          </a:p>
        </p:txBody>
      </p:sp>
      <p:sp>
        <p:nvSpPr>
          <p:cNvPr id="3" name="hook"/>
          <p:cNvSpPr/>
          <p:nvPr/>
        </p:nvSpPr>
        <p:spPr>
          <a:xfrm>
            <a:off x="1097280" y="2331720"/>
            <a:ext cx="9966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600" i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knowledge counts?</a:t>
            </a:r>
            <a:endParaRPr lang="en-US" sz="4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600" i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who decides?</a:t>
            </a:r>
            <a:endParaRPr lang="en-US" sz="4600" dirty="0"/>
          </a:p>
        </p:txBody>
      </p:sp>
      <p:pic>
        <p:nvPicPr>
          <p:cNvPr id="4" name="cov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2606040" cy="3822192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</p:pic>
      <p:sp>
        <p:nvSpPr>
          <p:cNvPr id="5" name="ttl1"/>
          <p:cNvSpPr/>
          <p:nvPr/>
        </p:nvSpPr>
        <p:spPr>
          <a:xfrm>
            <a:off x="4160520" y="1298448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RECLAIMING</a:t>
            </a:r>
            <a:endParaRPr lang="en-US" sz="5400" dirty="0"/>
          </a:p>
        </p:txBody>
      </p:sp>
      <p:sp>
        <p:nvSpPr>
          <p:cNvPr id="6" name="ttl2"/>
          <p:cNvSpPr/>
          <p:nvPr/>
        </p:nvSpPr>
        <p:spPr>
          <a:xfrm>
            <a:off x="4160520" y="2084832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5400" dirty="0"/>
          </a:p>
        </p:txBody>
      </p:sp>
      <p:sp>
        <p:nvSpPr>
          <p:cNvPr id="7" name="ttl3"/>
          <p:cNvSpPr/>
          <p:nvPr/>
        </p:nvSpPr>
        <p:spPr>
          <a:xfrm>
            <a:off x="4160520" y="3035808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Decolonial Methodologies from the Global South</a:t>
            </a:r>
            <a:endParaRPr lang="en-US" sz="2200" dirty="0"/>
          </a:p>
        </p:txBody>
      </p:sp>
      <p:sp>
        <p:nvSpPr>
          <p:cNvPr id="8" name="ttl4"/>
          <p:cNvSpPr/>
          <p:nvPr/>
        </p:nvSpPr>
        <p:spPr>
          <a:xfrm>
            <a:off x="4160520" y="3749040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spc="160" kern="0" dirty="0">
                <a:solidFill>
                  <a:srgbClr val="BC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BY JOANES ATELA · FLORENCE ONYANGO · HUMPHREY AGEVI · JOEL ONYANGO</a:t>
            </a:r>
            <a:endParaRPr lang="en-US" sz="1200" dirty="0"/>
          </a:p>
        </p:txBody>
      </p:sp>
      <p:sp>
        <p:nvSpPr>
          <p:cNvPr id="9" name="arg1"/>
          <p:cNvSpPr/>
          <p:nvPr/>
        </p:nvSpPr>
        <p:spPr>
          <a:xfrm>
            <a:off x="4160520" y="1325880"/>
            <a:ext cx="7269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D98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Centring African and Global South perspectives in how research is designed, conducted and owned.</a:t>
            </a:r>
            <a:endParaRPr lang="en-US" sz="1900" dirty="0"/>
          </a:p>
        </p:txBody>
      </p:sp>
      <p:sp>
        <p:nvSpPr>
          <p:cNvPr id="10" name="arg2"/>
          <p:cNvSpPr/>
          <p:nvPr/>
        </p:nvSpPr>
        <p:spPr>
          <a:xfrm>
            <a:off x="4160520" y="2514600"/>
            <a:ext cx="7269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D98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Indigenous knowledge systems and lived experience as legitimate knowledge in their own right.</a:t>
            </a:r>
            <a:endParaRPr lang="en-US" sz="1900" dirty="0"/>
          </a:p>
        </p:txBody>
      </p:sp>
      <p:sp>
        <p:nvSpPr>
          <p:cNvPr id="11" name="arg3"/>
          <p:cNvSpPr/>
          <p:nvPr/>
        </p:nvSpPr>
        <p:spPr>
          <a:xfrm>
            <a:off x="4160520" y="3703320"/>
            <a:ext cx="7269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D98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research, publishing and policy that answer to the communities they claim to serve.</a:t>
            </a:r>
            <a:endParaRPr lang="en-US" sz="1900" dirty="0"/>
          </a:p>
        </p:txBody>
      </p:sp>
      <p:sp>
        <p:nvSpPr>
          <p:cNvPr id="12" name="fword"/>
          <p:cNvSpPr/>
          <p:nvPr/>
        </p:nvSpPr>
        <p:spPr>
          <a:xfrm>
            <a:off x="4160520" y="1965960"/>
            <a:ext cx="7269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spc="30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FOREWORD BY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Wanjiku Kabira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BC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Nairobi, Kenya</a:t>
            </a:r>
            <a:endParaRPr lang="en-US" sz="1300" dirty="0"/>
          </a:p>
        </p:txBody>
      </p:sp>
      <p:sp>
        <p:nvSpPr>
          <p:cNvPr id="13" name="vhdr"/>
          <p:cNvSpPr/>
          <p:nvPr/>
        </p:nvSpPr>
        <p:spPr>
          <a:xfrm>
            <a:off x="1051560" y="621792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Voices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spc="220" kern="0" dirty="0">
                <a:solidFill>
                  <a:srgbClr val="BC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AUTHORS AND EDITORS  ·  ONE ARGUMENT FOR RESEARCH ON OUR OWN TERMS</a:t>
            </a:r>
            <a:endParaRPr lang="en-US" sz="4000" dirty="0"/>
          </a:p>
        </p:txBody>
      </p:sp>
      <p:sp>
        <p:nvSpPr>
          <p:cNvPr id="14" name="card1"/>
          <p:cNvSpPr/>
          <p:nvPr/>
        </p:nvSpPr>
        <p:spPr>
          <a:xfrm>
            <a:off x="1051560" y="1920240"/>
            <a:ext cx="10058400" cy="3154680"/>
          </a:xfrm>
          <a:prstGeom prst="roundRect">
            <a:avLst>
              <a:gd name="adj" fmla="val 2899"/>
            </a:avLst>
          </a:prstGeom>
          <a:solidFill>
            <a:srgbClr val="F5EFE6">
              <a:alpha val="7000"/>
            </a:srgbClr>
          </a:solidFill>
          <a:ln w="12700">
            <a:solidFill>
              <a:srgbClr val="E3B04B">
                <a:alpha val="45000"/>
              </a:srgbClr>
            </a:solidFill>
          </a:ln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279400" tIns="381000" rIns="381000" bIns="27940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Ali Adan Ali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spc="24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AUTHOR   ·   CHAPTER 1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as an African philosophical framework — and what centring Ubuntu and other African knowledge systems could mean for Africa's development journey.</a:t>
            </a:r>
            <a:endParaRPr lang="en-US" sz="3200" dirty="0"/>
          </a:p>
        </p:txBody>
      </p:sp>
      <p:sp>
        <p:nvSpPr>
          <p:cNvPr id="15" name="card2"/>
          <p:cNvSpPr/>
          <p:nvPr/>
        </p:nvSpPr>
        <p:spPr>
          <a:xfrm>
            <a:off x="1051560" y="1920240"/>
            <a:ext cx="10058400" cy="3154680"/>
          </a:xfrm>
          <a:prstGeom prst="roundRect">
            <a:avLst>
              <a:gd name="adj" fmla="val 2899"/>
            </a:avLst>
          </a:prstGeom>
          <a:solidFill>
            <a:srgbClr val="F5EFE6">
              <a:alpha val="7000"/>
            </a:srgbClr>
          </a:solidFill>
          <a:ln w="12700">
            <a:solidFill>
              <a:srgbClr val="E3B04B">
                <a:alpha val="45000"/>
              </a:srgbClr>
            </a:solidFill>
          </a:ln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279400" tIns="381000" rIns="381000" bIns="27940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Adriana Moreno-Cely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spc="24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AUTHOR   ·   CHAPTER 2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Vivencias as a method for valuing lived experience, memory and collective action as knowledge in their own right — drawing on work with Indigenous and local communities in Abya-Yala.</a:t>
            </a:r>
            <a:endParaRPr lang="en-US" sz="3200" dirty="0"/>
          </a:p>
        </p:txBody>
      </p:sp>
      <p:sp>
        <p:nvSpPr>
          <p:cNvPr id="16" name="card3"/>
          <p:cNvSpPr/>
          <p:nvPr/>
        </p:nvSpPr>
        <p:spPr>
          <a:xfrm>
            <a:off x="1051560" y="1920240"/>
            <a:ext cx="10058400" cy="3154680"/>
          </a:xfrm>
          <a:prstGeom prst="roundRect">
            <a:avLst>
              <a:gd name="adj" fmla="val 2899"/>
            </a:avLst>
          </a:prstGeom>
          <a:solidFill>
            <a:srgbClr val="F5EFE6">
              <a:alpha val="7000"/>
            </a:srgbClr>
          </a:solidFill>
          <a:ln w="12700">
            <a:solidFill>
              <a:srgbClr val="E3B04B">
                <a:alpha val="45000"/>
              </a:srgbClr>
            </a:solidFill>
          </a:ln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279400" tIns="381000" rIns="381000" bIns="27940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Luana Xavier Pinto Coelho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spc="24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AUTHOR   ·   CHAPTER 5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urban planning research can be reframed around who conducts it, how, what and when — and what changes when researchers examine their own positionality and power.</a:t>
            </a:r>
            <a:endParaRPr lang="en-US" sz="3200" dirty="0"/>
          </a:p>
        </p:txBody>
      </p:sp>
      <p:sp>
        <p:nvSpPr>
          <p:cNvPr id="17" name="card4"/>
          <p:cNvSpPr/>
          <p:nvPr/>
        </p:nvSpPr>
        <p:spPr>
          <a:xfrm>
            <a:off x="1051560" y="1920240"/>
            <a:ext cx="10058400" cy="3154680"/>
          </a:xfrm>
          <a:prstGeom prst="roundRect">
            <a:avLst>
              <a:gd name="adj" fmla="val 2899"/>
            </a:avLst>
          </a:prstGeom>
          <a:solidFill>
            <a:srgbClr val="F5EFE6">
              <a:alpha val="7000"/>
            </a:srgbClr>
          </a:solidFill>
          <a:ln w="12700">
            <a:solidFill>
              <a:srgbClr val="E3B04B">
                <a:alpha val="45000"/>
              </a:srgbClr>
            </a:solidFill>
          </a:ln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279400" tIns="381000" rIns="381000" bIns="27940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 Senior Yeboah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spc="24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AUTHOR   ·   CHAPTER 6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genuinely embed Indigenous African knowledge systems in the design, conduct and use of research — well beyond simply acknowledging them.</a:t>
            </a:r>
            <a:endParaRPr lang="en-US" sz="3200" dirty="0"/>
          </a:p>
        </p:txBody>
      </p:sp>
      <p:sp>
        <p:nvSpPr>
          <p:cNvPr id="18" name="card5"/>
          <p:cNvSpPr/>
          <p:nvPr/>
        </p:nvSpPr>
        <p:spPr>
          <a:xfrm>
            <a:off x="1051560" y="1920240"/>
            <a:ext cx="10058400" cy="3154680"/>
          </a:xfrm>
          <a:prstGeom prst="roundRect">
            <a:avLst>
              <a:gd name="adj" fmla="val 2899"/>
            </a:avLst>
          </a:prstGeom>
          <a:solidFill>
            <a:srgbClr val="F5EFE6">
              <a:alpha val="7000"/>
            </a:srgbClr>
          </a:solidFill>
          <a:ln w="12700">
            <a:solidFill>
              <a:srgbClr val="E3B04B">
                <a:alpha val="45000"/>
              </a:srgbClr>
            </a:solidFill>
          </a:ln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279400" tIns="381000" rIns="381000" bIns="27940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Joanes Atela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spc="24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EDITOR   ·   EXECUTIVE DIRECTOR, ARIN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behind Reclaiming Knowledge, and its implications for ARIN's broader commitment to African-led research and knowledge production.</a:t>
            </a:r>
            <a:endParaRPr lang="en-US" sz="3200" dirty="0"/>
          </a:p>
        </p:txBody>
      </p:sp>
      <p:sp>
        <p:nvSpPr>
          <p:cNvPr id="19" name="card6"/>
          <p:cNvSpPr/>
          <p:nvPr/>
        </p:nvSpPr>
        <p:spPr>
          <a:xfrm>
            <a:off x="1051560" y="1920240"/>
            <a:ext cx="10058400" cy="3154680"/>
          </a:xfrm>
          <a:prstGeom prst="roundRect">
            <a:avLst>
              <a:gd name="adj" fmla="val 2899"/>
            </a:avLst>
          </a:prstGeom>
          <a:solidFill>
            <a:srgbClr val="F5EFE6">
              <a:alpha val="7000"/>
            </a:srgbClr>
          </a:solidFill>
          <a:ln w="12700">
            <a:solidFill>
              <a:srgbClr val="E3B04B">
                <a:alpha val="45000"/>
              </a:srgbClr>
            </a:solidFill>
          </a:ln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279400" tIns="381000" rIns="381000" bIns="27940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Florence Onyango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spc="24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editorial journey of the book — from writing the preface through to full manuscript editing — and what it took to bring these diverse voices together.</a:t>
            </a:r>
            <a:endParaRPr lang="en-US" sz="3200" dirty="0"/>
          </a:p>
        </p:txBody>
      </p:sp>
      <p:sp>
        <p:nvSpPr>
          <p:cNvPr id="20" name="card7"/>
          <p:cNvSpPr/>
          <p:nvPr/>
        </p:nvSpPr>
        <p:spPr>
          <a:xfrm>
            <a:off x="1051560" y="1920240"/>
            <a:ext cx="10058400" cy="3154680"/>
          </a:xfrm>
          <a:prstGeom prst="roundRect">
            <a:avLst>
              <a:gd name="adj" fmla="val 2899"/>
            </a:avLst>
          </a:prstGeom>
          <a:solidFill>
            <a:srgbClr val="F5EFE6">
              <a:alpha val="7000"/>
            </a:srgbClr>
          </a:solidFill>
          <a:ln w="12700">
            <a:solidFill>
              <a:srgbClr val="E3B04B">
                <a:alpha val="45000"/>
              </a:srgbClr>
            </a:solidFill>
          </a:ln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279400" tIns="381000" rIns="381000" bIns="27940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Humphrey Agevi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spc="24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Africa and the Global South need stronger platforms to produce and publish their own knowledge — drawing on his role in bringing the book to ARIN Press, and his work at the intersection of climate change, health and community resilience.</a:t>
            </a:r>
            <a:endParaRPr lang="en-US" sz="3200" dirty="0"/>
          </a:p>
        </p:txBody>
      </p:sp>
      <p:sp>
        <p:nvSpPr>
          <p:cNvPr id="21" name="card8"/>
          <p:cNvSpPr/>
          <p:nvPr/>
        </p:nvSpPr>
        <p:spPr>
          <a:xfrm>
            <a:off x="1051560" y="1920240"/>
            <a:ext cx="10058400" cy="3154680"/>
          </a:xfrm>
          <a:prstGeom prst="roundRect">
            <a:avLst>
              <a:gd name="adj" fmla="val 2899"/>
            </a:avLst>
          </a:prstGeom>
          <a:solidFill>
            <a:srgbClr val="F5EFE6">
              <a:alpha val="7000"/>
            </a:srgbClr>
          </a:solidFill>
          <a:ln w="12700">
            <a:solidFill>
              <a:srgbClr val="E3B04B">
                <a:alpha val="45000"/>
              </a:srgbClr>
            </a:solidFill>
          </a:ln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  <p:txBody>
          <a:bodyPr wrap="square" lIns="279400" tIns="381000" rIns="381000" bIns="27940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Joel Onyango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spc="24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3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change in how research is produced and translated into policy so that African and Global South knowledge can carry greater influence and impact — drawing on his work at the African Centre for Technology Studies.</a:t>
            </a:r>
            <a:endParaRPr lang="en-US" sz="3200" dirty="0"/>
          </a:p>
        </p:txBody>
      </p:sp>
      <p:sp>
        <p:nvSpPr>
          <p:cNvPr id="22" name="cls1"/>
          <p:cNvSpPr/>
          <p:nvPr/>
        </p:nvSpPr>
        <p:spPr>
          <a:xfrm>
            <a:off x="914400" y="1874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RECLAIMING KNOWLEDGE</a:t>
            </a:r>
            <a:endParaRPr lang="en-US" sz="5000" dirty="0"/>
          </a:p>
        </p:txBody>
      </p:sp>
      <p:sp>
        <p:nvSpPr>
          <p:cNvPr id="23" name="cls2"/>
          <p:cNvSpPr/>
          <p:nvPr/>
        </p:nvSpPr>
        <p:spPr>
          <a:xfrm>
            <a:off x="914400" y="2999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Decolonial Methodologies from the Global South</a:t>
            </a:r>
            <a:endParaRPr lang="en-US" sz="2300" dirty="0"/>
          </a:p>
        </p:txBody>
      </p:sp>
      <p:sp>
        <p:nvSpPr>
          <p:cNvPr id="24" name="cls3"/>
          <p:cNvSpPr/>
          <p:nvPr/>
        </p:nvSpPr>
        <p:spPr>
          <a:xfrm>
            <a:off x="914400" y="38404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spc="300" kern="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NOW FROM ARIN PRESS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us at the launch webinar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4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4" fill="hold" grpId="0" nodeType="withEffect">
                                  <p:stCondLst>
                                    <p:cond delay="6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1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1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1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1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15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17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2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2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2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2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2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8" fill="hold" grpId="0" nodeType="withEffect">
                                  <p:stCondLst>
                                    <p:cond delay="27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8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28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xit" presetSubtype="8" fill="hold" grpId="0" nodeType="withEffect">
                                  <p:stCondLst>
                                    <p:cond delay="3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34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xit" presetSubtype="8" fill="hold" grpId="0" nodeType="withEffect">
                                  <p:stCondLst>
                                    <p:cond delay="38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39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xit" presetSubtype="8" fill="hold" grpId="0" nodeType="withEffect">
                                  <p:stCondLst>
                                    <p:cond delay="4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45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xit" presetSubtype="8" fill="hold" grpId="0" nodeType="withEffect">
                                  <p:stCondLst>
                                    <p:cond delay="49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grpId="0" nodeType="withEffect">
                                  <p:stCondLst>
                                    <p:cond delay="504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xit" presetSubtype="8" fill="hold" grpId="0" nodeType="withEffect">
                                  <p:stCondLst>
                                    <p:cond delay="5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" presetClass="entr" presetSubtype="2" fill="hold" grpId="0" nodeType="withEffect">
                                  <p:stCondLst>
                                    <p:cond delay="558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xit" presetSubtype="8" fill="hold" grpId="0" nodeType="withEffect">
                                  <p:stCondLst>
                                    <p:cond delay="60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ntr" presetSubtype="2" fill="hold" grpId="0" nodeType="withEffect">
                                  <p:stCondLst>
                                    <p:cond delay="61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xit" presetSubtype="8" fill="hold" grpId="0" nodeType="withEffect">
                                  <p:stCondLst>
                                    <p:cond delay="65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" presetClass="entr" presetSubtype="2" fill="hold" grpId="0" nodeType="withEffect">
                                  <p:stCondLst>
                                    <p:cond delay="66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xit" presetSubtype="8" fill="hold" grpId="0" nodeType="withEffect">
                                  <p:stCondLst>
                                    <p:cond delay="7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42" presetClass="entr" presetSubtype="4" fill="hold" grpId="0" nodeType="withEffect">
                                  <p:stCondLst>
                                    <p:cond delay="722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729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73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Reclaiming Knowledge — Book Trailer</dc:title>
  <dc:subject>PptxGenJS Presentation</dc:subject>
  <dc:creator>ARIN Press</dc:creator>
  <cp:lastModifiedBy>ARIN Press</cp:lastModifiedBy>
  <cp:revision>1</cp:revision>
  <dcterms:created xsi:type="dcterms:W3CDTF">2026-07-31T08:19:17Z</dcterms:created>
  <dcterms:modified xsi:type="dcterms:W3CDTF">2026-07-31T08:19:17Z</dcterms:modified>
</cp:coreProperties>
</file>