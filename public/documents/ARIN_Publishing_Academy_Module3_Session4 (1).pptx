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6"/>
  </p:notesMasterIdLst>
  <p:sldIdLst>
    <p:sldId id="256" r:id="rId2"/>
    <p:sldId id="285" r:id="rId3"/>
    <p:sldId id="339" r:id="rId4"/>
    <p:sldId id="340" r:id="rId5"/>
    <p:sldId id="331" r:id="rId6"/>
    <p:sldId id="341" r:id="rId7"/>
    <p:sldId id="342" r:id="rId8"/>
    <p:sldId id="343" r:id="rId9"/>
    <p:sldId id="344" r:id="rId10"/>
    <p:sldId id="289" r:id="rId11"/>
    <p:sldId id="319" r:id="rId12"/>
    <p:sldId id="327" r:id="rId13"/>
    <p:sldId id="338" r:id="rId14"/>
    <p:sldId id="282" r:id="rId15"/>
  </p:sldIdLst>
  <p:sldSz cx="9144000" cy="5143500" type="screen16x9"/>
  <p:notesSz cx="6858000" cy="9144000"/>
  <p:embeddedFontLst>
    <p:embeddedFont>
      <p:font typeface="Average" panose="020B0604020202020204" charset="0"/>
      <p:regular r:id="rId17"/>
    </p:embeddedFont>
    <p:embeddedFont>
      <p:font typeface="Oswald" panose="00000500000000000000" pitchFamily="2" charset="0"/>
      <p:regular r:id="rId18"/>
      <p:bold r:id="rId19"/>
    </p:embeddedFont>
    <p:embeddedFont>
      <p:font typeface="Poppins" panose="00000500000000000000" pitchFamily="2" charset="0"/>
      <p:regular r:id="rId20"/>
      <p:bold r:id="rId21"/>
      <p:italic r:id="rId22"/>
      <p:boldItalic r:id="rId23"/>
    </p:embeddedFont>
    <p:embeddedFont>
      <p:font typeface="Rubik" panose="020B0604020202020204" charset="-79"/>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a:srgbClr val="021C49"/>
    <a:srgbClr val="30B6E0"/>
    <a:srgbClr val="BDE9FF"/>
    <a:srgbClr val="00FFFF"/>
    <a:srgbClr val="FF7C80"/>
    <a:srgbClr val="99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7D09B5E-6C5B-4721-BDBA-B05FA65F1475}">
  <a:tblStyle styleId="{77D09B5E-6C5B-4721-BDBA-B05FA65F1475}" styleName="Table_0">
    <a:wholeTbl>
      <a:tcTxStyle>
        <a:font>
          <a:latin typeface="Arial"/>
          <a:ea typeface="Arial"/>
          <a:cs typeface="Arial"/>
        </a:font>
        <a:srgbClr val="000000"/>
      </a:tcTxStyle>
      <a:tcStyle>
        <a:tcBdr>
          <a:left>
            <a:ln w="6350" cap="flat" cmpd="sng">
              <a:solidFill>
                <a:srgbClr val="000000"/>
              </a:solidFill>
              <a:prstDash val="solid"/>
              <a:round/>
              <a:headEnd type="none" w="sm" len="sm"/>
              <a:tailEnd type="none" w="sm" len="sm"/>
            </a:ln>
          </a:left>
          <a:right>
            <a:ln w="6350" cap="flat" cmpd="sng">
              <a:solidFill>
                <a:srgbClr val="000000"/>
              </a:solidFill>
              <a:prstDash val="solid"/>
              <a:round/>
              <a:headEnd type="none" w="sm" len="sm"/>
              <a:tailEnd type="none" w="sm" len="sm"/>
            </a:ln>
          </a:right>
          <a:top>
            <a:ln w="6350" cap="flat" cmpd="sng">
              <a:solidFill>
                <a:srgbClr val="000000"/>
              </a:solidFill>
              <a:prstDash val="solid"/>
              <a:round/>
              <a:headEnd type="none" w="sm" len="sm"/>
              <a:tailEnd type="none" w="sm" len="sm"/>
            </a:ln>
          </a:top>
          <a:bottom>
            <a:ln w="6350" cap="flat" cmpd="sng">
              <a:solidFill>
                <a:srgbClr val="000000"/>
              </a:solidFill>
              <a:prstDash val="solid"/>
              <a:round/>
              <a:headEnd type="none" w="sm" len="sm"/>
              <a:tailEnd type="none" w="sm" len="sm"/>
            </a:ln>
          </a:bottom>
          <a:insideH>
            <a:ln w="6350" cap="flat" cmpd="sng">
              <a:solidFill>
                <a:srgbClr val="000000"/>
              </a:solidFill>
              <a:prstDash val="solid"/>
              <a:round/>
              <a:headEnd type="none" w="sm" len="sm"/>
              <a:tailEnd type="none" w="sm" len="sm"/>
            </a:ln>
          </a:insideH>
          <a:insideV>
            <a:ln w="6350"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9AB80124-4610-42D2-A984-0F97B37847D4}"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836"/>
    <p:restoredTop sz="94662"/>
  </p:normalViewPr>
  <p:slideViewPr>
    <p:cSldViewPr snapToGrid="0">
      <p:cViewPr varScale="1">
        <p:scale>
          <a:sx n="133" d="100"/>
          <a:sy n="133" d="100"/>
        </p:scale>
        <p:origin x="414" y="150"/>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256868573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c6f980f9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c6f980f9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13fcad37adf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g13fcad37adf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021C49"/>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4799625" y="2915950"/>
              <a:ext cx="207000" cy="20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4137525" y="2915950"/>
              <a:ext cx="207000" cy="20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671258" y="990800"/>
            <a:ext cx="7801500" cy="1730100"/>
          </a:xfrm>
          <a:prstGeom prst="rect">
            <a:avLst/>
          </a:prstGeom>
        </p:spPr>
        <p:txBody>
          <a:bodyPr spcFirstLastPara="1" wrap="square" lIns="91425" tIns="91425" rIns="91425" bIns="91425" anchor="b"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r>
              <a:rPr lang="en-GB"/>
              <a:t>Click to edit Master title style</a:t>
            </a:r>
            <a:endParaRPr/>
          </a:p>
        </p:txBody>
      </p:sp>
      <p:sp>
        <p:nvSpPr>
          <p:cNvPr id="15" name="Google Shape;15;p2"/>
          <p:cNvSpPr txBox="1">
            <a:spLocks noGrp="1"/>
          </p:cNvSpPr>
          <p:nvPr>
            <p:ph type="subTitle" idx="1" hasCustomPrompt="1"/>
          </p:nvPr>
        </p:nvSpPr>
        <p:spPr>
          <a:xfrm>
            <a:off x="671250" y="3174876"/>
            <a:ext cx="78015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atin typeface="Poppins" pitchFamily="2" charset="77"/>
                <a:cs typeface="Poppins" pitchFamily="2" charset="77"/>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r>
              <a:rPr lang="en-US" dirty="0"/>
              <a:t>Insert Text</a:t>
            </a:r>
            <a:endParaRPr dirty="0"/>
          </a:p>
        </p:txBody>
      </p:sp>
      <p:sp>
        <p:nvSpPr>
          <p:cNvPr id="16" name="Google Shape;16;p2"/>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7" name="Google Shape;17;p2"/>
          <p:cNvSpPr/>
          <p:nvPr/>
        </p:nvSpPr>
        <p:spPr>
          <a:xfrm>
            <a:off x="-115950" y="4532650"/>
            <a:ext cx="9375900" cy="513300"/>
          </a:xfrm>
          <a:prstGeom prst="rect">
            <a:avLst/>
          </a:pr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txBox="1"/>
          <p:nvPr/>
        </p:nvSpPr>
        <p:spPr>
          <a:xfrm>
            <a:off x="996750" y="4566100"/>
            <a:ext cx="71505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b="1" dirty="0">
                <a:solidFill>
                  <a:srgbClr val="002060"/>
                </a:solidFill>
                <a:latin typeface="Poppins"/>
                <a:ea typeface="Poppins"/>
                <a:cs typeface="Poppins"/>
                <a:sym typeface="Poppins"/>
              </a:rPr>
              <a:t>arin-africa.org</a:t>
            </a:r>
            <a:endParaRPr b="1" dirty="0">
              <a:solidFill>
                <a:srgbClr val="002060"/>
              </a:solidFill>
              <a:latin typeface="Poppins"/>
              <a:ea typeface="Poppins"/>
              <a:cs typeface="Poppins"/>
              <a:sym typeface="Poppins"/>
            </a:endParaRPr>
          </a:p>
        </p:txBody>
      </p:sp>
      <p:sp>
        <p:nvSpPr>
          <p:cNvPr id="2" name="Google Shape;46;p8">
            <a:extLst>
              <a:ext uri="{FF2B5EF4-FFF2-40B4-BE49-F238E27FC236}">
                <a16:creationId xmlns:a16="http://schemas.microsoft.com/office/drawing/2014/main" id="{D6381813-04E5-7B97-D1A8-6D735EE16DD7}"/>
              </a:ext>
            </a:extLst>
          </p:cNvPr>
          <p:cNvSpPr/>
          <p:nvPr userDrawn="1"/>
        </p:nvSpPr>
        <p:spPr>
          <a:xfrm rot="10800000" flipH="1">
            <a:off x="3818778" y="-106326"/>
            <a:ext cx="1091953" cy="984435"/>
          </a:xfrm>
          <a:prstGeom prst="round2SameRect">
            <a:avLst>
              <a:gd name="adj1" fmla="val 16667"/>
              <a:gd name="adj2" fmla="val 0"/>
            </a:avLst>
          </a:prstGeom>
          <a:solidFill>
            <a:schemeClr val="dk1"/>
          </a:solidFill>
          <a:ln w="9525" cap="flat" cmpd="sng">
            <a:solidFill>
              <a:schemeClr val="dk1"/>
            </a:solidFill>
            <a:prstDash val="solid"/>
            <a:round/>
            <a:headEnd type="none" w="sm" len="sm"/>
            <a:tailEnd type="none" w="sm" len="sm"/>
          </a:ln>
          <a:effectLst>
            <a:outerShdw blurRad="142875" dist="76200" dir="4680000" algn="bl" rotWithShape="0">
              <a:srgbClr val="434343">
                <a:alpha val="43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 name="Google Shape;47;p8">
            <a:extLst>
              <a:ext uri="{FF2B5EF4-FFF2-40B4-BE49-F238E27FC236}">
                <a16:creationId xmlns:a16="http://schemas.microsoft.com/office/drawing/2014/main" id="{472FE6FF-34D3-EDBD-0CF6-1471BE5F5090}"/>
              </a:ext>
            </a:extLst>
          </p:cNvPr>
          <p:cNvPicPr preferRelativeResize="0"/>
          <p:nvPr userDrawn="1"/>
        </p:nvPicPr>
        <p:blipFill>
          <a:blip r:embed="rId2"/>
          <a:srcRect t="20646" b="18790"/>
          <a:stretch/>
        </p:blipFill>
        <p:spPr>
          <a:xfrm>
            <a:off x="3872218" y="68891"/>
            <a:ext cx="956122" cy="58138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userDrawn="1">
  <p:cSld name="SECTION_HEADER">
    <p:bg>
      <p:bgPr>
        <a:solidFill>
          <a:srgbClr val="021C49"/>
        </a:solidFill>
        <a:effectLst/>
      </p:bgPr>
    </p:bg>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671250" y="932126"/>
            <a:ext cx="7852200" cy="8610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r>
              <a:rPr lang="en-GB"/>
              <a:t>Click to edit Master title style</a:t>
            </a:r>
            <a:endParaRPr dirty="0"/>
          </a:p>
        </p:txBody>
      </p:sp>
      <p:sp>
        <p:nvSpPr>
          <p:cNvPr id="21" name="Google Shape;21;p3"/>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2" name="Google Shape;22;p3"/>
          <p:cNvSpPr/>
          <p:nvPr/>
        </p:nvSpPr>
        <p:spPr>
          <a:xfrm>
            <a:off x="-115950" y="4532650"/>
            <a:ext cx="9375900" cy="513300"/>
          </a:xfrm>
          <a:prstGeom prst="rect">
            <a:avLst/>
          </a:pr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txBox="1"/>
          <p:nvPr/>
        </p:nvSpPr>
        <p:spPr>
          <a:xfrm>
            <a:off x="996750" y="4566100"/>
            <a:ext cx="71505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b="1" dirty="0">
                <a:solidFill>
                  <a:srgbClr val="002060"/>
                </a:solidFill>
                <a:latin typeface="Poppins"/>
                <a:ea typeface="Poppins"/>
                <a:cs typeface="Poppins"/>
                <a:sym typeface="Poppins"/>
              </a:rPr>
              <a:t>arin-africa.org</a:t>
            </a:r>
            <a:endParaRPr b="1" dirty="0">
              <a:solidFill>
                <a:srgbClr val="002060"/>
              </a:solidFill>
              <a:latin typeface="Poppins"/>
              <a:ea typeface="Poppins"/>
              <a:cs typeface="Poppins"/>
              <a:sym typeface="Poppins"/>
            </a:endParaRPr>
          </a:p>
        </p:txBody>
      </p:sp>
      <p:sp>
        <p:nvSpPr>
          <p:cNvPr id="7" name="Google Shape;7;p1">
            <a:extLst>
              <a:ext uri="{FF2B5EF4-FFF2-40B4-BE49-F238E27FC236}">
                <a16:creationId xmlns:a16="http://schemas.microsoft.com/office/drawing/2014/main" id="{E777491E-991B-F8D3-0BDF-F945F8C0D261}"/>
              </a:ext>
            </a:extLst>
          </p:cNvPr>
          <p:cNvSpPr txBox="1">
            <a:spLocks noGrp="1"/>
          </p:cNvSpPr>
          <p:nvPr>
            <p:ph idx="1"/>
          </p:nvPr>
        </p:nvSpPr>
        <p:spPr>
          <a:xfrm>
            <a:off x="671250" y="2056976"/>
            <a:ext cx="7852200" cy="2154398"/>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accent3"/>
              </a:buClr>
              <a:buSzPts val="1800"/>
              <a:buFont typeface="Average"/>
              <a:buChar char="●"/>
              <a:defRPr sz="1800">
                <a:solidFill>
                  <a:schemeClr val="accent3"/>
                </a:solidFill>
                <a:latin typeface="Poppins" pitchFamily="2" charset="77"/>
                <a:ea typeface="Poppins" pitchFamily="2" charset="77"/>
                <a:cs typeface="Poppins" pitchFamily="2" charset="77"/>
                <a:sym typeface="Average"/>
              </a:defRPr>
            </a:lvl1pPr>
            <a:lvl2pPr marL="914400" lvl="1"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marL="1371600" lvl="2"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marL="1828800" lvl="3"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marL="2286000" lvl="4"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marL="2743200" lvl="5"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marL="3200400" lvl="6"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marL="3657600" lvl="7"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marL="4114800" lvl="8" indent="-317500">
              <a:lnSpc>
                <a:spcPct val="115000"/>
              </a:lnSpc>
              <a:spcBef>
                <a:spcPts val="1600"/>
              </a:spcBef>
              <a:spcAft>
                <a:spcPts val="1600"/>
              </a:spcAft>
              <a:buClr>
                <a:schemeClr val="accent3"/>
              </a:buClr>
              <a:buSzPts val="1400"/>
              <a:buFont typeface="Average"/>
              <a:buChar char="■"/>
              <a:defRPr>
                <a:solidFill>
                  <a:schemeClr val="accent3"/>
                </a:solidFill>
                <a:latin typeface="Average"/>
                <a:ea typeface="Average"/>
                <a:cs typeface="Average"/>
                <a:sym typeface="Average"/>
              </a:defRPr>
            </a:lvl9pPr>
          </a:lstStyle>
          <a:p>
            <a:pPr lvl="0"/>
            <a:r>
              <a:rPr lang="en-GB"/>
              <a:t>Click to edit Master text styles</a:t>
            </a:r>
          </a:p>
        </p:txBody>
      </p:sp>
      <p:sp>
        <p:nvSpPr>
          <p:cNvPr id="8" name="Google Shape;46;p8">
            <a:extLst>
              <a:ext uri="{FF2B5EF4-FFF2-40B4-BE49-F238E27FC236}">
                <a16:creationId xmlns:a16="http://schemas.microsoft.com/office/drawing/2014/main" id="{143A6F68-56AB-1218-39D4-74688E64A9ED}"/>
              </a:ext>
            </a:extLst>
          </p:cNvPr>
          <p:cNvSpPr/>
          <p:nvPr userDrawn="1"/>
        </p:nvSpPr>
        <p:spPr>
          <a:xfrm rot="10800000" flipH="1">
            <a:off x="184031" y="-106325"/>
            <a:ext cx="859200" cy="774600"/>
          </a:xfrm>
          <a:prstGeom prst="round2SameRect">
            <a:avLst>
              <a:gd name="adj1" fmla="val 16667"/>
              <a:gd name="adj2" fmla="val 0"/>
            </a:avLst>
          </a:prstGeom>
          <a:solidFill>
            <a:schemeClr val="dk1"/>
          </a:solidFill>
          <a:ln w="9525" cap="flat" cmpd="sng">
            <a:solidFill>
              <a:schemeClr val="dk1"/>
            </a:solidFill>
            <a:prstDash val="solid"/>
            <a:round/>
            <a:headEnd type="none" w="sm" len="sm"/>
            <a:tailEnd type="none" w="sm" len="sm"/>
          </a:ln>
          <a:effectLst>
            <a:outerShdw blurRad="142875" dist="76200" dir="4680000" algn="bl" rotWithShape="0">
              <a:srgbClr val="434343">
                <a:alpha val="43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 name="Google Shape;47;p8">
            <a:extLst>
              <a:ext uri="{FF2B5EF4-FFF2-40B4-BE49-F238E27FC236}">
                <a16:creationId xmlns:a16="http://schemas.microsoft.com/office/drawing/2014/main" id="{8EF94C0A-4CE6-ABB8-131B-1039DAE52865}"/>
              </a:ext>
            </a:extLst>
          </p:cNvPr>
          <p:cNvPicPr preferRelativeResize="0"/>
          <p:nvPr userDrawn="1"/>
        </p:nvPicPr>
        <p:blipFill>
          <a:blip r:embed="rId2"/>
          <a:srcRect t="20646" b="18790"/>
          <a:stretch/>
        </p:blipFill>
        <p:spPr>
          <a:xfrm>
            <a:off x="237470" y="68891"/>
            <a:ext cx="752322" cy="457459"/>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tx1"/>
        </a:solidFill>
        <a:effectLst/>
      </p:bgPr>
    </p:bg>
    <p:spTree>
      <p:nvGrpSpPr>
        <p:cNvPr id="1" name="Shape 24"/>
        <p:cNvGrpSpPr/>
        <p:nvPr/>
      </p:nvGrpSpPr>
      <p:grpSpPr>
        <a:xfrm>
          <a:off x="0" y="0"/>
          <a:ext cx="0" cy="0"/>
          <a:chOff x="0" y="0"/>
          <a:chExt cx="0" cy="0"/>
        </a:xfrm>
      </p:grpSpPr>
      <p:sp>
        <p:nvSpPr>
          <p:cNvPr id="25" name="Google Shape;25;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r>
              <a:rPr lang="en-GB"/>
              <a:t>Click to edit Master title style</a:t>
            </a:r>
            <a:endParaRPr dirty="0"/>
          </a:p>
        </p:txBody>
      </p:sp>
      <p:sp>
        <p:nvSpPr>
          <p:cNvPr id="26" name="Google Shape;26;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atin typeface="Poppins" pitchFamily="2" charset="77"/>
                <a:cs typeface="Poppins" pitchFamily="2" charset="77"/>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pPr lvl="0"/>
            <a:r>
              <a:rPr lang="en-GB"/>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rgbClr val="021C49"/>
        </a:solidFill>
        <a:effectLst/>
      </p:bgPr>
    </p:bg>
    <p:spTree>
      <p:nvGrpSpPr>
        <p:cNvPr id="1" name="Shape 28"/>
        <p:cNvGrpSpPr/>
        <p:nvPr/>
      </p:nvGrpSpPr>
      <p:grpSpPr>
        <a:xfrm>
          <a:off x="0" y="0"/>
          <a:ext cx="0" cy="0"/>
          <a:chOff x="0" y="0"/>
          <a:chExt cx="0" cy="0"/>
        </a:xfrm>
      </p:grpSpPr>
      <p:sp>
        <p:nvSpPr>
          <p:cNvPr id="29" name="Google Shape;29;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r>
              <a:rPr lang="en-GB"/>
              <a:t>Click to edit Master title style</a:t>
            </a:r>
            <a:endParaRPr/>
          </a:p>
        </p:txBody>
      </p:sp>
      <p:sp>
        <p:nvSpPr>
          <p:cNvPr id="30" name="Google Shape;30;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atin typeface="Poppins" pitchFamily="2" charset="77"/>
                <a:cs typeface="Poppins" pitchFamily="2" charset="77"/>
              </a:defRPr>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pPr lvl="0"/>
            <a:r>
              <a:rPr lang="en-GB"/>
              <a:t>Click to edit Master text styles</a:t>
            </a:r>
          </a:p>
        </p:txBody>
      </p:sp>
      <p:sp>
        <p:nvSpPr>
          <p:cNvPr id="31" name="Google Shape;31;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atin typeface="Poppins" pitchFamily="2" charset="77"/>
                <a:cs typeface="Poppins" pitchFamily="2" charset="77"/>
              </a:defRPr>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pPr lvl="0"/>
            <a:r>
              <a:rPr lang="en-GB"/>
              <a:t>Click to edit Master text styles</a:t>
            </a:r>
          </a:p>
        </p:txBody>
      </p:sp>
      <p:sp>
        <p:nvSpPr>
          <p:cNvPr id="32" name="Google Shape;32;p5"/>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rgbClr val="021C49"/>
        </a:solidFill>
        <a:effectLst/>
      </p:bgPr>
    </p:bg>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r>
              <a:rPr lang="en-GB"/>
              <a:t>Click to edit Master title style</a:t>
            </a:r>
            <a:endParaRPr/>
          </a:p>
        </p:txBody>
      </p:sp>
      <p:sp>
        <p:nvSpPr>
          <p:cNvPr id="35" name="Google Shape;35;p6"/>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rgbClr val="021C49"/>
        </a:solidFill>
        <a:effectLst/>
      </p:bgPr>
    </p:bg>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r>
              <a:rPr lang="en-GB"/>
              <a:t>Click to edit Master title style</a:t>
            </a:r>
            <a:endParaRPr/>
          </a:p>
        </p:txBody>
      </p:sp>
      <p:sp>
        <p:nvSpPr>
          <p:cNvPr id="38" name="Google Shape;38;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atin typeface="Poppins" pitchFamily="2" charset="77"/>
                <a:cs typeface="Poppins" pitchFamily="2" charset="77"/>
              </a:defRPr>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pPr lvl="0"/>
            <a:r>
              <a:rPr lang="en-GB"/>
              <a:t>Click to edit Master text styles</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userDrawn="1">
  <p:cSld name="MAIN_POINT">
    <p:bg>
      <p:bgPr>
        <a:solidFill>
          <a:schemeClr val="lt2"/>
        </a:solidFill>
        <a:effectLst/>
      </p:bgPr>
    </p:bg>
    <p:spTree>
      <p:nvGrpSpPr>
        <p:cNvPr id="1" name="Shape 40"/>
        <p:cNvGrpSpPr/>
        <p:nvPr/>
      </p:nvGrpSpPr>
      <p:grpSpPr>
        <a:xfrm>
          <a:off x="0" y="0"/>
          <a:ext cx="0" cy="0"/>
          <a:chOff x="0" y="0"/>
          <a:chExt cx="0" cy="0"/>
        </a:xfrm>
      </p:grpSpPr>
      <p:sp>
        <p:nvSpPr>
          <p:cNvPr id="41" name="Google Shape;41;p8"/>
          <p:cNvSpPr txBox="1">
            <a:spLocks noGrp="1"/>
          </p:cNvSpPr>
          <p:nvPr>
            <p:ph type="title"/>
          </p:nvPr>
        </p:nvSpPr>
        <p:spPr>
          <a:xfrm>
            <a:off x="490250" y="1025912"/>
            <a:ext cx="6227100" cy="1025912"/>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4800"/>
              <a:buNone/>
              <a:defRPr sz="4800">
                <a:solidFill>
                  <a:srgbClr val="021C49"/>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r>
              <a:rPr lang="en-GB"/>
              <a:t>Click to edit Master title style</a:t>
            </a:r>
            <a:endParaRPr dirty="0"/>
          </a:p>
        </p:txBody>
      </p:sp>
      <p:sp>
        <p:nvSpPr>
          <p:cNvPr id="43" name="Google Shape;43;p8"/>
          <p:cNvSpPr txBox="1"/>
          <p:nvPr/>
        </p:nvSpPr>
        <p:spPr>
          <a:xfrm>
            <a:off x="385525" y="4605250"/>
            <a:ext cx="50445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dirty="0">
                <a:solidFill>
                  <a:srgbClr val="434343"/>
                </a:solidFill>
                <a:latin typeface="Poppins"/>
                <a:ea typeface="Poppins"/>
                <a:cs typeface="Poppins"/>
                <a:sym typeface="Poppins"/>
              </a:rPr>
              <a:t>arin-africa.org</a:t>
            </a:r>
            <a:endParaRPr sz="1200" dirty="0">
              <a:solidFill>
                <a:srgbClr val="434343"/>
              </a:solidFill>
              <a:latin typeface="Poppins"/>
              <a:ea typeface="Poppins"/>
              <a:cs typeface="Poppins"/>
              <a:sym typeface="Poppins"/>
            </a:endParaRPr>
          </a:p>
        </p:txBody>
      </p:sp>
      <p:sp>
        <p:nvSpPr>
          <p:cNvPr id="46" name="Google Shape;46;p8"/>
          <p:cNvSpPr/>
          <p:nvPr/>
        </p:nvSpPr>
        <p:spPr>
          <a:xfrm rot="10800000" flipH="1">
            <a:off x="184031" y="-106325"/>
            <a:ext cx="859200" cy="774600"/>
          </a:xfrm>
          <a:prstGeom prst="round2SameRect">
            <a:avLst>
              <a:gd name="adj1" fmla="val 16667"/>
              <a:gd name="adj2" fmla="val 0"/>
            </a:avLst>
          </a:prstGeom>
          <a:solidFill>
            <a:schemeClr val="dk1"/>
          </a:solidFill>
          <a:ln w="9525" cap="flat" cmpd="sng">
            <a:solidFill>
              <a:schemeClr val="dk1"/>
            </a:solidFill>
            <a:prstDash val="solid"/>
            <a:round/>
            <a:headEnd type="none" w="sm" len="sm"/>
            <a:tailEnd type="none" w="sm" len="sm"/>
          </a:ln>
          <a:effectLst>
            <a:outerShdw blurRad="142875" dist="76200" dir="4680000" algn="bl" rotWithShape="0">
              <a:srgbClr val="434343">
                <a:alpha val="43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7" name="Google Shape;47;p8"/>
          <p:cNvPicPr preferRelativeResize="0"/>
          <p:nvPr/>
        </p:nvPicPr>
        <p:blipFill>
          <a:blip r:embed="rId2"/>
          <a:srcRect t="20646" b="18790"/>
          <a:stretch/>
        </p:blipFill>
        <p:spPr>
          <a:xfrm>
            <a:off x="237470" y="68891"/>
            <a:ext cx="752322" cy="457459"/>
          </a:xfrm>
          <a:prstGeom prst="rect">
            <a:avLst/>
          </a:prstGeom>
          <a:noFill/>
          <a:ln>
            <a:noFill/>
          </a:ln>
        </p:spPr>
      </p:pic>
      <p:sp>
        <p:nvSpPr>
          <p:cNvPr id="3" name="Google Shape;7;p1">
            <a:extLst>
              <a:ext uri="{FF2B5EF4-FFF2-40B4-BE49-F238E27FC236}">
                <a16:creationId xmlns:a16="http://schemas.microsoft.com/office/drawing/2014/main" id="{1A1A3D08-F8F2-F272-44C8-3D53FCA5927D}"/>
              </a:ext>
            </a:extLst>
          </p:cNvPr>
          <p:cNvSpPr txBox="1">
            <a:spLocks noGrp="1"/>
          </p:cNvSpPr>
          <p:nvPr>
            <p:ph idx="1"/>
          </p:nvPr>
        </p:nvSpPr>
        <p:spPr>
          <a:xfrm>
            <a:off x="490249" y="2274848"/>
            <a:ext cx="8118491" cy="1936525"/>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accent3"/>
              </a:buClr>
              <a:buSzPts val="1800"/>
              <a:buFont typeface="Average"/>
              <a:buChar char="●"/>
              <a:defRPr sz="1800">
                <a:solidFill>
                  <a:schemeClr val="accent3"/>
                </a:solidFill>
                <a:latin typeface="Poppins" pitchFamily="2" charset="77"/>
                <a:ea typeface="Poppins" pitchFamily="2" charset="77"/>
                <a:cs typeface="Poppins" pitchFamily="2" charset="77"/>
                <a:sym typeface="Average"/>
              </a:defRPr>
            </a:lvl1pPr>
            <a:lvl2pPr marL="914400" lvl="1"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marL="1371600" lvl="2"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marL="1828800" lvl="3"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marL="2286000" lvl="4"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marL="2743200" lvl="5"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marL="3200400" lvl="6"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marL="3657600" lvl="7"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marL="4114800" lvl="8" indent="-317500">
              <a:lnSpc>
                <a:spcPct val="115000"/>
              </a:lnSpc>
              <a:spcBef>
                <a:spcPts val="1600"/>
              </a:spcBef>
              <a:spcAft>
                <a:spcPts val="1600"/>
              </a:spcAft>
              <a:buClr>
                <a:schemeClr val="accent3"/>
              </a:buClr>
              <a:buSzPts val="1400"/>
              <a:buFont typeface="Average"/>
              <a:buChar char="■"/>
              <a:defRPr>
                <a:solidFill>
                  <a:schemeClr val="accent3"/>
                </a:solidFill>
                <a:latin typeface="Average"/>
                <a:ea typeface="Average"/>
                <a:cs typeface="Average"/>
                <a:sym typeface="Average"/>
              </a:defRPr>
            </a:lvl9pPr>
          </a:lstStyle>
          <a:p>
            <a:pPr lvl="0"/>
            <a:r>
              <a:rPr lang="en-GB"/>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reserve="1">
  <p:cSld name="1_Main point">
    <p:bg>
      <p:bgPr>
        <a:solidFill>
          <a:schemeClr val="lt2"/>
        </a:solidFill>
        <a:effectLst/>
      </p:bgPr>
    </p:bg>
    <p:spTree>
      <p:nvGrpSpPr>
        <p:cNvPr id="1" name="Shape 40"/>
        <p:cNvGrpSpPr/>
        <p:nvPr/>
      </p:nvGrpSpPr>
      <p:grpSpPr>
        <a:xfrm>
          <a:off x="0" y="0"/>
          <a:ext cx="0" cy="0"/>
          <a:chOff x="0" y="0"/>
          <a:chExt cx="0" cy="0"/>
        </a:xfrm>
      </p:grpSpPr>
      <p:sp>
        <p:nvSpPr>
          <p:cNvPr id="41" name="Google Shape;41;p8"/>
          <p:cNvSpPr txBox="1">
            <a:spLocks noGrp="1"/>
          </p:cNvSpPr>
          <p:nvPr>
            <p:ph type="title"/>
          </p:nvPr>
        </p:nvSpPr>
        <p:spPr>
          <a:xfrm>
            <a:off x="490250" y="526350"/>
            <a:ext cx="6227100" cy="4090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4800"/>
              <a:buNone/>
              <a:defRPr sz="4800">
                <a:solidFill>
                  <a:srgbClr val="021C49"/>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r>
              <a:rPr lang="en-GB"/>
              <a:t>Click to edit Master title style</a:t>
            </a:r>
            <a:endParaRPr dirty="0"/>
          </a:p>
        </p:txBody>
      </p:sp>
      <p:sp>
        <p:nvSpPr>
          <p:cNvPr id="43" name="Google Shape;43;p8"/>
          <p:cNvSpPr txBox="1"/>
          <p:nvPr/>
        </p:nvSpPr>
        <p:spPr>
          <a:xfrm>
            <a:off x="385525" y="4605250"/>
            <a:ext cx="50445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dirty="0">
                <a:solidFill>
                  <a:srgbClr val="434343"/>
                </a:solidFill>
                <a:latin typeface="Poppins"/>
                <a:ea typeface="Poppins"/>
                <a:cs typeface="Poppins"/>
                <a:sym typeface="Poppins"/>
              </a:rPr>
              <a:t>arin-africa.org</a:t>
            </a:r>
            <a:endParaRPr sz="1200" dirty="0">
              <a:solidFill>
                <a:srgbClr val="434343"/>
              </a:solidFill>
              <a:latin typeface="Poppins"/>
              <a:ea typeface="Poppins"/>
              <a:cs typeface="Poppins"/>
              <a:sym typeface="Poppins"/>
            </a:endParaRPr>
          </a:p>
        </p:txBody>
      </p:sp>
      <p:sp>
        <p:nvSpPr>
          <p:cNvPr id="46" name="Google Shape;46;p8"/>
          <p:cNvSpPr/>
          <p:nvPr/>
        </p:nvSpPr>
        <p:spPr>
          <a:xfrm rot="10800000" flipH="1">
            <a:off x="8111350" y="-106325"/>
            <a:ext cx="859200" cy="774600"/>
          </a:xfrm>
          <a:prstGeom prst="round2SameRect">
            <a:avLst>
              <a:gd name="adj1" fmla="val 16667"/>
              <a:gd name="adj2" fmla="val 0"/>
            </a:avLst>
          </a:prstGeom>
          <a:solidFill>
            <a:schemeClr val="dk1"/>
          </a:solidFill>
          <a:ln w="9525" cap="flat" cmpd="sng">
            <a:solidFill>
              <a:schemeClr val="dk1"/>
            </a:solidFill>
            <a:prstDash val="solid"/>
            <a:round/>
            <a:headEnd type="none" w="sm" len="sm"/>
            <a:tailEnd type="none" w="sm" len="sm"/>
          </a:ln>
          <a:effectLst>
            <a:outerShdw blurRad="142875" dist="76200" dir="4680000" algn="bl" rotWithShape="0">
              <a:srgbClr val="434343">
                <a:alpha val="43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7" name="Google Shape;47;p8"/>
          <p:cNvPicPr preferRelativeResize="0"/>
          <p:nvPr/>
        </p:nvPicPr>
        <p:blipFill>
          <a:blip r:embed="rId2"/>
          <a:srcRect t="20646" b="18790"/>
          <a:stretch/>
        </p:blipFill>
        <p:spPr>
          <a:xfrm>
            <a:off x="8164789" y="68891"/>
            <a:ext cx="752322" cy="457459"/>
          </a:xfrm>
          <a:prstGeom prst="rect">
            <a:avLst/>
          </a:prstGeom>
          <a:noFill/>
          <a:ln>
            <a:noFill/>
          </a:ln>
        </p:spPr>
      </p:pic>
    </p:spTree>
    <p:extLst>
      <p:ext uri="{BB962C8B-B14F-4D97-AF65-F5344CB8AC3E}">
        <p14:creationId xmlns:p14="http://schemas.microsoft.com/office/powerpoint/2010/main" val="2499031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reserve="1">
  <p:cSld name="1_Section title and description">
    <p:spTree>
      <p:nvGrpSpPr>
        <p:cNvPr id="1" name="Shape 48"/>
        <p:cNvGrpSpPr/>
        <p:nvPr/>
      </p:nvGrpSpPr>
      <p:grpSpPr>
        <a:xfrm>
          <a:off x="0" y="0"/>
          <a:ext cx="0" cy="0"/>
          <a:chOff x="0" y="0"/>
          <a:chExt cx="0" cy="0"/>
        </a:xfrm>
      </p:grpSpPr>
      <p:sp>
        <p:nvSpPr>
          <p:cNvPr id="49" name="Google Shape;49;p9"/>
          <p:cNvSpPr/>
          <p:nvPr/>
        </p:nvSpPr>
        <p:spPr>
          <a:xfrm>
            <a:off x="457200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0" name="Google Shape;50;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51" name="Google Shape;51;p9"/>
          <p:cNvSpPr txBox="1">
            <a:spLocks noGrp="1"/>
          </p:cNvSpPr>
          <p:nvPr>
            <p:ph type="title"/>
          </p:nvPr>
        </p:nvSpPr>
        <p:spPr>
          <a:xfrm>
            <a:off x="265500" y="1081400"/>
            <a:ext cx="4045200" cy="1710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r>
              <a:rPr lang="en-GB"/>
              <a:t>Click to edit Master title style</a:t>
            </a:r>
            <a:endParaRPr/>
          </a:p>
        </p:txBody>
      </p:sp>
      <p:sp>
        <p:nvSpPr>
          <p:cNvPr id="52" name="Google Shape;52;p9"/>
          <p:cNvSpPr txBox="1">
            <a:spLocks noGrp="1"/>
          </p:cNvSpPr>
          <p:nvPr>
            <p:ph type="subTitle" idx="1"/>
          </p:nvPr>
        </p:nvSpPr>
        <p:spPr>
          <a:xfrm>
            <a:off x="265500" y="2845201"/>
            <a:ext cx="4045200" cy="1345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100"/>
              <a:buNone/>
              <a:defRPr sz="2100">
                <a:solidFill>
                  <a:schemeClr val="dk1"/>
                </a:solidFill>
                <a:latin typeface="Poppins" pitchFamily="2" charset="77"/>
                <a:cs typeface="Poppins" pitchFamily="2" charset="77"/>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a:r>
              <a:rPr lang="en-GB"/>
              <a:t>Click to edit Master subtitle style</a:t>
            </a:r>
            <a:endParaRPr dirty="0"/>
          </a:p>
        </p:txBody>
      </p:sp>
      <p:sp>
        <p:nvSpPr>
          <p:cNvPr id="53" name="Google Shape;53;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rgbClr val="021C49"/>
                </a:solidFill>
                <a:latin typeface="Poppins" pitchFamily="2" charset="77"/>
                <a:cs typeface="Poppins" pitchFamily="2" charset="77"/>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pPr lvl="0"/>
            <a:r>
              <a:rPr lang="en-GB"/>
              <a:t>Click to edit Master text styles</a:t>
            </a:r>
          </a:p>
        </p:txBody>
      </p:sp>
      <p:sp>
        <p:nvSpPr>
          <p:cNvPr id="54" name="Google Shape;54;p9"/>
          <p:cNvSpPr txBox="1"/>
          <p:nvPr/>
        </p:nvSpPr>
        <p:spPr>
          <a:xfrm>
            <a:off x="385525" y="4681450"/>
            <a:ext cx="50445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dirty="0">
                <a:solidFill>
                  <a:schemeClr val="dk1"/>
                </a:solidFill>
                <a:latin typeface="Poppins"/>
                <a:ea typeface="Poppins"/>
                <a:cs typeface="Poppins"/>
                <a:sym typeface="Poppins"/>
              </a:rPr>
              <a:t>arin-africa.org</a:t>
            </a:r>
            <a:endParaRPr sz="1200" dirty="0">
              <a:solidFill>
                <a:schemeClr val="dk1"/>
              </a:solidFill>
              <a:latin typeface="Poppins"/>
              <a:ea typeface="Poppins"/>
              <a:cs typeface="Poppins"/>
              <a:sym typeface="Poppins"/>
            </a:endParaRPr>
          </a:p>
        </p:txBody>
      </p:sp>
    </p:spTree>
    <p:extLst>
      <p:ext uri="{BB962C8B-B14F-4D97-AF65-F5344CB8AC3E}">
        <p14:creationId xmlns:p14="http://schemas.microsoft.com/office/powerpoint/2010/main" val="1741397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rgbClr val="021C49"/>
        </a:solidFill>
        <a:effectLst/>
      </p:bgPr>
    </p:bg>
    <p:spTree>
      <p:nvGrpSpPr>
        <p:cNvPr id="1" name="Shape 56"/>
        <p:cNvGrpSpPr/>
        <p:nvPr/>
      </p:nvGrpSpPr>
      <p:grpSpPr>
        <a:xfrm>
          <a:off x="0" y="0"/>
          <a:ext cx="0" cy="0"/>
          <a:chOff x="0" y="0"/>
          <a:chExt cx="0" cy="0"/>
        </a:xfrm>
      </p:grpSpPr>
      <p:sp>
        <p:nvSpPr>
          <p:cNvPr id="57" name="Google Shape;57;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a:pPr lvl="0"/>
            <a:r>
              <a:rPr lang="en-GB"/>
              <a:t>Click to edit Master text styles</a:t>
            </a:r>
          </a:p>
        </p:txBody>
      </p:sp>
      <p:sp>
        <p:nvSpPr>
          <p:cNvPr id="58" name="Google Shape;58;p10"/>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rgbClr val="021C49"/>
        </a:solidFill>
        <a:effectLst/>
      </p:bgPr>
    </p:bg>
    <p:spTree>
      <p:nvGrpSpPr>
        <p:cNvPr id="1" name="Shape 59"/>
        <p:cNvGrpSpPr/>
        <p:nvPr/>
      </p:nvGrpSpPr>
      <p:grpSpPr>
        <a:xfrm>
          <a:off x="0" y="0"/>
          <a:ext cx="0" cy="0"/>
          <a:chOff x="0" y="0"/>
          <a:chExt cx="0" cy="0"/>
        </a:xfrm>
      </p:grpSpPr>
      <p:sp>
        <p:nvSpPr>
          <p:cNvPr id="60" name="Google Shape;60;p11"/>
          <p:cNvSpPr txBox="1">
            <a:spLocks noGrp="1"/>
          </p:cNvSpPr>
          <p:nvPr>
            <p:ph type="title" hasCustomPrompt="1"/>
          </p:nvPr>
        </p:nvSpPr>
        <p:spPr>
          <a:xfrm>
            <a:off x="311700" y="1255275"/>
            <a:ext cx="8520600" cy="18906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1" name="Google Shape;61;p11"/>
          <p:cNvSpPr txBox="1">
            <a:spLocks noGrp="1"/>
          </p:cNvSpPr>
          <p:nvPr>
            <p:ph type="body" idx="1"/>
          </p:nvPr>
        </p:nvSpPr>
        <p:spPr>
          <a:xfrm>
            <a:off x="311700" y="32284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atin typeface="Poppins" pitchFamily="2" charset="77"/>
                <a:cs typeface="Poppins" pitchFamily="2" charset="77"/>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pPr lvl="0"/>
            <a:r>
              <a:rPr lang="en-GB"/>
              <a:t>Click to edit Master text styles</a:t>
            </a:r>
          </a:p>
        </p:txBody>
      </p:sp>
      <p:sp>
        <p:nvSpPr>
          <p:cNvPr id="62" name="Google Shape;62;p11"/>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021C49"/>
        </a:solidFill>
        <a:effectLst/>
      </p:bgPr>
    </p:bg>
    <p:spTree>
      <p:nvGrpSpPr>
        <p:cNvPr id="1" name="Shape 63"/>
        <p:cNvGrpSpPr/>
        <p:nvPr/>
      </p:nvGrpSpPr>
      <p:grpSpPr>
        <a:xfrm>
          <a:off x="0" y="0"/>
          <a:ext cx="0" cy="0"/>
          <a:chOff x="0" y="0"/>
          <a:chExt cx="0" cy="0"/>
        </a:xfrm>
      </p:grpSpPr>
      <p:sp>
        <p:nvSpPr>
          <p:cNvPr id="64" name="Google Shape;64;p12"/>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ate">
    <p:bg>
      <p:bgPr>
        <a:solidFill>
          <a:srgbClr val="021C49"/>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marL="914400" lvl="1"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marL="1371600" lvl="2"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marL="1828800" lvl="3"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marL="2286000" lvl="4"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marL="2743200" lvl="5"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marL="3200400" lvl="6"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marL="3657600" lvl="7"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marL="4114800" lvl="8" indent="-317500">
              <a:lnSpc>
                <a:spcPct val="115000"/>
              </a:lnSpc>
              <a:spcBef>
                <a:spcPts val="1600"/>
              </a:spcBef>
              <a:spcAft>
                <a:spcPts val="1600"/>
              </a:spcAft>
              <a:buClr>
                <a:schemeClr val="accent3"/>
              </a:buClr>
              <a:buSzPts val="1400"/>
              <a:buFont typeface="Average"/>
              <a:buChar char="■"/>
              <a:defRPr>
                <a:solidFill>
                  <a:schemeClr val="accent3"/>
                </a:solidFill>
                <a:latin typeface="Average"/>
                <a:ea typeface="Average"/>
                <a:cs typeface="Average"/>
                <a:sym typeface="Average"/>
              </a:defRPr>
            </a:lvl9pPr>
          </a:lstStyle>
          <a:p>
            <a:endParaRPr dirty="0"/>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60" r:id="rId8"/>
    <p:sldLayoutId id="2147483661" r:id="rId9"/>
    <p:sldLayoutId id="2147483656" r:id="rId10"/>
    <p:sldLayoutId id="2147483657" r:id="rId11"/>
    <p:sldLayoutId id="2147483658" r:id="rId12"/>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Poppins" pitchFamily="2" charset="77"/>
          <a:ea typeface="Poppins" pitchFamily="2" charset="77"/>
          <a:cs typeface="Poppins" pitchFamily="2" charset="77"/>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link.springer.com/content/pdf/10.1186/s12961-017-0247-z.pdf"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3"/>
          <p:cNvSpPr txBox="1">
            <a:spLocks noGrp="1"/>
          </p:cNvSpPr>
          <p:nvPr>
            <p:ph type="ctrTitle"/>
          </p:nvPr>
        </p:nvSpPr>
        <p:spPr>
          <a:xfrm>
            <a:off x="671258" y="990800"/>
            <a:ext cx="7801500" cy="1730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3200" b="1" dirty="0">
                <a:latin typeface="Poppins"/>
                <a:ea typeface="Poppins"/>
                <a:cs typeface="Poppins"/>
                <a:sym typeface="Poppins"/>
              </a:rPr>
              <a:t>Research Impact and Open Science</a:t>
            </a:r>
            <a:endParaRPr sz="3200" b="1" dirty="0">
              <a:latin typeface="Poppins"/>
              <a:ea typeface="Poppins"/>
              <a:cs typeface="Poppins"/>
              <a:sym typeface="Poppins"/>
            </a:endParaRPr>
          </a:p>
        </p:txBody>
      </p:sp>
      <p:sp>
        <p:nvSpPr>
          <p:cNvPr id="70" name="Google Shape;70;p13"/>
          <p:cNvSpPr txBox="1">
            <a:spLocks noGrp="1"/>
          </p:cNvSpPr>
          <p:nvPr>
            <p:ph type="subTitle" idx="1"/>
          </p:nvPr>
        </p:nvSpPr>
        <p:spPr>
          <a:xfrm>
            <a:off x="671250" y="3174876"/>
            <a:ext cx="78015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Rubik"/>
                <a:ea typeface="Rubik"/>
                <a:cs typeface="Rubik"/>
                <a:sym typeface="Rubik"/>
              </a:rPr>
              <a:t>Francis Oloo (Dr. rer. </a:t>
            </a:r>
            <a:r>
              <a:rPr lang="en-AU" dirty="0">
                <a:latin typeface="Rubik"/>
                <a:ea typeface="Rubik"/>
                <a:cs typeface="Rubik"/>
                <a:sym typeface="Rubik"/>
              </a:rPr>
              <a:t>N</a:t>
            </a:r>
            <a:r>
              <a:rPr lang="en" dirty="0">
                <a:latin typeface="Rubik"/>
                <a:ea typeface="Rubik"/>
                <a:cs typeface="Rubik"/>
                <a:sym typeface="Rubik"/>
              </a:rPr>
              <a:t>at)</a:t>
            </a:r>
            <a:endParaRPr dirty="0">
              <a:latin typeface="Rubik"/>
              <a:ea typeface="Rubik"/>
              <a:cs typeface="Rubik"/>
              <a:sym typeface="Rubik"/>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B7873-C68C-00E7-EE68-D56DE237FD57}"/>
              </a:ext>
            </a:extLst>
          </p:cNvPr>
          <p:cNvSpPr>
            <a:spLocks noGrp="1"/>
          </p:cNvSpPr>
          <p:nvPr>
            <p:ph type="title"/>
          </p:nvPr>
        </p:nvSpPr>
        <p:spPr/>
        <p:txBody>
          <a:bodyPr/>
          <a:lstStyle/>
          <a:p>
            <a:r>
              <a:rPr lang="en-GB" dirty="0"/>
              <a:t>Outline</a:t>
            </a:r>
          </a:p>
        </p:txBody>
      </p:sp>
      <p:sp>
        <p:nvSpPr>
          <p:cNvPr id="3" name="Content Placeholder 2">
            <a:extLst>
              <a:ext uri="{FF2B5EF4-FFF2-40B4-BE49-F238E27FC236}">
                <a16:creationId xmlns:a16="http://schemas.microsoft.com/office/drawing/2014/main" id="{0C08BC6F-1848-50D1-3643-A97D47990FE1}"/>
              </a:ext>
            </a:extLst>
          </p:cNvPr>
          <p:cNvSpPr>
            <a:spLocks noGrp="1"/>
          </p:cNvSpPr>
          <p:nvPr>
            <p:ph idx="1"/>
          </p:nvPr>
        </p:nvSpPr>
        <p:spPr/>
        <p:txBody>
          <a:bodyPr/>
          <a:lstStyle/>
          <a:p>
            <a:r>
              <a:rPr lang="en-US" dirty="0">
                <a:solidFill>
                  <a:schemeClr val="bg2">
                    <a:lumMod val="50000"/>
                  </a:schemeClr>
                </a:solidFill>
              </a:rPr>
              <a:t>Recap of Session 3 – Results to Discussion</a:t>
            </a:r>
          </a:p>
          <a:p>
            <a:r>
              <a:rPr lang="en-US" dirty="0">
                <a:solidFill>
                  <a:schemeClr val="bg2">
                    <a:lumMod val="50000"/>
                  </a:schemeClr>
                </a:solidFill>
              </a:rPr>
              <a:t>Foundations of  “Research Impact”</a:t>
            </a:r>
          </a:p>
          <a:p>
            <a:r>
              <a:rPr lang="en-GB" dirty="0">
                <a:solidFill>
                  <a:schemeClr val="bg2">
                    <a:lumMod val="50000"/>
                  </a:schemeClr>
                </a:solidFill>
              </a:rPr>
              <a:t>Discuss methods for planning/documenting for research impact</a:t>
            </a:r>
          </a:p>
          <a:p>
            <a:r>
              <a:rPr lang="en-US" dirty="0">
                <a:solidFill>
                  <a:schemeClr val="bg2">
                    <a:lumMod val="50000"/>
                  </a:schemeClr>
                </a:solidFill>
              </a:rPr>
              <a:t>Practical ways of ensuring visibility of research</a:t>
            </a:r>
            <a:endParaRPr lang="en-GB" dirty="0">
              <a:solidFill>
                <a:schemeClr val="bg2">
                  <a:lumMod val="50000"/>
                </a:schemeClr>
              </a:solidFill>
            </a:endParaRPr>
          </a:p>
        </p:txBody>
      </p:sp>
    </p:spTree>
    <p:extLst>
      <p:ext uri="{BB962C8B-B14F-4D97-AF65-F5344CB8AC3E}">
        <p14:creationId xmlns:p14="http://schemas.microsoft.com/office/powerpoint/2010/main" val="2347806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9A9648D-1F01-B5A0-6B60-6B645B8A74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0595A2-DB54-B54F-64D6-D5D615B4A60B}"/>
              </a:ext>
            </a:extLst>
          </p:cNvPr>
          <p:cNvSpPr>
            <a:spLocks noGrp="1"/>
          </p:cNvSpPr>
          <p:nvPr>
            <p:ph type="title"/>
          </p:nvPr>
        </p:nvSpPr>
        <p:spPr>
          <a:xfrm>
            <a:off x="490250" y="1025912"/>
            <a:ext cx="7314550" cy="1025912"/>
          </a:xfrm>
        </p:spPr>
        <p:txBody>
          <a:bodyPr/>
          <a:lstStyle/>
          <a:p>
            <a:r>
              <a:rPr lang="en-GB" sz="3600" dirty="0"/>
              <a:t>Recap</a:t>
            </a:r>
          </a:p>
        </p:txBody>
      </p:sp>
      <p:sp>
        <p:nvSpPr>
          <p:cNvPr id="3" name="Content Placeholder 2">
            <a:extLst>
              <a:ext uri="{FF2B5EF4-FFF2-40B4-BE49-F238E27FC236}">
                <a16:creationId xmlns:a16="http://schemas.microsoft.com/office/drawing/2014/main" id="{7594DF60-5884-D8E3-4DDA-48C9D68D114B}"/>
              </a:ext>
            </a:extLst>
          </p:cNvPr>
          <p:cNvSpPr>
            <a:spLocks noGrp="1"/>
          </p:cNvSpPr>
          <p:nvPr>
            <p:ph idx="1"/>
          </p:nvPr>
        </p:nvSpPr>
        <p:spPr/>
        <p:txBody>
          <a:bodyPr/>
          <a:lstStyle/>
          <a:p>
            <a:pPr>
              <a:buClr>
                <a:schemeClr val="bg2">
                  <a:lumMod val="50000"/>
                </a:schemeClr>
              </a:buClr>
            </a:pPr>
            <a:r>
              <a:rPr lang="en-US" sz="1600" dirty="0">
                <a:solidFill>
                  <a:schemeClr val="bg2">
                    <a:lumMod val="50000"/>
                  </a:schemeClr>
                </a:solidFill>
              </a:rPr>
              <a:t>In session 3 of this module, we looked at how to use the 5-Step MOVE model to describe the discussion</a:t>
            </a:r>
          </a:p>
          <a:p>
            <a:pPr>
              <a:buClr>
                <a:schemeClr val="bg2">
                  <a:lumMod val="50000"/>
                </a:schemeClr>
              </a:buClr>
            </a:pPr>
            <a:r>
              <a:rPr lang="en-US" sz="1600" dirty="0">
                <a:solidFill>
                  <a:schemeClr val="bg2">
                    <a:lumMod val="50000"/>
                  </a:schemeClr>
                </a:solidFill>
              </a:rPr>
              <a:t>The MOVE model contains 5 sequential steps  Background </a:t>
            </a:r>
            <a:r>
              <a:rPr lang="en-US" sz="1600" dirty="0">
                <a:solidFill>
                  <a:schemeClr val="bg2">
                    <a:lumMod val="50000"/>
                  </a:schemeClr>
                </a:solidFill>
                <a:sym typeface="Wingdings" panose="05000000000000000000" pitchFamily="2" charset="2"/>
              </a:rPr>
              <a:t> Summarize or report  Comment  Highlight Limitations  Recommendations</a:t>
            </a:r>
            <a:endParaRPr lang="en-US" sz="1600" dirty="0">
              <a:solidFill>
                <a:schemeClr val="bg2">
                  <a:lumMod val="50000"/>
                </a:schemeClr>
              </a:solidFill>
            </a:endParaRPr>
          </a:p>
          <a:p>
            <a:pPr>
              <a:buClr>
                <a:schemeClr val="bg2">
                  <a:lumMod val="50000"/>
                </a:schemeClr>
              </a:buClr>
            </a:pPr>
            <a:r>
              <a:rPr lang="en-US" sz="1600" dirty="0">
                <a:solidFill>
                  <a:schemeClr val="bg2">
                    <a:lumMod val="50000"/>
                  </a:schemeClr>
                </a:solidFill>
              </a:rPr>
              <a:t>The method is applicable both for quantitative and qualitative research methods</a:t>
            </a:r>
          </a:p>
        </p:txBody>
      </p:sp>
    </p:spTree>
    <p:extLst>
      <p:ext uri="{BB962C8B-B14F-4D97-AF65-F5344CB8AC3E}">
        <p14:creationId xmlns:p14="http://schemas.microsoft.com/office/powerpoint/2010/main" val="29613103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06A11-757A-D1C4-C49F-42E69A58D4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E320FC-7A34-0B4F-F91B-99478EDE9F5A}"/>
              </a:ext>
            </a:extLst>
          </p:cNvPr>
          <p:cNvSpPr>
            <a:spLocks noGrp="1"/>
          </p:cNvSpPr>
          <p:nvPr>
            <p:ph type="title"/>
          </p:nvPr>
        </p:nvSpPr>
        <p:spPr>
          <a:xfrm>
            <a:off x="1289450" y="122400"/>
            <a:ext cx="7688950" cy="583200"/>
          </a:xfrm>
        </p:spPr>
        <p:txBody>
          <a:bodyPr/>
          <a:lstStyle/>
          <a:p>
            <a:r>
              <a:rPr lang="en-GB" sz="2400" b="1" dirty="0">
                <a:latin typeface="Poppins" panose="00000500000000000000" pitchFamily="2" charset="0"/>
                <a:cs typeface="Poppins" panose="00000500000000000000" pitchFamily="2" charset="0"/>
              </a:rPr>
              <a:t>Recap 5-Step Move Model (Social Science)</a:t>
            </a:r>
          </a:p>
        </p:txBody>
      </p:sp>
      <p:sp>
        <p:nvSpPr>
          <p:cNvPr id="10" name="TextBox 9">
            <a:extLst>
              <a:ext uri="{FF2B5EF4-FFF2-40B4-BE49-F238E27FC236}">
                <a16:creationId xmlns:a16="http://schemas.microsoft.com/office/drawing/2014/main" id="{F27D7760-5288-9222-7BC4-141378A42902}"/>
              </a:ext>
            </a:extLst>
          </p:cNvPr>
          <p:cNvSpPr txBox="1"/>
          <p:nvPr/>
        </p:nvSpPr>
        <p:spPr>
          <a:xfrm>
            <a:off x="630000" y="993432"/>
            <a:ext cx="7884000" cy="3477875"/>
          </a:xfrm>
          <a:prstGeom prst="rect">
            <a:avLst/>
          </a:prstGeom>
          <a:solidFill>
            <a:schemeClr val="tx1"/>
          </a:solidFill>
        </p:spPr>
        <p:txBody>
          <a:bodyPr wrap="square">
            <a:spAutoFit/>
          </a:bodyPr>
          <a:lstStyle/>
          <a:p>
            <a:pPr algn="just" rtl="0">
              <a:buNone/>
            </a:pPr>
            <a:r>
              <a:rPr lang="en-US" sz="1000" b="1" dirty="0">
                <a:latin typeface="Poppins" panose="00000500000000000000" pitchFamily="2" charset="0"/>
                <a:cs typeface="Poppins" panose="00000500000000000000" pitchFamily="2" charset="0"/>
              </a:rPr>
              <a:t>Original research question (Introduction): </a:t>
            </a:r>
            <a:r>
              <a:rPr lang="en-US" sz="1000" i="1" dirty="0">
                <a:latin typeface="Poppins" panose="00000500000000000000" pitchFamily="2" charset="0"/>
                <a:cs typeface="Poppins" panose="00000500000000000000" pitchFamily="2" charset="0"/>
              </a:rPr>
              <a:t>How do smallholder farmers describe and justify their decisions about whether to adopt a new drought-tolerant maize variety?</a:t>
            </a:r>
          </a:p>
          <a:p>
            <a:pPr algn="just" rtl="0">
              <a:buNone/>
            </a:pPr>
            <a:endParaRPr lang="en-US" sz="1000" i="1" dirty="0">
              <a:latin typeface="Poppins" panose="00000500000000000000" pitchFamily="2" charset="0"/>
              <a:cs typeface="Poppins" panose="00000500000000000000" pitchFamily="2" charset="0"/>
            </a:endParaRPr>
          </a:p>
          <a:p>
            <a:pPr algn="just" rtl="0">
              <a:buNone/>
            </a:pPr>
            <a:r>
              <a:rPr lang="en-US" sz="1000" b="1" dirty="0">
                <a:latin typeface="Poppins" panose="00000500000000000000" pitchFamily="2" charset="0"/>
                <a:cs typeface="Poppins" panose="00000500000000000000" pitchFamily="2" charset="0"/>
              </a:rPr>
              <a:t>Move 1 – Background: </a:t>
            </a:r>
            <a:r>
              <a:rPr lang="en-US" sz="1000" i="1" dirty="0">
                <a:latin typeface="Poppins" panose="00000500000000000000" pitchFamily="2" charset="0"/>
                <a:cs typeface="Poppins" panose="00000500000000000000" pitchFamily="2" charset="0"/>
              </a:rPr>
              <a:t>This study set out to understand how farmers describe and justify their decisions to adopt or reject a new drought-tolerant maize variety.</a:t>
            </a:r>
          </a:p>
          <a:p>
            <a:pPr algn="just" rtl="0">
              <a:buNone/>
            </a:pPr>
            <a:endParaRPr lang="en-US" sz="1000" i="1" dirty="0">
              <a:latin typeface="Poppins" panose="00000500000000000000" pitchFamily="2" charset="0"/>
              <a:cs typeface="Poppins" panose="00000500000000000000" pitchFamily="2" charset="0"/>
            </a:endParaRPr>
          </a:p>
          <a:p>
            <a:pPr algn="just" rtl="0">
              <a:buNone/>
            </a:pPr>
            <a:r>
              <a:rPr lang="en-US" sz="1000" b="1" dirty="0">
                <a:latin typeface="Poppins" panose="00000500000000000000" pitchFamily="2" charset="0"/>
                <a:cs typeface="Poppins" panose="00000500000000000000" pitchFamily="2" charset="0"/>
              </a:rPr>
              <a:t>Move 2 – Summarizing key results: </a:t>
            </a:r>
            <a:r>
              <a:rPr lang="en-US" sz="1000" i="1" dirty="0">
                <a:latin typeface="Poppins" panose="00000500000000000000" pitchFamily="2" charset="0"/>
                <a:cs typeface="Poppins" panose="00000500000000000000" pitchFamily="2" charset="0"/>
              </a:rPr>
              <a:t>Three themes emerged from the interviews: trust in extension officers, concern about the upfront cost of seed, and social proof, that is, farmers were strongly influenced by whether trusted </a:t>
            </a:r>
            <a:r>
              <a:rPr lang="en-US" sz="1000" i="1" dirty="0" err="1">
                <a:latin typeface="Poppins" panose="00000500000000000000" pitchFamily="2" charset="0"/>
                <a:cs typeface="Poppins" panose="00000500000000000000" pitchFamily="2" charset="0"/>
              </a:rPr>
              <a:t>neighbours</a:t>
            </a:r>
            <a:r>
              <a:rPr lang="en-US" sz="1000" i="1" dirty="0">
                <a:latin typeface="Poppins" panose="00000500000000000000" pitchFamily="2" charset="0"/>
                <a:cs typeface="Poppins" panose="00000500000000000000" pitchFamily="2" charset="0"/>
              </a:rPr>
              <a:t> had already tried the variety.</a:t>
            </a:r>
          </a:p>
          <a:p>
            <a:pPr algn="just" rtl="0">
              <a:buNone/>
            </a:pPr>
            <a:endParaRPr lang="en-US" sz="1000" i="1" dirty="0">
              <a:latin typeface="Poppins" panose="00000500000000000000" pitchFamily="2" charset="0"/>
              <a:cs typeface="Poppins" panose="00000500000000000000" pitchFamily="2" charset="0"/>
            </a:endParaRPr>
          </a:p>
          <a:p>
            <a:pPr algn="just" rtl="0">
              <a:buNone/>
            </a:pPr>
            <a:r>
              <a:rPr lang="en-US" sz="1000" b="1" dirty="0">
                <a:latin typeface="Poppins" panose="00000500000000000000" pitchFamily="2" charset="0"/>
                <a:cs typeface="Poppins" panose="00000500000000000000" pitchFamily="2" charset="0"/>
              </a:rPr>
              <a:t>Move 3 – Commenting on key results:</a:t>
            </a:r>
            <a:r>
              <a:rPr lang="en-US" sz="1000" i="1" dirty="0">
                <a:latin typeface="Poppins" panose="00000500000000000000" pitchFamily="2" charset="0"/>
                <a:cs typeface="Poppins" panose="00000500000000000000" pitchFamily="2" charset="0"/>
              </a:rPr>
              <a:t> Social proof appeared more influential in farmers' own accounts than the formal extension messaging which the </a:t>
            </a:r>
            <a:r>
              <a:rPr lang="en-US" sz="1000" i="1" dirty="0" err="1">
                <a:latin typeface="Poppins" panose="00000500000000000000" pitchFamily="2" charset="0"/>
                <a:cs typeface="Poppins" panose="00000500000000000000" pitchFamily="2" charset="0"/>
              </a:rPr>
              <a:t>programme</a:t>
            </a:r>
            <a:r>
              <a:rPr lang="en-US" sz="1000" i="1" dirty="0">
                <a:latin typeface="Poppins" panose="00000500000000000000" pitchFamily="2" charset="0"/>
                <a:cs typeface="Poppins" panose="00000500000000000000" pitchFamily="2" charset="0"/>
              </a:rPr>
              <a:t> had relied on. </a:t>
            </a:r>
            <a:r>
              <a:rPr lang="en-US" sz="1000" i="1" dirty="0">
                <a:solidFill>
                  <a:srgbClr val="C00000"/>
                </a:solidFill>
                <a:latin typeface="Poppins" panose="00000500000000000000" pitchFamily="2" charset="0"/>
                <a:cs typeface="Poppins" panose="00000500000000000000" pitchFamily="2" charset="0"/>
              </a:rPr>
              <a:t>This</a:t>
            </a:r>
            <a:r>
              <a:rPr lang="en-US" sz="1000" i="1" dirty="0">
                <a:latin typeface="Poppins" panose="00000500000000000000" pitchFamily="2" charset="0"/>
                <a:cs typeface="Poppins" panose="00000500000000000000" pitchFamily="2" charset="0"/>
              </a:rPr>
              <a:t> </a:t>
            </a:r>
            <a:r>
              <a:rPr lang="en-US" sz="1000" i="1" dirty="0">
                <a:solidFill>
                  <a:srgbClr val="C00000"/>
                </a:solidFill>
                <a:latin typeface="Poppins" panose="00000500000000000000" pitchFamily="2" charset="0"/>
                <a:cs typeface="Poppins" panose="00000500000000000000" pitchFamily="2" charset="0"/>
              </a:rPr>
              <a:t>contrasts</a:t>
            </a:r>
            <a:r>
              <a:rPr lang="en-US" sz="1000" i="1" dirty="0">
                <a:latin typeface="Poppins" panose="00000500000000000000" pitchFamily="2" charset="0"/>
                <a:cs typeface="Poppins" panose="00000500000000000000" pitchFamily="2" charset="0"/>
              </a:rPr>
              <a:t> with prior adoption studies that emphasize economic rationality as the primary driver. Cost concerns were also more prominent among smaller landholders, likely reflecting their thinner margin for risk if the new variety underperformed.</a:t>
            </a:r>
          </a:p>
          <a:p>
            <a:pPr algn="just" rtl="0">
              <a:buNone/>
            </a:pPr>
            <a:endParaRPr lang="en-US" sz="1000" i="1" dirty="0">
              <a:latin typeface="Poppins" panose="00000500000000000000" pitchFamily="2" charset="0"/>
              <a:cs typeface="Poppins" panose="00000500000000000000" pitchFamily="2" charset="0"/>
            </a:endParaRPr>
          </a:p>
          <a:p>
            <a:pPr algn="just" rtl="0">
              <a:buNone/>
            </a:pPr>
            <a:r>
              <a:rPr lang="en-US" sz="1000" b="1" dirty="0">
                <a:latin typeface="Poppins" panose="00000500000000000000" pitchFamily="2" charset="0"/>
                <a:cs typeface="Poppins" panose="00000500000000000000" pitchFamily="2" charset="0"/>
              </a:rPr>
              <a:t>Move 4 – Limitations: </a:t>
            </a:r>
            <a:r>
              <a:rPr lang="en-US" sz="1000" i="1" dirty="0">
                <a:latin typeface="Poppins" panose="00000500000000000000" pitchFamily="2" charset="0"/>
                <a:cs typeface="Poppins" panose="00000500000000000000" pitchFamily="2" charset="0"/>
              </a:rPr>
              <a:t>These themes come from a purposively sampled group of adopters and non-adopters in one district, so the findings describe patterns of reasoning rather than how common each view is across the wider farming population.</a:t>
            </a:r>
          </a:p>
          <a:p>
            <a:pPr algn="just" rtl="0">
              <a:buNone/>
            </a:pPr>
            <a:endParaRPr lang="en-US" sz="1000" i="1" dirty="0">
              <a:latin typeface="Poppins" panose="00000500000000000000" pitchFamily="2" charset="0"/>
              <a:cs typeface="Poppins" panose="00000500000000000000" pitchFamily="2" charset="0"/>
            </a:endParaRPr>
          </a:p>
          <a:p>
            <a:pPr algn="just" rtl="0">
              <a:buNone/>
            </a:pPr>
            <a:r>
              <a:rPr lang="en-US" sz="1000" b="1" dirty="0">
                <a:latin typeface="Poppins" panose="00000500000000000000" pitchFamily="2" charset="0"/>
                <a:cs typeface="Poppins" panose="00000500000000000000" pitchFamily="2" charset="0"/>
              </a:rPr>
              <a:t>Move 5 – Recommendations: </a:t>
            </a:r>
            <a:r>
              <a:rPr lang="en-US" sz="1000" i="1" dirty="0">
                <a:latin typeface="Poppins" panose="00000500000000000000" pitchFamily="2" charset="0"/>
                <a:cs typeface="Poppins" panose="00000500000000000000" pitchFamily="2" charset="0"/>
              </a:rPr>
              <a:t>Extension approaches should incorporate peer-to-peer demonstration alongside formal messaging, directly answering the original research question by showing that farmer adoption of new variety is substantially a social, not just economic, process</a:t>
            </a:r>
            <a:r>
              <a:rPr lang="en-US" sz="1000" b="1" dirty="0">
                <a:latin typeface="Poppins" panose="00000500000000000000" pitchFamily="2" charset="0"/>
                <a:cs typeface="Poppins" panose="00000500000000000000" pitchFamily="2" charset="0"/>
              </a:rPr>
              <a:t>.</a:t>
            </a:r>
            <a:endParaRPr lang="en-KE" sz="1000"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3335785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5DFE6-2076-C1FE-CA0B-D8FFE7676D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02161C-14CE-0440-CA19-8D61756F62FB}"/>
              </a:ext>
            </a:extLst>
          </p:cNvPr>
          <p:cNvSpPr>
            <a:spLocks noGrp="1"/>
          </p:cNvSpPr>
          <p:nvPr>
            <p:ph type="title"/>
          </p:nvPr>
        </p:nvSpPr>
        <p:spPr>
          <a:xfrm>
            <a:off x="736050" y="221438"/>
            <a:ext cx="7852200" cy="861000"/>
          </a:xfrm>
        </p:spPr>
        <p:txBody>
          <a:bodyPr/>
          <a:lstStyle/>
          <a:p>
            <a:r>
              <a:rPr lang="en-GB" dirty="0"/>
              <a:t>Research Impact</a:t>
            </a:r>
          </a:p>
        </p:txBody>
      </p:sp>
      <p:sp>
        <p:nvSpPr>
          <p:cNvPr id="7" name="TextBox 6">
            <a:extLst>
              <a:ext uri="{FF2B5EF4-FFF2-40B4-BE49-F238E27FC236}">
                <a16:creationId xmlns:a16="http://schemas.microsoft.com/office/drawing/2014/main" id="{DFC97E68-0A42-C6FC-5AEF-2B3E1C68C4D9}"/>
              </a:ext>
            </a:extLst>
          </p:cNvPr>
          <p:cNvSpPr txBox="1"/>
          <p:nvPr/>
        </p:nvSpPr>
        <p:spPr>
          <a:xfrm>
            <a:off x="1027655" y="1532664"/>
            <a:ext cx="7088690" cy="1569660"/>
          </a:xfrm>
          <a:prstGeom prst="rect">
            <a:avLst/>
          </a:prstGeom>
          <a:noFill/>
        </p:spPr>
        <p:txBody>
          <a:bodyPr wrap="square">
            <a:spAutoFit/>
          </a:bodyPr>
          <a:lstStyle/>
          <a:p>
            <a:pPr algn="ctr"/>
            <a:r>
              <a:rPr lang="en-US" sz="2400" dirty="0">
                <a:solidFill>
                  <a:schemeClr val="accent5">
                    <a:lumMod val="60000"/>
                    <a:lumOff val="40000"/>
                  </a:schemeClr>
                </a:solidFill>
                <a:latin typeface="Poppins" panose="00000500000000000000" pitchFamily="2" charset="0"/>
                <a:cs typeface="Poppins" panose="00000500000000000000" pitchFamily="2" charset="0"/>
              </a:rPr>
              <a:t>Research impact refers to the demonstrable contribution that research makes beyond academia to policy, practice, economy,  environment, and society</a:t>
            </a:r>
            <a:endParaRPr lang="en-KE" sz="2400" dirty="0">
              <a:solidFill>
                <a:schemeClr val="accent5">
                  <a:lumMod val="60000"/>
                  <a:lumOff val="40000"/>
                </a:schemeClr>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9703690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62D79-8A2E-CFC2-27AB-0CC00E15D6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411E32-9952-FF28-351E-F91AAA22BCF9}"/>
              </a:ext>
            </a:extLst>
          </p:cNvPr>
          <p:cNvSpPr>
            <a:spLocks noGrp="1"/>
          </p:cNvSpPr>
          <p:nvPr>
            <p:ph type="title"/>
          </p:nvPr>
        </p:nvSpPr>
        <p:spPr>
          <a:xfrm>
            <a:off x="736050" y="221438"/>
            <a:ext cx="7852200" cy="861000"/>
          </a:xfrm>
        </p:spPr>
        <p:txBody>
          <a:bodyPr/>
          <a:lstStyle/>
          <a:p>
            <a:r>
              <a:rPr lang="en-GB" dirty="0"/>
              <a:t>Output</a:t>
            </a:r>
            <a:r>
              <a:rPr lang="en-GB" dirty="0">
                <a:sym typeface="Wingdings" panose="05000000000000000000" pitchFamily="2" charset="2"/>
              </a:rPr>
              <a:t></a:t>
            </a:r>
            <a:r>
              <a:rPr lang="en-GB" dirty="0"/>
              <a:t> Outcome</a:t>
            </a:r>
            <a:r>
              <a:rPr lang="en-GB" dirty="0">
                <a:sym typeface="Wingdings" panose="05000000000000000000" pitchFamily="2" charset="2"/>
              </a:rPr>
              <a:t></a:t>
            </a:r>
            <a:r>
              <a:rPr lang="en-GB" dirty="0"/>
              <a:t> Impact</a:t>
            </a:r>
          </a:p>
        </p:txBody>
      </p:sp>
      <p:sp>
        <p:nvSpPr>
          <p:cNvPr id="4" name="Shape 6">
            <a:extLst>
              <a:ext uri="{FF2B5EF4-FFF2-40B4-BE49-F238E27FC236}">
                <a16:creationId xmlns:a16="http://schemas.microsoft.com/office/drawing/2014/main" id="{3FE10F04-C7B6-8546-8A2B-4A988F769F49}"/>
              </a:ext>
            </a:extLst>
          </p:cNvPr>
          <p:cNvSpPr/>
          <p:nvPr/>
        </p:nvSpPr>
        <p:spPr>
          <a:xfrm>
            <a:off x="759124" y="1980316"/>
            <a:ext cx="2399563" cy="1672467"/>
          </a:xfrm>
          <a:prstGeom prst="roundRect">
            <a:avLst>
              <a:gd name="adj" fmla="val 4878"/>
            </a:avLst>
          </a:prstGeom>
          <a:solidFill>
            <a:srgbClr val="EEF1F4"/>
          </a:solidFill>
          <a:ln/>
        </p:spPr>
      </p:sp>
      <p:sp>
        <p:nvSpPr>
          <p:cNvPr id="6" name="Text 7">
            <a:extLst>
              <a:ext uri="{FF2B5EF4-FFF2-40B4-BE49-F238E27FC236}">
                <a16:creationId xmlns:a16="http://schemas.microsoft.com/office/drawing/2014/main" id="{EDB94D3D-3558-FE62-4F73-96015B372C8A}"/>
              </a:ext>
            </a:extLst>
          </p:cNvPr>
          <p:cNvSpPr/>
          <p:nvPr/>
        </p:nvSpPr>
        <p:spPr>
          <a:xfrm>
            <a:off x="987724" y="2117476"/>
            <a:ext cx="2091927" cy="326335"/>
          </a:xfrm>
          <a:prstGeom prst="rect">
            <a:avLst/>
          </a:prstGeom>
          <a:noFill/>
          <a:ln/>
        </p:spPr>
        <p:txBody>
          <a:bodyPr wrap="square" lIns="0" tIns="0" rIns="0" bIns="0" rtlCol="0" anchor="ctr"/>
          <a:lstStyle/>
          <a:p>
            <a:pPr marL="0" indent="0">
              <a:buNone/>
            </a:pPr>
            <a:r>
              <a:rPr lang="en-US" sz="1500" b="1" dirty="0">
                <a:solidFill>
                  <a:srgbClr val="1F4E79"/>
                </a:solidFill>
                <a:latin typeface="Poppins" panose="00000500000000000000" pitchFamily="2" charset="0"/>
                <a:cs typeface="Poppins" panose="00000500000000000000" pitchFamily="2" charset="0"/>
              </a:rPr>
              <a:t>OUTPUT</a:t>
            </a:r>
            <a:endParaRPr lang="en-US" sz="1500" dirty="0">
              <a:latin typeface="Poppins" panose="00000500000000000000" pitchFamily="2" charset="0"/>
              <a:cs typeface="Poppins" panose="00000500000000000000" pitchFamily="2" charset="0"/>
            </a:endParaRPr>
          </a:p>
        </p:txBody>
      </p:sp>
      <p:sp>
        <p:nvSpPr>
          <p:cNvPr id="9" name="Text 8">
            <a:extLst>
              <a:ext uri="{FF2B5EF4-FFF2-40B4-BE49-F238E27FC236}">
                <a16:creationId xmlns:a16="http://schemas.microsoft.com/office/drawing/2014/main" id="{4760A119-C933-63E0-9DDF-21F18C736D09}"/>
              </a:ext>
            </a:extLst>
          </p:cNvPr>
          <p:cNvSpPr/>
          <p:nvPr/>
        </p:nvSpPr>
        <p:spPr>
          <a:xfrm>
            <a:off x="987724" y="2483236"/>
            <a:ext cx="1397143" cy="384794"/>
          </a:xfrm>
          <a:prstGeom prst="rect">
            <a:avLst/>
          </a:prstGeom>
          <a:noFill/>
          <a:ln/>
        </p:spPr>
        <p:txBody>
          <a:bodyPr wrap="square" lIns="0" tIns="0" rIns="0" bIns="0" rtlCol="0" anchor="ctr"/>
          <a:lstStyle/>
          <a:p>
            <a:pPr marL="0" indent="0">
              <a:buNone/>
            </a:pPr>
            <a:r>
              <a:rPr lang="en-US" sz="1200" b="1" dirty="0">
                <a:solidFill>
                  <a:srgbClr val="232B32"/>
                </a:solidFill>
                <a:latin typeface="Poppins" panose="00000500000000000000" pitchFamily="2" charset="0"/>
                <a:cs typeface="Poppins" panose="00000500000000000000" pitchFamily="2" charset="0"/>
              </a:rPr>
              <a:t>What is produced</a:t>
            </a:r>
            <a:endParaRPr lang="en-US" sz="1200" dirty="0">
              <a:latin typeface="Poppins" panose="00000500000000000000" pitchFamily="2" charset="0"/>
              <a:cs typeface="Poppins" panose="00000500000000000000" pitchFamily="2" charset="0"/>
            </a:endParaRPr>
          </a:p>
        </p:txBody>
      </p:sp>
      <p:sp>
        <p:nvSpPr>
          <p:cNvPr id="11" name="Text 9">
            <a:extLst>
              <a:ext uri="{FF2B5EF4-FFF2-40B4-BE49-F238E27FC236}">
                <a16:creationId xmlns:a16="http://schemas.microsoft.com/office/drawing/2014/main" id="{C7E790CE-00B3-A32D-95B4-B677D5D4E43A}"/>
              </a:ext>
            </a:extLst>
          </p:cNvPr>
          <p:cNvSpPr/>
          <p:nvPr/>
        </p:nvSpPr>
        <p:spPr>
          <a:xfrm>
            <a:off x="912941" y="2754679"/>
            <a:ext cx="2091927" cy="611878"/>
          </a:xfrm>
          <a:prstGeom prst="rect">
            <a:avLst/>
          </a:prstGeom>
          <a:noFill/>
          <a:ln/>
        </p:spPr>
        <p:txBody>
          <a:bodyPr wrap="square" lIns="0" tIns="0" rIns="0" bIns="0" rtlCol="0" anchor="ctr"/>
          <a:lstStyle/>
          <a:p>
            <a:pPr marL="0" indent="0">
              <a:buNone/>
            </a:pPr>
            <a:r>
              <a:rPr lang="en-US" sz="1100" i="1" dirty="0">
                <a:solidFill>
                  <a:srgbClr val="5B6670"/>
                </a:solidFill>
                <a:latin typeface="Poppins" panose="00000500000000000000" pitchFamily="2" charset="0"/>
                <a:cs typeface="Poppins" panose="00000500000000000000" pitchFamily="2" charset="0"/>
              </a:rPr>
              <a:t>A paper on drought-resistant maize varieties</a:t>
            </a:r>
            <a:endParaRPr lang="en-US" sz="1100" dirty="0">
              <a:latin typeface="Poppins" panose="00000500000000000000" pitchFamily="2" charset="0"/>
              <a:cs typeface="Poppins" panose="00000500000000000000" pitchFamily="2" charset="0"/>
            </a:endParaRPr>
          </a:p>
        </p:txBody>
      </p:sp>
      <p:sp>
        <p:nvSpPr>
          <p:cNvPr id="13" name="Shape 10">
            <a:extLst>
              <a:ext uri="{FF2B5EF4-FFF2-40B4-BE49-F238E27FC236}">
                <a16:creationId xmlns:a16="http://schemas.microsoft.com/office/drawing/2014/main" id="{81535BD2-27A1-B35C-E1B2-61FCCA9C451E}"/>
              </a:ext>
            </a:extLst>
          </p:cNvPr>
          <p:cNvSpPr/>
          <p:nvPr/>
        </p:nvSpPr>
        <p:spPr>
          <a:xfrm>
            <a:off x="3416307" y="1973163"/>
            <a:ext cx="2399563" cy="1672467"/>
          </a:xfrm>
          <a:prstGeom prst="roundRect">
            <a:avLst>
              <a:gd name="adj" fmla="val 4878"/>
            </a:avLst>
          </a:prstGeom>
          <a:solidFill>
            <a:srgbClr val="EEF1F4"/>
          </a:solidFill>
          <a:ln/>
        </p:spPr>
      </p:sp>
      <p:sp>
        <p:nvSpPr>
          <p:cNvPr id="15" name="Text 11">
            <a:extLst>
              <a:ext uri="{FF2B5EF4-FFF2-40B4-BE49-F238E27FC236}">
                <a16:creationId xmlns:a16="http://schemas.microsoft.com/office/drawing/2014/main" id="{8C174E22-2129-30B6-E2E9-93A4D1E07380}"/>
              </a:ext>
            </a:extLst>
          </p:cNvPr>
          <p:cNvSpPr/>
          <p:nvPr/>
        </p:nvSpPr>
        <p:spPr>
          <a:xfrm>
            <a:off x="3644907" y="2110323"/>
            <a:ext cx="2091927" cy="326335"/>
          </a:xfrm>
          <a:prstGeom prst="rect">
            <a:avLst/>
          </a:prstGeom>
          <a:noFill/>
          <a:ln/>
        </p:spPr>
        <p:txBody>
          <a:bodyPr wrap="square" lIns="0" tIns="0" rIns="0" bIns="0" rtlCol="0" anchor="ctr"/>
          <a:lstStyle/>
          <a:p>
            <a:pPr marL="0" indent="0">
              <a:buNone/>
            </a:pPr>
            <a:r>
              <a:rPr lang="en-US" sz="1500" b="1" dirty="0">
                <a:solidFill>
                  <a:srgbClr val="1F4E79"/>
                </a:solidFill>
                <a:latin typeface="Poppins" panose="00000500000000000000" pitchFamily="2" charset="0"/>
                <a:cs typeface="Poppins" panose="00000500000000000000" pitchFamily="2" charset="0"/>
              </a:rPr>
              <a:t>OUTCOME</a:t>
            </a:r>
            <a:endParaRPr lang="en-US" sz="1500" dirty="0">
              <a:latin typeface="Poppins" panose="00000500000000000000" pitchFamily="2" charset="0"/>
              <a:cs typeface="Poppins" panose="00000500000000000000" pitchFamily="2" charset="0"/>
            </a:endParaRPr>
          </a:p>
        </p:txBody>
      </p:sp>
      <p:sp>
        <p:nvSpPr>
          <p:cNvPr id="17" name="Text 12">
            <a:extLst>
              <a:ext uri="{FF2B5EF4-FFF2-40B4-BE49-F238E27FC236}">
                <a16:creationId xmlns:a16="http://schemas.microsoft.com/office/drawing/2014/main" id="{F6AE6BAE-D5C2-120C-A495-864ADF84CF4E}"/>
              </a:ext>
            </a:extLst>
          </p:cNvPr>
          <p:cNvSpPr/>
          <p:nvPr/>
        </p:nvSpPr>
        <p:spPr>
          <a:xfrm>
            <a:off x="3644907" y="2476083"/>
            <a:ext cx="2091927" cy="611878"/>
          </a:xfrm>
          <a:prstGeom prst="rect">
            <a:avLst/>
          </a:prstGeom>
          <a:noFill/>
          <a:ln/>
        </p:spPr>
        <p:txBody>
          <a:bodyPr wrap="square" lIns="0" tIns="0" rIns="0" bIns="0" rtlCol="0" anchor="ctr"/>
          <a:lstStyle/>
          <a:p>
            <a:pPr marL="0" indent="0">
              <a:buNone/>
            </a:pPr>
            <a:r>
              <a:rPr lang="en-US" sz="1200" b="1" dirty="0">
                <a:solidFill>
                  <a:srgbClr val="232B32"/>
                </a:solidFill>
                <a:latin typeface="Poppins" panose="00000500000000000000" pitchFamily="2" charset="0"/>
                <a:cs typeface="Poppins" panose="00000500000000000000" pitchFamily="2" charset="0"/>
              </a:rPr>
              <a:t>Immediate change in knowledge, attitude, capacity</a:t>
            </a:r>
            <a:endParaRPr lang="en-US" sz="1200" dirty="0">
              <a:latin typeface="Poppins" panose="00000500000000000000" pitchFamily="2" charset="0"/>
              <a:cs typeface="Poppins" panose="00000500000000000000" pitchFamily="2" charset="0"/>
            </a:endParaRPr>
          </a:p>
        </p:txBody>
      </p:sp>
      <p:sp>
        <p:nvSpPr>
          <p:cNvPr id="19" name="Text 13">
            <a:extLst>
              <a:ext uri="{FF2B5EF4-FFF2-40B4-BE49-F238E27FC236}">
                <a16:creationId xmlns:a16="http://schemas.microsoft.com/office/drawing/2014/main" id="{14CC4894-61EB-1154-AD17-C777756DA32C}"/>
              </a:ext>
            </a:extLst>
          </p:cNvPr>
          <p:cNvSpPr/>
          <p:nvPr/>
        </p:nvSpPr>
        <p:spPr>
          <a:xfrm>
            <a:off x="3605389" y="3053465"/>
            <a:ext cx="2091927" cy="529467"/>
          </a:xfrm>
          <a:prstGeom prst="rect">
            <a:avLst/>
          </a:prstGeom>
          <a:noFill/>
          <a:ln/>
        </p:spPr>
        <p:txBody>
          <a:bodyPr wrap="square" lIns="0" tIns="0" rIns="0" bIns="0" rtlCol="0" anchor="ctr"/>
          <a:lstStyle/>
          <a:p>
            <a:pPr marL="0" indent="0">
              <a:buNone/>
            </a:pPr>
            <a:r>
              <a:rPr lang="en-US" sz="1100" i="1" dirty="0">
                <a:solidFill>
                  <a:srgbClr val="5B6670"/>
                </a:solidFill>
                <a:latin typeface="Poppins" panose="00000500000000000000" pitchFamily="2" charset="0"/>
                <a:cs typeface="Poppins" panose="00000500000000000000" pitchFamily="2" charset="0"/>
              </a:rPr>
              <a:t>Farmers adopt the new variety after training</a:t>
            </a:r>
            <a:endParaRPr lang="en-US" sz="1100" dirty="0">
              <a:latin typeface="Poppins" panose="00000500000000000000" pitchFamily="2" charset="0"/>
              <a:cs typeface="Poppins" panose="00000500000000000000" pitchFamily="2" charset="0"/>
            </a:endParaRPr>
          </a:p>
        </p:txBody>
      </p:sp>
      <p:sp>
        <p:nvSpPr>
          <p:cNvPr id="21" name="Shape 14">
            <a:extLst>
              <a:ext uri="{FF2B5EF4-FFF2-40B4-BE49-F238E27FC236}">
                <a16:creationId xmlns:a16="http://schemas.microsoft.com/office/drawing/2014/main" id="{FB4EDEE4-EDF8-C1E6-4736-5B32CE89ABD6}"/>
              </a:ext>
            </a:extLst>
          </p:cNvPr>
          <p:cNvSpPr/>
          <p:nvPr/>
        </p:nvSpPr>
        <p:spPr>
          <a:xfrm>
            <a:off x="6044470" y="1973163"/>
            <a:ext cx="2399563" cy="1672467"/>
          </a:xfrm>
          <a:prstGeom prst="roundRect">
            <a:avLst>
              <a:gd name="adj" fmla="val 4878"/>
            </a:avLst>
          </a:prstGeom>
          <a:solidFill>
            <a:srgbClr val="1F4E79"/>
          </a:solidFill>
          <a:ln/>
        </p:spPr>
      </p:sp>
      <p:sp>
        <p:nvSpPr>
          <p:cNvPr id="23" name="Text 15">
            <a:extLst>
              <a:ext uri="{FF2B5EF4-FFF2-40B4-BE49-F238E27FC236}">
                <a16:creationId xmlns:a16="http://schemas.microsoft.com/office/drawing/2014/main" id="{9B949B32-F798-CB06-4E7E-7A883950AFD8}"/>
              </a:ext>
            </a:extLst>
          </p:cNvPr>
          <p:cNvSpPr/>
          <p:nvPr/>
        </p:nvSpPr>
        <p:spPr>
          <a:xfrm>
            <a:off x="6273070" y="2110323"/>
            <a:ext cx="2091927" cy="326335"/>
          </a:xfrm>
          <a:prstGeom prst="rect">
            <a:avLst/>
          </a:prstGeom>
          <a:noFill/>
          <a:ln/>
        </p:spPr>
        <p:txBody>
          <a:bodyPr wrap="square" lIns="0" tIns="0" rIns="0" bIns="0" rtlCol="0" anchor="ctr"/>
          <a:lstStyle/>
          <a:p>
            <a:pPr marL="0" indent="0">
              <a:buNone/>
            </a:pPr>
            <a:r>
              <a:rPr lang="en-US" sz="1500" b="1" dirty="0">
                <a:solidFill>
                  <a:srgbClr val="FFFFFF"/>
                </a:solidFill>
                <a:latin typeface="Poppins" panose="00000500000000000000" pitchFamily="2" charset="0"/>
                <a:cs typeface="Poppins" panose="00000500000000000000" pitchFamily="2" charset="0"/>
              </a:rPr>
              <a:t>IMPACT</a:t>
            </a:r>
            <a:endParaRPr lang="en-US" sz="1500" dirty="0">
              <a:latin typeface="Poppins" panose="00000500000000000000" pitchFamily="2" charset="0"/>
              <a:cs typeface="Poppins" panose="00000500000000000000" pitchFamily="2" charset="0"/>
            </a:endParaRPr>
          </a:p>
        </p:txBody>
      </p:sp>
      <p:sp>
        <p:nvSpPr>
          <p:cNvPr id="25" name="Text 16">
            <a:extLst>
              <a:ext uri="{FF2B5EF4-FFF2-40B4-BE49-F238E27FC236}">
                <a16:creationId xmlns:a16="http://schemas.microsoft.com/office/drawing/2014/main" id="{E85A5CE6-F3F5-C794-DB60-F881BE67BEB9}"/>
              </a:ext>
            </a:extLst>
          </p:cNvPr>
          <p:cNvSpPr/>
          <p:nvPr/>
        </p:nvSpPr>
        <p:spPr>
          <a:xfrm>
            <a:off x="6273070" y="2418561"/>
            <a:ext cx="2091927" cy="514143"/>
          </a:xfrm>
          <a:prstGeom prst="rect">
            <a:avLst/>
          </a:prstGeom>
          <a:noFill/>
          <a:ln/>
        </p:spPr>
        <p:txBody>
          <a:bodyPr wrap="square" lIns="0" tIns="0" rIns="0" bIns="0" rtlCol="0" anchor="ctr"/>
          <a:lstStyle/>
          <a:p>
            <a:pPr marL="0" indent="0">
              <a:buNone/>
            </a:pPr>
            <a:r>
              <a:rPr lang="en-US" sz="1200" b="1" dirty="0">
                <a:solidFill>
                  <a:srgbClr val="FFFFFF"/>
                </a:solidFill>
                <a:latin typeface="Poppins" panose="00000500000000000000" pitchFamily="2" charset="0"/>
                <a:cs typeface="Poppins" panose="00000500000000000000" pitchFamily="2" charset="0"/>
              </a:rPr>
              <a:t>Longer-term, wider societal or environmental change</a:t>
            </a:r>
            <a:endParaRPr lang="en-US" sz="1200" dirty="0">
              <a:latin typeface="Poppins" panose="00000500000000000000" pitchFamily="2" charset="0"/>
              <a:cs typeface="Poppins" panose="00000500000000000000" pitchFamily="2" charset="0"/>
            </a:endParaRPr>
          </a:p>
        </p:txBody>
      </p:sp>
      <p:sp>
        <p:nvSpPr>
          <p:cNvPr id="27" name="Text 17">
            <a:extLst>
              <a:ext uri="{FF2B5EF4-FFF2-40B4-BE49-F238E27FC236}">
                <a16:creationId xmlns:a16="http://schemas.microsoft.com/office/drawing/2014/main" id="{5C81776F-5CEC-33F9-4F2D-15636BA04A55}"/>
              </a:ext>
            </a:extLst>
          </p:cNvPr>
          <p:cNvSpPr/>
          <p:nvPr/>
        </p:nvSpPr>
        <p:spPr>
          <a:xfrm>
            <a:off x="6273070" y="3001505"/>
            <a:ext cx="2186477" cy="427694"/>
          </a:xfrm>
          <a:prstGeom prst="rect">
            <a:avLst/>
          </a:prstGeom>
          <a:noFill/>
          <a:ln/>
        </p:spPr>
        <p:txBody>
          <a:bodyPr wrap="square" lIns="0" tIns="0" rIns="0" bIns="0" rtlCol="0" anchor="ctr"/>
          <a:lstStyle/>
          <a:p>
            <a:pPr marL="0" indent="0">
              <a:buNone/>
            </a:pPr>
            <a:r>
              <a:rPr lang="en-US" sz="1100" i="1" dirty="0">
                <a:solidFill>
                  <a:srgbClr val="EEF1F4"/>
                </a:solidFill>
                <a:latin typeface="Poppins" panose="00000500000000000000" pitchFamily="2" charset="0"/>
                <a:cs typeface="Poppins" panose="00000500000000000000" pitchFamily="2" charset="0"/>
              </a:rPr>
              <a:t>Measurable reduction in crop failure; improved food security</a:t>
            </a:r>
            <a:endParaRPr lang="en-US" sz="1100" dirty="0">
              <a:latin typeface="Poppins" panose="00000500000000000000" pitchFamily="2" charset="0"/>
              <a:cs typeface="Poppins" panose="00000500000000000000" pitchFamily="2" charset="0"/>
            </a:endParaRPr>
          </a:p>
        </p:txBody>
      </p:sp>
      <p:sp>
        <p:nvSpPr>
          <p:cNvPr id="29" name="TextBox 28">
            <a:extLst>
              <a:ext uri="{FF2B5EF4-FFF2-40B4-BE49-F238E27FC236}">
                <a16:creationId xmlns:a16="http://schemas.microsoft.com/office/drawing/2014/main" id="{7F600425-8D32-9C24-7E74-EC3CB8D58E81}"/>
              </a:ext>
            </a:extLst>
          </p:cNvPr>
          <p:cNvSpPr txBox="1"/>
          <p:nvPr/>
        </p:nvSpPr>
        <p:spPr>
          <a:xfrm>
            <a:off x="641500" y="1356982"/>
            <a:ext cx="7723497" cy="369332"/>
          </a:xfrm>
          <a:prstGeom prst="rect">
            <a:avLst/>
          </a:prstGeom>
          <a:noFill/>
        </p:spPr>
        <p:txBody>
          <a:bodyPr wrap="square">
            <a:spAutoFit/>
          </a:bodyPr>
          <a:lstStyle/>
          <a:p>
            <a:r>
              <a:rPr lang="en-US" sz="1800" i="1" dirty="0">
                <a:solidFill>
                  <a:srgbClr val="FFFF00"/>
                </a:solidFill>
                <a:latin typeface="Poppins" panose="00000500000000000000" pitchFamily="2" charset="0"/>
                <a:cs typeface="Poppins" panose="00000500000000000000" pitchFamily="2" charset="0"/>
              </a:rPr>
              <a:t>Research Impact is distinct from academic output and outcome.</a:t>
            </a:r>
            <a:endParaRPr lang="en-KE" sz="1800" dirty="0">
              <a:solidFill>
                <a:srgbClr val="FFFF00"/>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40136729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44CA1-4F87-17F1-D1FE-655C7EE314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2E54A8-E7EE-2111-34AE-8F1AF1C1C1F2}"/>
              </a:ext>
            </a:extLst>
          </p:cNvPr>
          <p:cNvSpPr>
            <a:spLocks noGrp="1"/>
          </p:cNvSpPr>
          <p:nvPr>
            <p:ph type="title"/>
          </p:nvPr>
        </p:nvSpPr>
        <p:spPr>
          <a:xfrm>
            <a:off x="736050" y="221438"/>
            <a:ext cx="7852200" cy="861000"/>
          </a:xfrm>
        </p:spPr>
        <p:txBody>
          <a:bodyPr/>
          <a:lstStyle/>
          <a:p>
            <a:r>
              <a:rPr lang="en-GB" dirty="0"/>
              <a:t>Domains of Impact</a:t>
            </a:r>
          </a:p>
        </p:txBody>
      </p:sp>
      <p:sp>
        <p:nvSpPr>
          <p:cNvPr id="3" name="Content Placeholder 2">
            <a:extLst>
              <a:ext uri="{FF2B5EF4-FFF2-40B4-BE49-F238E27FC236}">
                <a16:creationId xmlns:a16="http://schemas.microsoft.com/office/drawing/2014/main" id="{DB69B31A-9425-40A7-DC1A-ACD446862B05}"/>
              </a:ext>
            </a:extLst>
          </p:cNvPr>
          <p:cNvSpPr>
            <a:spLocks noGrp="1"/>
          </p:cNvSpPr>
          <p:nvPr>
            <p:ph idx="1"/>
          </p:nvPr>
        </p:nvSpPr>
        <p:spPr>
          <a:xfrm>
            <a:off x="469759" y="1461248"/>
            <a:ext cx="8118491" cy="2289952"/>
          </a:xfrm>
        </p:spPr>
        <p:txBody>
          <a:bodyPr/>
          <a:lstStyle/>
          <a:p>
            <a:pPr>
              <a:buClr>
                <a:schemeClr val="tx2"/>
              </a:buClr>
            </a:pPr>
            <a:r>
              <a:rPr lang="en-US" sz="1600" b="1" dirty="0">
                <a:solidFill>
                  <a:srgbClr val="FFFF00"/>
                </a:solidFill>
              </a:rPr>
              <a:t>Contribution</a:t>
            </a:r>
            <a:r>
              <a:rPr lang="en-US" sz="1600" dirty="0">
                <a:solidFill>
                  <a:schemeClr val="tx2"/>
                </a:solidFill>
              </a:rPr>
              <a:t> </a:t>
            </a:r>
            <a:r>
              <a:rPr lang="en-US" sz="1600" dirty="0">
                <a:solidFill>
                  <a:schemeClr val="tx2"/>
                </a:solidFill>
                <a:sym typeface="Wingdings" panose="05000000000000000000" pitchFamily="2" charset="2"/>
              </a:rPr>
              <a:t> The areas of research impact including economy, environment, health, quality of life, community, organization etc.</a:t>
            </a:r>
            <a:endParaRPr lang="en-US" sz="1600" dirty="0">
              <a:solidFill>
                <a:schemeClr val="tx2"/>
              </a:solidFill>
            </a:endParaRPr>
          </a:p>
          <a:p>
            <a:pPr>
              <a:buClr>
                <a:schemeClr val="tx2"/>
              </a:buClr>
            </a:pPr>
            <a:r>
              <a:rPr lang="en-US" sz="1600" b="1" dirty="0">
                <a:solidFill>
                  <a:srgbClr val="FFFF00"/>
                </a:solidFill>
              </a:rPr>
              <a:t>Avenues</a:t>
            </a:r>
            <a:r>
              <a:rPr lang="en-US" sz="1600" dirty="0">
                <a:solidFill>
                  <a:schemeClr val="tx2"/>
                </a:solidFill>
              </a:rPr>
              <a:t> </a:t>
            </a:r>
            <a:r>
              <a:rPr lang="en-US" sz="1600" dirty="0">
                <a:solidFill>
                  <a:schemeClr val="tx2"/>
                </a:solidFill>
                <a:sym typeface="Wingdings" panose="05000000000000000000" pitchFamily="2" charset="2"/>
              </a:rPr>
              <a:t> Mechanisms or Processes by which research could have impact e.g. Effects on knowledge, understanding, awareness and/or attitudes</a:t>
            </a:r>
            <a:endParaRPr lang="en-US" sz="1600" dirty="0">
              <a:solidFill>
                <a:schemeClr val="tx2"/>
              </a:solidFill>
            </a:endParaRPr>
          </a:p>
          <a:p>
            <a:pPr>
              <a:buClr>
                <a:schemeClr val="tx2"/>
              </a:buClr>
            </a:pPr>
            <a:r>
              <a:rPr lang="en-US" sz="1600" b="1" dirty="0">
                <a:solidFill>
                  <a:srgbClr val="FFFF00"/>
                </a:solidFill>
              </a:rPr>
              <a:t>Change</a:t>
            </a:r>
            <a:r>
              <a:rPr lang="en-US" sz="1600" dirty="0">
                <a:solidFill>
                  <a:schemeClr val="tx2"/>
                </a:solidFill>
              </a:rPr>
              <a:t> </a:t>
            </a:r>
            <a:r>
              <a:rPr lang="en-US" sz="1600" dirty="0">
                <a:solidFill>
                  <a:schemeClr val="tx2"/>
                </a:solidFill>
                <a:sym typeface="Wingdings" panose="05000000000000000000" pitchFamily="2" charset="2"/>
              </a:rPr>
              <a:t>  Effect or benefit to the area of influence</a:t>
            </a:r>
            <a:endParaRPr lang="en-US" sz="1600" dirty="0">
              <a:solidFill>
                <a:schemeClr val="tx2"/>
              </a:solidFill>
            </a:endParaRPr>
          </a:p>
          <a:p>
            <a:pPr>
              <a:buClr>
                <a:schemeClr val="tx2"/>
              </a:buClr>
            </a:pPr>
            <a:r>
              <a:rPr lang="en-US" sz="1600" b="1" dirty="0">
                <a:solidFill>
                  <a:srgbClr val="FFFF00"/>
                </a:solidFill>
              </a:rPr>
              <a:t>Levels</a:t>
            </a:r>
            <a:r>
              <a:rPr lang="en-US" sz="1600" dirty="0">
                <a:solidFill>
                  <a:schemeClr val="tx2"/>
                </a:solidFill>
              </a:rPr>
              <a:t> </a:t>
            </a:r>
            <a:r>
              <a:rPr lang="en-US" sz="1600" dirty="0">
                <a:solidFill>
                  <a:schemeClr val="tx2"/>
                </a:solidFill>
                <a:sym typeface="Wingdings" panose="05000000000000000000" pitchFamily="2" charset="2"/>
              </a:rPr>
              <a:t> Scale e.g. individual, local national, international</a:t>
            </a:r>
            <a:endParaRPr lang="en-US" sz="1600" dirty="0">
              <a:solidFill>
                <a:schemeClr val="tx2"/>
              </a:solidFill>
            </a:endParaRPr>
          </a:p>
        </p:txBody>
      </p:sp>
      <p:sp>
        <p:nvSpPr>
          <p:cNvPr id="7" name="TextBox 6">
            <a:extLst>
              <a:ext uri="{FF2B5EF4-FFF2-40B4-BE49-F238E27FC236}">
                <a16:creationId xmlns:a16="http://schemas.microsoft.com/office/drawing/2014/main" id="{4F184886-E56A-04E5-C864-824E22A3D7CF}"/>
              </a:ext>
            </a:extLst>
          </p:cNvPr>
          <p:cNvSpPr txBox="1"/>
          <p:nvPr/>
        </p:nvSpPr>
        <p:spPr>
          <a:xfrm>
            <a:off x="831600" y="3751200"/>
            <a:ext cx="4687200" cy="692497"/>
          </a:xfrm>
          <a:prstGeom prst="rect">
            <a:avLst/>
          </a:prstGeom>
          <a:noFill/>
        </p:spPr>
        <p:txBody>
          <a:bodyPr wrap="square">
            <a:spAutoFit/>
          </a:bodyPr>
          <a:lstStyle/>
          <a:p>
            <a:r>
              <a:rPr lang="en-KE" sz="975" b="0" i="0" dirty="0">
                <a:solidFill>
                  <a:schemeClr val="tx2"/>
                </a:solidFill>
                <a:effectLst/>
                <a:latin typeface="Arial" panose="020B0604020202020204" pitchFamily="34" charset="0"/>
              </a:rPr>
              <a:t>Alla, K., Hall, W. D., Whiteford, H. A., Head, B. W., &amp; </a:t>
            </a:r>
            <a:r>
              <a:rPr lang="en-KE" sz="975" b="0" i="0" dirty="0" err="1">
                <a:solidFill>
                  <a:schemeClr val="tx2"/>
                </a:solidFill>
                <a:effectLst/>
                <a:latin typeface="Arial" panose="020B0604020202020204" pitchFamily="34" charset="0"/>
              </a:rPr>
              <a:t>Meurk</a:t>
            </a:r>
            <a:r>
              <a:rPr lang="en-KE" sz="975" b="0" i="0" dirty="0">
                <a:solidFill>
                  <a:schemeClr val="tx2"/>
                </a:solidFill>
                <a:effectLst/>
                <a:latin typeface="Arial" panose="020B0604020202020204" pitchFamily="34" charset="0"/>
              </a:rPr>
              <a:t>, C. S. (2017). How do we define the policy impact of public health research? A systematic review. </a:t>
            </a:r>
            <a:r>
              <a:rPr lang="en-KE" sz="975" b="0" i="1" dirty="0">
                <a:solidFill>
                  <a:schemeClr val="tx2"/>
                </a:solidFill>
                <a:effectLst/>
                <a:latin typeface="Arial" panose="020B0604020202020204" pitchFamily="34" charset="0"/>
              </a:rPr>
              <a:t>Health research policy and systems</a:t>
            </a:r>
            <a:r>
              <a:rPr lang="en-KE" sz="975" b="0" i="0" dirty="0">
                <a:solidFill>
                  <a:schemeClr val="tx2"/>
                </a:solidFill>
                <a:effectLst/>
                <a:latin typeface="Arial" panose="020B0604020202020204" pitchFamily="34" charset="0"/>
              </a:rPr>
              <a:t>, </a:t>
            </a:r>
            <a:r>
              <a:rPr lang="en-KE" sz="975" b="0" i="1" dirty="0">
                <a:solidFill>
                  <a:schemeClr val="tx2"/>
                </a:solidFill>
                <a:effectLst/>
                <a:latin typeface="Arial" panose="020B0604020202020204" pitchFamily="34" charset="0"/>
              </a:rPr>
              <a:t>15</a:t>
            </a:r>
            <a:r>
              <a:rPr lang="en-KE" sz="975" b="0" i="0" dirty="0">
                <a:solidFill>
                  <a:schemeClr val="tx2"/>
                </a:solidFill>
                <a:effectLst/>
                <a:latin typeface="Arial" panose="020B0604020202020204" pitchFamily="34" charset="0"/>
              </a:rPr>
              <a:t>(1), 84.</a:t>
            </a:r>
            <a:r>
              <a:rPr lang="en-US" sz="975" dirty="0">
                <a:solidFill>
                  <a:schemeClr val="tx2"/>
                </a:solidFill>
                <a:latin typeface="Arial" panose="020B0604020202020204" pitchFamily="34" charset="0"/>
              </a:rPr>
              <a:t> </a:t>
            </a:r>
            <a:r>
              <a:rPr lang="en-US" sz="975" dirty="0">
                <a:solidFill>
                  <a:schemeClr val="tx2"/>
                </a:solidFill>
                <a:latin typeface="Arial" panose="020B0604020202020204" pitchFamily="34" charset="0"/>
                <a:hlinkClick r:id="rId2"/>
              </a:rPr>
              <a:t>https://link.springer.com/content/pdf/10.1186/s12961-017-0247-z.pdf</a:t>
            </a:r>
            <a:r>
              <a:rPr lang="en-US" sz="975" dirty="0">
                <a:solidFill>
                  <a:schemeClr val="tx2"/>
                </a:solidFill>
                <a:latin typeface="Arial" panose="020B0604020202020204" pitchFamily="34" charset="0"/>
              </a:rPr>
              <a:t> </a:t>
            </a:r>
            <a:endParaRPr lang="en-KE" dirty="0">
              <a:solidFill>
                <a:schemeClr val="tx2"/>
              </a:solidFill>
            </a:endParaRPr>
          </a:p>
        </p:txBody>
      </p:sp>
    </p:spTree>
    <p:extLst>
      <p:ext uri="{BB962C8B-B14F-4D97-AF65-F5344CB8AC3E}">
        <p14:creationId xmlns:p14="http://schemas.microsoft.com/office/powerpoint/2010/main" val="879209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2EE8205-2F47-5CAF-CEA7-72A3DD3096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20D34F-71C7-1318-198E-6474A53B397C}"/>
              </a:ext>
            </a:extLst>
          </p:cNvPr>
          <p:cNvSpPr>
            <a:spLocks noGrp="1"/>
          </p:cNvSpPr>
          <p:nvPr>
            <p:ph type="title"/>
          </p:nvPr>
        </p:nvSpPr>
        <p:spPr>
          <a:xfrm>
            <a:off x="490250" y="1025912"/>
            <a:ext cx="7314550" cy="601288"/>
          </a:xfrm>
        </p:spPr>
        <p:txBody>
          <a:bodyPr/>
          <a:lstStyle/>
          <a:p>
            <a:r>
              <a:rPr lang="en-GB" sz="2400" b="1" dirty="0"/>
              <a:t>Frameworks for planning and tracing impact</a:t>
            </a:r>
          </a:p>
        </p:txBody>
      </p:sp>
      <p:sp>
        <p:nvSpPr>
          <p:cNvPr id="3" name="Content Placeholder 2">
            <a:extLst>
              <a:ext uri="{FF2B5EF4-FFF2-40B4-BE49-F238E27FC236}">
                <a16:creationId xmlns:a16="http://schemas.microsoft.com/office/drawing/2014/main" id="{40F1449D-B166-0238-104A-EA9AAAAA7BDE}"/>
              </a:ext>
            </a:extLst>
          </p:cNvPr>
          <p:cNvSpPr>
            <a:spLocks noGrp="1"/>
          </p:cNvSpPr>
          <p:nvPr>
            <p:ph idx="1"/>
          </p:nvPr>
        </p:nvSpPr>
        <p:spPr>
          <a:xfrm>
            <a:off x="490250" y="1907873"/>
            <a:ext cx="8118491" cy="1936525"/>
          </a:xfrm>
        </p:spPr>
        <p:txBody>
          <a:bodyPr/>
          <a:lstStyle/>
          <a:p>
            <a:pPr>
              <a:buClr>
                <a:schemeClr val="bg2">
                  <a:lumMod val="50000"/>
                </a:schemeClr>
              </a:buClr>
            </a:pPr>
            <a:r>
              <a:rPr lang="en-US" sz="1200" b="1" dirty="0">
                <a:solidFill>
                  <a:srgbClr val="002060"/>
                </a:solidFill>
              </a:rPr>
              <a:t>Logical Framework Approach</a:t>
            </a:r>
            <a:r>
              <a:rPr lang="en-US" sz="1200" dirty="0">
                <a:solidFill>
                  <a:schemeClr val="bg2">
                    <a:lumMod val="50000"/>
                  </a:schemeClr>
                </a:solidFill>
              </a:rPr>
              <a:t>: Matrix linking inputs, activities, outputs, outcomes, and goal — with indicators and assumptions</a:t>
            </a:r>
          </a:p>
          <a:p>
            <a:pPr>
              <a:buClr>
                <a:schemeClr val="bg2">
                  <a:lumMod val="50000"/>
                </a:schemeClr>
              </a:buClr>
            </a:pPr>
            <a:r>
              <a:rPr lang="en-US" sz="1200" b="1" dirty="0">
                <a:solidFill>
                  <a:srgbClr val="002060"/>
                </a:solidFill>
              </a:rPr>
              <a:t>Theory of change</a:t>
            </a:r>
            <a:r>
              <a:rPr lang="en-US" sz="1200" dirty="0">
                <a:solidFill>
                  <a:schemeClr val="bg2">
                    <a:lumMod val="50000"/>
                  </a:schemeClr>
                </a:solidFill>
              </a:rPr>
              <a:t>: Matrix linking inputs, activities, outputs, outcomes, and goal — with indicators and assumptions</a:t>
            </a:r>
          </a:p>
          <a:p>
            <a:pPr>
              <a:buClr>
                <a:schemeClr val="bg2">
                  <a:lumMod val="50000"/>
                </a:schemeClr>
              </a:buClr>
            </a:pPr>
            <a:r>
              <a:rPr lang="en-US" sz="1200" b="1" dirty="0">
                <a:solidFill>
                  <a:srgbClr val="002060"/>
                </a:solidFill>
                <a:sym typeface="Wingdings" panose="05000000000000000000" pitchFamily="2" charset="2"/>
              </a:rPr>
              <a:t>Outcome mapping</a:t>
            </a:r>
            <a:r>
              <a:rPr lang="en-US" sz="1200" dirty="0">
                <a:solidFill>
                  <a:schemeClr val="bg2">
                    <a:lumMod val="50000"/>
                  </a:schemeClr>
                </a:solidFill>
                <a:sym typeface="Wingdings" panose="05000000000000000000" pitchFamily="2" charset="2"/>
              </a:rPr>
              <a:t>: Focuses on behavior change in "boundary partners" rather than distant, hard-to-attribute impacts</a:t>
            </a:r>
          </a:p>
          <a:p>
            <a:pPr>
              <a:buClr>
                <a:schemeClr val="bg2">
                  <a:lumMod val="50000"/>
                </a:schemeClr>
              </a:buClr>
            </a:pPr>
            <a:r>
              <a:rPr lang="en-US" sz="1200" b="1" dirty="0">
                <a:solidFill>
                  <a:srgbClr val="002060"/>
                </a:solidFill>
                <a:sym typeface="Wingdings" panose="05000000000000000000" pitchFamily="2" charset="2"/>
              </a:rPr>
              <a:t>Contribution analysis</a:t>
            </a:r>
            <a:r>
              <a:rPr lang="en-US" sz="1200" dirty="0">
                <a:solidFill>
                  <a:schemeClr val="bg2">
                    <a:lumMod val="50000"/>
                  </a:schemeClr>
                </a:solidFill>
                <a:sym typeface="Wingdings" panose="05000000000000000000" pitchFamily="2" charset="2"/>
              </a:rPr>
              <a:t>: Builds a credible, evidence-based case for research's plausible contribution alongside other factors</a:t>
            </a:r>
            <a:endParaRPr lang="en-US" sz="1200" dirty="0">
              <a:solidFill>
                <a:schemeClr val="bg2">
                  <a:lumMod val="50000"/>
                </a:schemeClr>
              </a:solidFill>
            </a:endParaRPr>
          </a:p>
        </p:txBody>
      </p:sp>
    </p:spTree>
    <p:extLst>
      <p:ext uri="{BB962C8B-B14F-4D97-AF65-F5344CB8AC3E}">
        <p14:creationId xmlns:p14="http://schemas.microsoft.com/office/powerpoint/2010/main" val="454794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661FF3F-6F2F-DCF6-2178-A156ACA8B815}"/>
            </a:ext>
          </a:extLst>
        </p:cNvPr>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794F68AB-A0AD-D17B-BBA4-9A2D0E70B76C}"/>
              </a:ext>
            </a:extLst>
          </p:cNvPr>
          <p:cNvGraphicFramePr>
            <a:graphicFrameLocks noGrp="1"/>
          </p:cNvGraphicFramePr>
          <p:nvPr>
            <p:extLst>
              <p:ext uri="{D42A27DB-BD31-4B8C-83A1-F6EECF244321}">
                <p14:modId xmlns:p14="http://schemas.microsoft.com/office/powerpoint/2010/main" val="3117626795"/>
              </p:ext>
            </p:extLst>
          </p:nvPr>
        </p:nvGraphicFramePr>
        <p:xfrm>
          <a:off x="748799" y="1080000"/>
          <a:ext cx="8064001" cy="3457847"/>
        </p:xfrm>
        <a:graphic>
          <a:graphicData uri="http://schemas.openxmlformats.org/drawingml/2006/table">
            <a:tbl>
              <a:tblPr/>
              <a:tblGrid>
                <a:gridCol w="2016001">
                  <a:extLst>
                    <a:ext uri="{9D8B030D-6E8A-4147-A177-3AD203B41FA5}">
                      <a16:colId xmlns:a16="http://schemas.microsoft.com/office/drawing/2014/main" val="2409648408"/>
                    </a:ext>
                  </a:extLst>
                </a:gridCol>
                <a:gridCol w="2283948">
                  <a:extLst>
                    <a:ext uri="{9D8B030D-6E8A-4147-A177-3AD203B41FA5}">
                      <a16:colId xmlns:a16="http://schemas.microsoft.com/office/drawing/2014/main" val="2691777496"/>
                    </a:ext>
                  </a:extLst>
                </a:gridCol>
                <a:gridCol w="1748051">
                  <a:extLst>
                    <a:ext uri="{9D8B030D-6E8A-4147-A177-3AD203B41FA5}">
                      <a16:colId xmlns:a16="http://schemas.microsoft.com/office/drawing/2014/main" val="2608063646"/>
                    </a:ext>
                  </a:extLst>
                </a:gridCol>
                <a:gridCol w="2016001">
                  <a:extLst>
                    <a:ext uri="{9D8B030D-6E8A-4147-A177-3AD203B41FA5}">
                      <a16:colId xmlns:a16="http://schemas.microsoft.com/office/drawing/2014/main" val="3806567757"/>
                    </a:ext>
                  </a:extLst>
                </a:gridCol>
              </a:tblGrid>
              <a:tr h="221855">
                <a:tc>
                  <a:txBody>
                    <a:bodyPr/>
                    <a:lstStyle/>
                    <a:p>
                      <a:pPr algn="l" fontAlgn="ctr">
                        <a:buNone/>
                      </a:pPr>
                      <a:r>
                        <a:rPr lang="en-KE" sz="900" b="1" i="0" u="none" strike="noStrike" dirty="0">
                          <a:solidFill>
                            <a:srgbClr val="FFFFFF"/>
                          </a:solidFill>
                          <a:effectLst/>
                          <a:latin typeface="Poppins" panose="00000500000000000000" pitchFamily="2" charset="0"/>
                          <a:cs typeface="Poppins" panose="00000500000000000000" pitchFamily="2" charset="0"/>
                        </a:rPr>
                        <a:t>Narrative Summary</a:t>
                      </a:r>
                    </a:p>
                  </a:txBody>
                  <a:tcPr marL="4927" marR="4927" marT="4927" marB="0" anchor="ctr">
                    <a:lnL w="6350" cap="flat" cmpd="sng" algn="ctr">
                      <a:solidFill>
                        <a:srgbClr val="B7B7B7"/>
                      </a:solidFill>
                      <a:prstDash val="solid"/>
                      <a:round/>
                      <a:headEnd type="none" w="med" len="med"/>
                      <a:tailEnd type="none" w="med" len="med"/>
                    </a:lnL>
                    <a:lnR w="6350" cap="flat" cmpd="sng" algn="ctr">
                      <a:solidFill>
                        <a:srgbClr val="B7B7B7"/>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B7B7B7"/>
                      </a:solidFill>
                      <a:prstDash val="solid"/>
                      <a:round/>
                      <a:headEnd type="none" w="med" len="med"/>
                      <a:tailEnd type="none" w="med" len="med"/>
                    </a:lnB>
                    <a:solidFill>
                      <a:srgbClr val="002060"/>
                    </a:solidFill>
                  </a:tcPr>
                </a:tc>
                <a:tc>
                  <a:txBody>
                    <a:bodyPr/>
                    <a:lstStyle/>
                    <a:p>
                      <a:pPr algn="l" fontAlgn="ctr">
                        <a:buNone/>
                      </a:pPr>
                      <a:r>
                        <a:rPr lang="en-KE" sz="900" b="1" i="0" u="none" strike="noStrike">
                          <a:solidFill>
                            <a:srgbClr val="FFFFFF"/>
                          </a:solidFill>
                          <a:effectLst/>
                          <a:latin typeface="Poppins" panose="00000500000000000000" pitchFamily="2" charset="0"/>
                          <a:cs typeface="Poppins" panose="00000500000000000000" pitchFamily="2" charset="0"/>
                        </a:rPr>
                        <a:t>Objectively Verifiable Indicators (OVIs)</a:t>
                      </a:r>
                    </a:p>
                  </a:txBody>
                  <a:tcPr marL="4927" marR="4927" marT="4927" marB="0" anchor="ctr">
                    <a:lnL w="6350" cap="flat" cmpd="sng" algn="ctr">
                      <a:solidFill>
                        <a:srgbClr val="B7B7B7"/>
                      </a:solidFill>
                      <a:prstDash val="solid"/>
                      <a:round/>
                      <a:headEnd type="none" w="med" len="med"/>
                      <a:tailEnd type="none" w="med" len="med"/>
                    </a:lnL>
                    <a:lnR w="6350" cap="flat" cmpd="sng" algn="ctr">
                      <a:solidFill>
                        <a:srgbClr val="B7B7B7"/>
                      </a:solidFill>
                      <a:prstDash val="solid"/>
                      <a:round/>
                      <a:headEnd type="none" w="med" len="med"/>
                      <a:tailEnd type="none" w="med" len="med"/>
                    </a:lnR>
                    <a:lnT w="6350" cap="flat" cmpd="sng" algn="ctr">
                      <a:solidFill>
                        <a:srgbClr val="B7B7B7"/>
                      </a:solidFill>
                      <a:prstDash val="solid"/>
                      <a:round/>
                      <a:headEnd type="none" w="med" len="med"/>
                      <a:tailEnd type="none" w="med" len="med"/>
                    </a:lnT>
                    <a:lnB w="6350" cap="flat" cmpd="sng" algn="ctr">
                      <a:solidFill>
                        <a:srgbClr val="B7B7B7"/>
                      </a:solidFill>
                      <a:prstDash val="solid"/>
                      <a:round/>
                      <a:headEnd type="none" w="med" len="med"/>
                      <a:tailEnd type="none" w="med" len="med"/>
                    </a:lnB>
                    <a:solidFill>
                      <a:srgbClr val="002060"/>
                    </a:solidFill>
                  </a:tcPr>
                </a:tc>
                <a:tc>
                  <a:txBody>
                    <a:bodyPr/>
                    <a:lstStyle/>
                    <a:p>
                      <a:pPr algn="l" fontAlgn="ctr">
                        <a:buNone/>
                      </a:pPr>
                      <a:r>
                        <a:rPr lang="en-KE" sz="900" b="1" i="0" u="none" strike="noStrike">
                          <a:solidFill>
                            <a:srgbClr val="FFFFFF"/>
                          </a:solidFill>
                          <a:effectLst/>
                          <a:latin typeface="Poppins" panose="00000500000000000000" pitchFamily="2" charset="0"/>
                          <a:cs typeface="Poppins" panose="00000500000000000000" pitchFamily="2" charset="0"/>
                        </a:rPr>
                        <a:t>Means of Verification (MOV)</a:t>
                      </a:r>
                    </a:p>
                  </a:txBody>
                  <a:tcPr marL="4927" marR="4927" marT="4927" marB="0" anchor="ctr">
                    <a:lnL w="6350" cap="flat" cmpd="sng" algn="ctr">
                      <a:solidFill>
                        <a:srgbClr val="B7B7B7"/>
                      </a:solidFill>
                      <a:prstDash val="solid"/>
                      <a:round/>
                      <a:headEnd type="none" w="med" len="med"/>
                      <a:tailEnd type="none" w="med" len="med"/>
                    </a:lnL>
                    <a:lnR w="6350" cap="flat" cmpd="sng" algn="ctr">
                      <a:solidFill>
                        <a:srgbClr val="B7B7B7"/>
                      </a:solidFill>
                      <a:prstDash val="solid"/>
                      <a:round/>
                      <a:headEnd type="none" w="med" len="med"/>
                      <a:tailEnd type="none" w="med" len="med"/>
                    </a:lnR>
                    <a:lnT w="6350" cap="flat" cmpd="sng" algn="ctr">
                      <a:solidFill>
                        <a:srgbClr val="B7B7B7"/>
                      </a:solidFill>
                      <a:prstDash val="solid"/>
                      <a:round/>
                      <a:headEnd type="none" w="med" len="med"/>
                      <a:tailEnd type="none" w="med" len="med"/>
                    </a:lnT>
                    <a:lnB w="6350" cap="flat" cmpd="sng" algn="ctr">
                      <a:solidFill>
                        <a:srgbClr val="B7B7B7"/>
                      </a:solidFill>
                      <a:prstDash val="solid"/>
                      <a:round/>
                      <a:headEnd type="none" w="med" len="med"/>
                      <a:tailEnd type="none" w="med" len="med"/>
                    </a:lnB>
                    <a:solidFill>
                      <a:srgbClr val="002060"/>
                    </a:solidFill>
                  </a:tcPr>
                </a:tc>
                <a:tc>
                  <a:txBody>
                    <a:bodyPr/>
                    <a:lstStyle/>
                    <a:p>
                      <a:pPr algn="l" fontAlgn="ctr">
                        <a:buNone/>
                      </a:pPr>
                      <a:r>
                        <a:rPr lang="en-KE" sz="900" b="1" i="0" u="none" strike="noStrike" dirty="0">
                          <a:solidFill>
                            <a:srgbClr val="FFFFFF"/>
                          </a:solidFill>
                          <a:effectLst/>
                          <a:latin typeface="Poppins" panose="00000500000000000000" pitchFamily="2" charset="0"/>
                          <a:cs typeface="Poppins" panose="00000500000000000000" pitchFamily="2" charset="0"/>
                        </a:rPr>
                        <a:t>Assumptions</a:t>
                      </a:r>
                    </a:p>
                  </a:txBody>
                  <a:tcPr marL="4927" marR="4927" marT="4927" marB="0" anchor="ctr">
                    <a:lnL w="6350" cap="flat" cmpd="sng" algn="ctr">
                      <a:solidFill>
                        <a:srgbClr val="B7B7B7"/>
                      </a:solidFill>
                      <a:prstDash val="solid"/>
                      <a:round/>
                      <a:headEnd type="none" w="med" len="med"/>
                      <a:tailEnd type="none" w="med" len="med"/>
                    </a:lnL>
                    <a:lnR w="6350" cap="flat" cmpd="sng" algn="ctr">
                      <a:solidFill>
                        <a:srgbClr val="B7B7B7"/>
                      </a:solidFill>
                      <a:prstDash val="solid"/>
                      <a:round/>
                      <a:headEnd type="none" w="med" len="med"/>
                      <a:tailEnd type="none" w="med" len="med"/>
                    </a:lnR>
                    <a:lnT w="6350" cap="flat" cmpd="sng" algn="ctr">
                      <a:solidFill>
                        <a:srgbClr val="B7B7B7"/>
                      </a:solidFill>
                      <a:prstDash val="solid"/>
                      <a:round/>
                      <a:headEnd type="none" w="med" len="med"/>
                      <a:tailEnd type="none" w="med" len="med"/>
                    </a:lnT>
                    <a:lnB w="6350" cap="flat" cmpd="sng" algn="ctr">
                      <a:solidFill>
                        <a:srgbClr val="B7B7B7"/>
                      </a:solidFill>
                      <a:prstDash val="solid"/>
                      <a:round/>
                      <a:headEnd type="none" w="med" len="med"/>
                      <a:tailEnd type="none" w="med" len="med"/>
                    </a:lnB>
                    <a:solidFill>
                      <a:srgbClr val="002060"/>
                    </a:solidFill>
                  </a:tcPr>
                </a:tc>
                <a:extLst>
                  <a:ext uri="{0D108BD9-81ED-4DB2-BD59-A6C34878D82A}">
                    <a16:rowId xmlns:a16="http://schemas.microsoft.com/office/drawing/2014/main" val="3620202157"/>
                  </a:ext>
                </a:extLst>
              </a:tr>
              <a:tr h="133113">
                <a:tc gridSpan="4">
                  <a:txBody>
                    <a:bodyPr/>
                    <a:lstStyle/>
                    <a:p>
                      <a:pPr algn="l" fontAlgn="ctr">
                        <a:buNone/>
                      </a:pPr>
                      <a:r>
                        <a:rPr lang="en-KE" sz="900" b="1" i="0" u="none" strike="noStrike">
                          <a:solidFill>
                            <a:srgbClr val="000000"/>
                          </a:solidFill>
                          <a:effectLst/>
                          <a:latin typeface="Poppins" panose="00000500000000000000" pitchFamily="2" charset="0"/>
                          <a:cs typeface="Poppins" panose="00000500000000000000" pitchFamily="2" charset="0"/>
                        </a:rPr>
                        <a:t>GOAL (IMPACT)</a:t>
                      </a:r>
                    </a:p>
                  </a:txBody>
                  <a:tcPr marL="4927" marR="4927" marT="4927" marB="0" anchor="ctr">
                    <a:lnL w="6350" cap="flat" cmpd="sng" algn="ctr">
                      <a:solidFill>
                        <a:srgbClr val="B7B7B7"/>
                      </a:solidFill>
                      <a:prstDash val="solid"/>
                      <a:round/>
                      <a:headEnd type="none" w="med" len="med"/>
                      <a:tailEnd type="none" w="med" len="med"/>
                    </a:lnL>
                    <a:lnR w="6350" cap="flat" cmpd="sng" algn="ctr">
                      <a:solidFill>
                        <a:srgbClr val="B7B7B7"/>
                      </a:solidFill>
                      <a:prstDash val="solid"/>
                      <a:round/>
                      <a:headEnd type="none" w="med" len="med"/>
                      <a:tailEnd type="none" w="med" len="med"/>
                    </a:lnR>
                    <a:lnT w="6350" cap="flat" cmpd="sng" algn="ctr">
                      <a:solidFill>
                        <a:srgbClr val="B7B7B7"/>
                      </a:solidFill>
                      <a:prstDash val="solid"/>
                      <a:round/>
                      <a:headEnd type="none" w="med" len="med"/>
                      <a:tailEnd type="none" w="med" len="med"/>
                    </a:lnT>
                    <a:lnB w="6350" cap="flat" cmpd="sng" algn="ctr">
                      <a:solidFill>
                        <a:srgbClr val="B7B7B7"/>
                      </a:solidFill>
                      <a:prstDash val="solid"/>
                      <a:round/>
                      <a:headEnd type="none" w="med" len="med"/>
                      <a:tailEnd type="none" w="med" len="med"/>
                    </a:lnB>
                    <a:solidFill>
                      <a:srgbClr val="E2EFDA"/>
                    </a:solidFill>
                  </a:tcPr>
                </a:tc>
                <a:tc hMerge="1">
                  <a:txBody>
                    <a:bodyPr/>
                    <a:lstStyle/>
                    <a:p>
                      <a:endParaRPr lang="en-KE"/>
                    </a:p>
                  </a:txBody>
                  <a:tcPr/>
                </a:tc>
                <a:tc hMerge="1">
                  <a:txBody>
                    <a:bodyPr/>
                    <a:lstStyle/>
                    <a:p>
                      <a:endParaRPr lang="en-KE"/>
                    </a:p>
                  </a:txBody>
                  <a:tcPr/>
                </a:tc>
                <a:tc hMerge="1">
                  <a:txBody>
                    <a:bodyPr/>
                    <a:lstStyle/>
                    <a:p>
                      <a:endParaRPr lang="en-KE"/>
                    </a:p>
                  </a:txBody>
                  <a:tcPr/>
                </a:tc>
                <a:extLst>
                  <a:ext uri="{0D108BD9-81ED-4DB2-BD59-A6C34878D82A}">
                    <a16:rowId xmlns:a16="http://schemas.microsoft.com/office/drawing/2014/main" val="2709433444"/>
                  </a:ext>
                </a:extLst>
              </a:tr>
              <a:tr h="426071">
                <a:tc>
                  <a:txBody>
                    <a:bodyPr/>
                    <a:lstStyle/>
                    <a:p>
                      <a:pPr algn="l" fontAlgn="t">
                        <a:buNone/>
                      </a:pPr>
                      <a:r>
                        <a:rPr lang="en-KE" sz="900" b="0" i="0" u="none" strike="noStrike" dirty="0">
                          <a:solidFill>
                            <a:srgbClr val="000000"/>
                          </a:solidFill>
                          <a:effectLst/>
                          <a:latin typeface="Poppins" panose="00000500000000000000" pitchFamily="2" charset="0"/>
                          <a:cs typeface="Poppins" panose="00000500000000000000" pitchFamily="2" charset="0"/>
                        </a:rPr>
                        <a:t>Improved food security and climate resilience for smallholder farming households</a:t>
                      </a:r>
                    </a:p>
                  </a:txBody>
                  <a:tcPr marL="4927" marR="4927" marT="4927" marB="0">
                    <a:lnL w="6350" cap="flat" cmpd="sng" algn="ctr">
                      <a:solidFill>
                        <a:srgbClr val="B7B7B7"/>
                      </a:solidFill>
                      <a:prstDash val="solid"/>
                      <a:round/>
                      <a:headEnd type="none" w="med" len="med"/>
                      <a:tailEnd type="none" w="med" len="med"/>
                    </a:lnL>
                    <a:lnR w="6350" cap="flat" cmpd="sng" algn="ctr">
                      <a:solidFill>
                        <a:srgbClr val="B7B7B7"/>
                      </a:solidFill>
                      <a:prstDash val="solid"/>
                      <a:round/>
                      <a:headEnd type="none" w="med" len="med"/>
                      <a:tailEnd type="none" w="med" len="med"/>
                    </a:lnR>
                    <a:lnT w="6350" cap="flat" cmpd="sng" algn="ctr">
                      <a:solidFill>
                        <a:srgbClr val="B7B7B7"/>
                      </a:solidFill>
                      <a:prstDash val="solid"/>
                      <a:round/>
                      <a:headEnd type="none" w="med" len="med"/>
                      <a:tailEnd type="none" w="med" len="med"/>
                    </a:lnT>
                    <a:lnB w="6350" cap="flat" cmpd="sng" algn="ctr">
                      <a:solidFill>
                        <a:srgbClr val="B7B7B7"/>
                      </a:solidFill>
                      <a:prstDash val="solid"/>
                      <a:round/>
                      <a:headEnd type="none" w="med" len="med"/>
                      <a:tailEnd type="none" w="med" len="med"/>
                    </a:lnB>
                    <a:noFill/>
                  </a:tcPr>
                </a:tc>
                <a:tc>
                  <a:txBody>
                    <a:bodyPr/>
                    <a:lstStyle/>
                    <a:p>
                      <a:pPr algn="l" fontAlgn="t">
                        <a:buNone/>
                      </a:pPr>
                      <a:r>
                        <a:rPr lang="en-KE" sz="900" b="0" i="0" u="none" strike="noStrike">
                          <a:solidFill>
                            <a:srgbClr val="000000"/>
                          </a:solidFill>
                          <a:effectLst/>
                          <a:latin typeface="Poppins" panose="00000500000000000000" pitchFamily="2" charset="0"/>
                          <a:cs typeface="Poppins" panose="00000500000000000000" pitchFamily="2" charset="0"/>
                        </a:rPr>
                        <a:t>% reduction in household food insecurity in target districts within 3 years of variety release</a:t>
                      </a:r>
                    </a:p>
                  </a:txBody>
                  <a:tcPr marL="4927" marR="4927" marT="4927" marB="0">
                    <a:lnL w="6350" cap="flat" cmpd="sng" algn="ctr">
                      <a:solidFill>
                        <a:srgbClr val="B7B7B7"/>
                      </a:solidFill>
                      <a:prstDash val="solid"/>
                      <a:round/>
                      <a:headEnd type="none" w="med" len="med"/>
                      <a:tailEnd type="none" w="med" len="med"/>
                    </a:lnL>
                    <a:lnR w="6350" cap="flat" cmpd="sng" algn="ctr">
                      <a:solidFill>
                        <a:srgbClr val="B7B7B7"/>
                      </a:solidFill>
                      <a:prstDash val="solid"/>
                      <a:round/>
                      <a:headEnd type="none" w="med" len="med"/>
                      <a:tailEnd type="none" w="med" len="med"/>
                    </a:lnR>
                    <a:lnT w="6350" cap="flat" cmpd="sng" algn="ctr">
                      <a:solidFill>
                        <a:srgbClr val="B7B7B7"/>
                      </a:solidFill>
                      <a:prstDash val="solid"/>
                      <a:round/>
                      <a:headEnd type="none" w="med" len="med"/>
                      <a:tailEnd type="none" w="med" len="med"/>
                    </a:lnT>
                    <a:lnB w="6350" cap="flat" cmpd="sng" algn="ctr">
                      <a:solidFill>
                        <a:srgbClr val="B7B7B7"/>
                      </a:solidFill>
                      <a:prstDash val="solid"/>
                      <a:round/>
                      <a:headEnd type="none" w="med" len="med"/>
                      <a:tailEnd type="none" w="med" len="med"/>
                    </a:lnB>
                    <a:noFill/>
                  </a:tcPr>
                </a:tc>
                <a:tc>
                  <a:txBody>
                    <a:bodyPr/>
                    <a:lstStyle/>
                    <a:p>
                      <a:pPr algn="l" fontAlgn="t">
                        <a:buNone/>
                      </a:pPr>
                      <a:r>
                        <a:rPr lang="en-KE" sz="900" b="0" i="0" u="none" strike="noStrike">
                          <a:solidFill>
                            <a:srgbClr val="000000"/>
                          </a:solidFill>
                          <a:effectLst/>
                          <a:latin typeface="Poppins" panose="00000500000000000000" pitchFamily="2" charset="0"/>
                          <a:cs typeface="Poppins" panose="00000500000000000000" pitchFamily="2" charset="0"/>
                        </a:rPr>
                        <a:t>District food security surveys; national agricultural statistics</a:t>
                      </a:r>
                    </a:p>
                  </a:txBody>
                  <a:tcPr marL="4927" marR="4927" marT="4927" marB="0">
                    <a:lnL w="6350" cap="flat" cmpd="sng" algn="ctr">
                      <a:solidFill>
                        <a:srgbClr val="B7B7B7"/>
                      </a:solidFill>
                      <a:prstDash val="solid"/>
                      <a:round/>
                      <a:headEnd type="none" w="med" len="med"/>
                      <a:tailEnd type="none" w="med" len="med"/>
                    </a:lnL>
                    <a:lnR w="6350" cap="flat" cmpd="sng" algn="ctr">
                      <a:solidFill>
                        <a:srgbClr val="B7B7B7"/>
                      </a:solidFill>
                      <a:prstDash val="solid"/>
                      <a:round/>
                      <a:headEnd type="none" w="med" len="med"/>
                      <a:tailEnd type="none" w="med" len="med"/>
                    </a:lnR>
                    <a:lnT w="6350" cap="flat" cmpd="sng" algn="ctr">
                      <a:solidFill>
                        <a:srgbClr val="B7B7B7"/>
                      </a:solidFill>
                      <a:prstDash val="solid"/>
                      <a:round/>
                      <a:headEnd type="none" w="med" len="med"/>
                      <a:tailEnd type="none" w="med" len="med"/>
                    </a:lnT>
                    <a:lnB w="6350" cap="flat" cmpd="sng" algn="ctr">
                      <a:solidFill>
                        <a:srgbClr val="B7B7B7"/>
                      </a:solidFill>
                      <a:prstDash val="solid"/>
                      <a:round/>
                      <a:headEnd type="none" w="med" len="med"/>
                      <a:tailEnd type="none" w="med" len="med"/>
                    </a:lnB>
                    <a:noFill/>
                  </a:tcPr>
                </a:tc>
                <a:tc>
                  <a:txBody>
                    <a:bodyPr/>
                    <a:lstStyle/>
                    <a:p>
                      <a:pPr algn="l" fontAlgn="t">
                        <a:buNone/>
                      </a:pPr>
                      <a:r>
                        <a:rPr lang="en-KE" sz="900" b="0" i="0" u="none" strike="noStrike" dirty="0">
                          <a:solidFill>
                            <a:srgbClr val="000000"/>
                          </a:solidFill>
                          <a:effectLst/>
                          <a:latin typeface="Poppins" panose="00000500000000000000" pitchFamily="2" charset="0"/>
                          <a:cs typeface="Poppins" panose="00000500000000000000" pitchFamily="2" charset="0"/>
                        </a:rPr>
                        <a:t>Broader food system factors (markets, infrastructure) do not undermine household-level gains</a:t>
                      </a:r>
                    </a:p>
                  </a:txBody>
                  <a:tcPr marL="4927" marR="4927" marT="4927" marB="0">
                    <a:lnL w="6350" cap="flat" cmpd="sng" algn="ctr">
                      <a:solidFill>
                        <a:srgbClr val="B7B7B7"/>
                      </a:solidFill>
                      <a:prstDash val="solid"/>
                      <a:round/>
                      <a:headEnd type="none" w="med" len="med"/>
                      <a:tailEnd type="none" w="med" len="med"/>
                    </a:lnL>
                    <a:lnR w="6350" cap="flat" cmpd="sng" algn="ctr">
                      <a:solidFill>
                        <a:srgbClr val="B7B7B7"/>
                      </a:solidFill>
                      <a:prstDash val="solid"/>
                      <a:round/>
                      <a:headEnd type="none" w="med" len="med"/>
                      <a:tailEnd type="none" w="med" len="med"/>
                    </a:lnR>
                    <a:lnT w="6350" cap="flat" cmpd="sng" algn="ctr">
                      <a:solidFill>
                        <a:srgbClr val="B7B7B7"/>
                      </a:solidFill>
                      <a:prstDash val="solid"/>
                      <a:round/>
                      <a:headEnd type="none" w="med" len="med"/>
                      <a:tailEnd type="none" w="med" len="med"/>
                    </a:lnT>
                    <a:lnB w="6350" cap="flat" cmpd="sng" algn="ctr">
                      <a:solidFill>
                        <a:srgbClr val="B7B7B7"/>
                      </a:solidFill>
                      <a:prstDash val="solid"/>
                      <a:round/>
                      <a:headEnd type="none" w="med" len="med"/>
                      <a:tailEnd type="none" w="med" len="med"/>
                    </a:lnB>
                    <a:noFill/>
                  </a:tcPr>
                </a:tc>
                <a:extLst>
                  <a:ext uri="{0D108BD9-81ED-4DB2-BD59-A6C34878D82A}">
                    <a16:rowId xmlns:a16="http://schemas.microsoft.com/office/drawing/2014/main" val="1948999503"/>
                  </a:ext>
                </a:extLst>
              </a:tr>
              <a:tr h="133113">
                <a:tc gridSpan="4">
                  <a:txBody>
                    <a:bodyPr/>
                    <a:lstStyle/>
                    <a:p>
                      <a:pPr algn="l" fontAlgn="ctr">
                        <a:buNone/>
                      </a:pPr>
                      <a:r>
                        <a:rPr lang="en-KE" sz="900" b="1" i="0" u="none" strike="noStrike">
                          <a:solidFill>
                            <a:srgbClr val="000000"/>
                          </a:solidFill>
                          <a:effectLst/>
                          <a:latin typeface="Poppins" panose="00000500000000000000" pitchFamily="2" charset="0"/>
                          <a:cs typeface="Poppins" panose="00000500000000000000" pitchFamily="2" charset="0"/>
                        </a:rPr>
                        <a:t>PURPOSE (OUTCOME)</a:t>
                      </a:r>
                    </a:p>
                  </a:txBody>
                  <a:tcPr marL="4927" marR="4927" marT="4927" marB="0" anchor="ctr">
                    <a:lnL w="6350" cap="flat" cmpd="sng" algn="ctr">
                      <a:solidFill>
                        <a:srgbClr val="B7B7B7"/>
                      </a:solidFill>
                      <a:prstDash val="solid"/>
                      <a:round/>
                      <a:headEnd type="none" w="med" len="med"/>
                      <a:tailEnd type="none" w="med" len="med"/>
                    </a:lnL>
                    <a:lnR w="6350" cap="flat" cmpd="sng" algn="ctr">
                      <a:solidFill>
                        <a:srgbClr val="B7B7B7"/>
                      </a:solidFill>
                      <a:prstDash val="solid"/>
                      <a:round/>
                      <a:headEnd type="none" w="med" len="med"/>
                      <a:tailEnd type="none" w="med" len="med"/>
                    </a:lnR>
                    <a:lnT w="6350" cap="flat" cmpd="sng" algn="ctr">
                      <a:solidFill>
                        <a:srgbClr val="B7B7B7"/>
                      </a:solidFill>
                      <a:prstDash val="solid"/>
                      <a:round/>
                      <a:headEnd type="none" w="med" len="med"/>
                      <a:tailEnd type="none" w="med" len="med"/>
                    </a:lnT>
                    <a:lnB w="6350" cap="flat" cmpd="sng" algn="ctr">
                      <a:solidFill>
                        <a:srgbClr val="B7B7B7"/>
                      </a:solidFill>
                      <a:prstDash val="solid"/>
                      <a:round/>
                      <a:headEnd type="none" w="med" len="med"/>
                      <a:tailEnd type="none" w="med" len="med"/>
                    </a:lnB>
                    <a:solidFill>
                      <a:srgbClr val="FFF2CC"/>
                    </a:solidFill>
                  </a:tcPr>
                </a:tc>
                <a:tc hMerge="1">
                  <a:txBody>
                    <a:bodyPr/>
                    <a:lstStyle/>
                    <a:p>
                      <a:endParaRPr lang="en-KE"/>
                    </a:p>
                  </a:txBody>
                  <a:tcPr/>
                </a:tc>
                <a:tc hMerge="1">
                  <a:txBody>
                    <a:bodyPr/>
                    <a:lstStyle/>
                    <a:p>
                      <a:endParaRPr lang="en-KE"/>
                    </a:p>
                  </a:txBody>
                  <a:tcPr/>
                </a:tc>
                <a:tc hMerge="1">
                  <a:txBody>
                    <a:bodyPr/>
                    <a:lstStyle/>
                    <a:p>
                      <a:endParaRPr lang="en-KE"/>
                    </a:p>
                  </a:txBody>
                  <a:tcPr/>
                </a:tc>
                <a:extLst>
                  <a:ext uri="{0D108BD9-81ED-4DB2-BD59-A6C34878D82A}">
                    <a16:rowId xmlns:a16="http://schemas.microsoft.com/office/drawing/2014/main" val="975838592"/>
                  </a:ext>
                </a:extLst>
              </a:tr>
              <a:tr h="665567">
                <a:tc>
                  <a:txBody>
                    <a:bodyPr/>
                    <a:lstStyle/>
                    <a:p>
                      <a:pPr algn="l" fontAlgn="t">
                        <a:buNone/>
                      </a:pPr>
                      <a:r>
                        <a:rPr lang="en-KE" sz="900" b="0" i="0" u="none" strike="noStrike">
                          <a:solidFill>
                            <a:srgbClr val="000000"/>
                          </a:solidFill>
                          <a:effectLst/>
                          <a:latin typeface="Poppins" panose="00000500000000000000" pitchFamily="2" charset="0"/>
                          <a:cs typeface="Poppins" panose="00000500000000000000" pitchFamily="2" charset="0"/>
                        </a:rPr>
                        <a:t>Smallholder farmers adopt the drought-tolerant maize variety in place of the local check variety</a:t>
                      </a:r>
                    </a:p>
                  </a:txBody>
                  <a:tcPr marL="4927" marR="4927" marT="4927" marB="0">
                    <a:lnL w="6350" cap="flat" cmpd="sng" algn="ctr">
                      <a:solidFill>
                        <a:srgbClr val="B7B7B7"/>
                      </a:solidFill>
                      <a:prstDash val="solid"/>
                      <a:round/>
                      <a:headEnd type="none" w="med" len="med"/>
                      <a:tailEnd type="none" w="med" len="med"/>
                    </a:lnL>
                    <a:lnR w="6350" cap="flat" cmpd="sng" algn="ctr">
                      <a:solidFill>
                        <a:srgbClr val="B7B7B7"/>
                      </a:solidFill>
                      <a:prstDash val="solid"/>
                      <a:round/>
                      <a:headEnd type="none" w="med" len="med"/>
                      <a:tailEnd type="none" w="med" len="med"/>
                    </a:lnR>
                    <a:lnT w="6350" cap="flat" cmpd="sng" algn="ctr">
                      <a:solidFill>
                        <a:srgbClr val="B7B7B7"/>
                      </a:solidFill>
                      <a:prstDash val="solid"/>
                      <a:round/>
                      <a:headEnd type="none" w="med" len="med"/>
                      <a:tailEnd type="none" w="med" len="med"/>
                    </a:lnT>
                    <a:lnB w="6350" cap="flat" cmpd="sng" algn="ctr">
                      <a:solidFill>
                        <a:srgbClr val="B7B7B7"/>
                      </a:solidFill>
                      <a:prstDash val="solid"/>
                      <a:round/>
                      <a:headEnd type="none" w="med" len="med"/>
                      <a:tailEnd type="none" w="med" len="med"/>
                    </a:lnB>
                    <a:noFill/>
                  </a:tcPr>
                </a:tc>
                <a:tc>
                  <a:txBody>
                    <a:bodyPr/>
                    <a:lstStyle/>
                    <a:p>
                      <a:pPr algn="l" fontAlgn="t">
                        <a:buNone/>
                      </a:pPr>
                      <a:r>
                        <a:rPr lang="en-KE" sz="900" b="0" i="0" u="none" strike="noStrike">
                          <a:solidFill>
                            <a:srgbClr val="000000"/>
                          </a:solidFill>
                          <a:effectLst/>
                          <a:latin typeface="Poppins" panose="00000500000000000000" pitchFamily="2" charset="0"/>
                          <a:cs typeface="Poppins" panose="00000500000000000000" pitchFamily="2" charset="0"/>
                        </a:rPr>
                        <a:t>% of farmers in target sites growing the new variety by end of Year 2; average yield loss under drought compared to local check</a:t>
                      </a:r>
                    </a:p>
                  </a:txBody>
                  <a:tcPr marL="4927" marR="4927" marT="4927" marB="0">
                    <a:lnL w="6350" cap="flat" cmpd="sng" algn="ctr">
                      <a:solidFill>
                        <a:srgbClr val="B7B7B7"/>
                      </a:solidFill>
                      <a:prstDash val="solid"/>
                      <a:round/>
                      <a:headEnd type="none" w="med" len="med"/>
                      <a:tailEnd type="none" w="med" len="med"/>
                    </a:lnL>
                    <a:lnR w="6350" cap="flat" cmpd="sng" algn="ctr">
                      <a:solidFill>
                        <a:srgbClr val="B7B7B7"/>
                      </a:solidFill>
                      <a:prstDash val="solid"/>
                      <a:round/>
                      <a:headEnd type="none" w="med" len="med"/>
                      <a:tailEnd type="none" w="med" len="med"/>
                    </a:lnR>
                    <a:lnT w="6350" cap="flat" cmpd="sng" algn="ctr">
                      <a:solidFill>
                        <a:srgbClr val="B7B7B7"/>
                      </a:solidFill>
                      <a:prstDash val="solid"/>
                      <a:round/>
                      <a:headEnd type="none" w="med" len="med"/>
                      <a:tailEnd type="none" w="med" len="med"/>
                    </a:lnT>
                    <a:lnB w="6350" cap="flat" cmpd="sng" algn="ctr">
                      <a:solidFill>
                        <a:srgbClr val="B7B7B7"/>
                      </a:solidFill>
                      <a:prstDash val="solid"/>
                      <a:round/>
                      <a:headEnd type="none" w="med" len="med"/>
                      <a:tailEnd type="none" w="med" len="med"/>
                    </a:lnB>
                    <a:noFill/>
                  </a:tcPr>
                </a:tc>
                <a:tc>
                  <a:txBody>
                    <a:bodyPr/>
                    <a:lstStyle/>
                    <a:p>
                      <a:pPr algn="l" fontAlgn="t">
                        <a:buNone/>
                      </a:pPr>
                      <a:r>
                        <a:rPr lang="en-KE" sz="900" b="0" i="0" u="none" strike="noStrike">
                          <a:solidFill>
                            <a:srgbClr val="000000"/>
                          </a:solidFill>
                          <a:effectLst/>
                          <a:latin typeface="Poppins" panose="00000500000000000000" pitchFamily="2" charset="0"/>
                          <a:cs typeface="Poppins" panose="00000500000000000000" pitchFamily="2" charset="0"/>
                        </a:rPr>
                        <a:t>Household adoption surveys; follow-up yield sampling</a:t>
                      </a:r>
                    </a:p>
                  </a:txBody>
                  <a:tcPr marL="4927" marR="4927" marT="4927" marB="0">
                    <a:lnL w="6350" cap="flat" cmpd="sng" algn="ctr">
                      <a:solidFill>
                        <a:srgbClr val="B7B7B7"/>
                      </a:solidFill>
                      <a:prstDash val="solid"/>
                      <a:round/>
                      <a:headEnd type="none" w="med" len="med"/>
                      <a:tailEnd type="none" w="med" len="med"/>
                    </a:lnL>
                    <a:lnR w="6350" cap="flat" cmpd="sng" algn="ctr">
                      <a:solidFill>
                        <a:srgbClr val="B7B7B7"/>
                      </a:solidFill>
                      <a:prstDash val="solid"/>
                      <a:round/>
                      <a:headEnd type="none" w="med" len="med"/>
                      <a:tailEnd type="none" w="med" len="med"/>
                    </a:lnR>
                    <a:lnT w="6350" cap="flat" cmpd="sng" algn="ctr">
                      <a:solidFill>
                        <a:srgbClr val="B7B7B7"/>
                      </a:solidFill>
                      <a:prstDash val="solid"/>
                      <a:round/>
                      <a:headEnd type="none" w="med" len="med"/>
                      <a:tailEnd type="none" w="med" len="med"/>
                    </a:lnT>
                    <a:lnB w="6350" cap="flat" cmpd="sng" algn="ctr">
                      <a:solidFill>
                        <a:srgbClr val="B7B7B7"/>
                      </a:solidFill>
                      <a:prstDash val="solid"/>
                      <a:round/>
                      <a:headEnd type="none" w="med" len="med"/>
                      <a:tailEnd type="none" w="med" len="med"/>
                    </a:lnB>
                    <a:noFill/>
                  </a:tcPr>
                </a:tc>
                <a:tc>
                  <a:txBody>
                    <a:bodyPr/>
                    <a:lstStyle/>
                    <a:p>
                      <a:pPr algn="l" fontAlgn="t">
                        <a:buNone/>
                      </a:pPr>
                      <a:r>
                        <a:rPr lang="en-KE" sz="900" b="0" i="0" u="none" strike="noStrike">
                          <a:solidFill>
                            <a:srgbClr val="000000"/>
                          </a:solidFill>
                          <a:effectLst/>
                          <a:latin typeface="Poppins" panose="00000500000000000000" pitchFamily="2" charset="0"/>
                          <a:cs typeface="Poppins" panose="00000500000000000000" pitchFamily="2" charset="0"/>
                        </a:rPr>
                        <a:t>Farmers who adopt continue planting the variety across multiple seasons, not just a single trial season</a:t>
                      </a:r>
                    </a:p>
                  </a:txBody>
                  <a:tcPr marL="4927" marR="4927" marT="4927" marB="0">
                    <a:lnL w="6350" cap="flat" cmpd="sng" algn="ctr">
                      <a:solidFill>
                        <a:srgbClr val="B7B7B7"/>
                      </a:solidFill>
                      <a:prstDash val="solid"/>
                      <a:round/>
                      <a:headEnd type="none" w="med" len="med"/>
                      <a:tailEnd type="none" w="med" len="med"/>
                    </a:lnL>
                    <a:lnR w="6350" cap="flat" cmpd="sng" algn="ctr">
                      <a:solidFill>
                        <a:srgbClr val="B7B7B7"/>
                      </a:solidFill>
                      <a:prstDash val="solid"/>
                      <a:round/>
                      <a:headEnd type="none" w="med" len="med"/>
                      <a:tailEnd type="none" w="med" len="med"/>
                    </a:lnR>
                    <a:lnT w="6350" cap="flat" cmpd="sng" algn="ctr">
                      <a:solidFill>
                        <a:srgbClr val="B7B7B7"/>
                      </a:solidFill>
                      <a:prstDash val="solid"/>
                      <a:round/>
                      <a:headEnd type="none" w="med" len="med"/>
                      <a:tailEnd type="none" w="med" len="med"/>
                    </a:lnT>
                    <a:lnB w="6350" cap="flat" cmpd="sng" algn="ctr">
                      <a:solidFill>
                        <a:srgbClr val="B7B7B7"/>
                      </a:solidFill>
                      <a:prstDash val="solid"/>
                      <a:round/>
                      <a:headEnd type="none" w="med" len="med"/>
                      <a:tailEnd type="none" w="med" len="med"/>
                    </a:lnB>
                    <a:noFill/>
                  </a:tcPr>
                </a:tc>
                <a:extLst>
                  <a:ext uri="{0D108BD9-81ED-4DB2-BD59-A6C34878D82A}">
                    <a16:rowId xmlns:a16="http://schemas.microsoft.com/office/drawing/2014/main" val="2758652519"/>
                  </a:ext>
                </a:extLst>
              </a:tr>
              <a:tr h="133113">
                <a:tc gridSpan="4">
                  <a:txBody>
                    <a:bodyPr/>
                    <a:lstStyle/>
                    <a:p>
                      <a:pPr algn="l" fontAlgn="ctr">
                        <a:buNone/>
                      </a:pPr>
                      <a:r>
                        <a:rPr lang="en-KE" sz="900" b="1" i="0" u="none" strike="noStrike">
                          <a:solidFill>
                            <a:srgbClr val="000000"/>
                          </a:solidFill>
                          <a:effectLst/>
                          <a:latin typeface="Poppins" panose="00000500000000000000" pitchFamily="2" charset="0"/>
                          <a:cs typeface="Poppins" panose="00000500000000000000" pitchFamily="2" charset="0"/>
                        </a:rPr>
                        <a:t>OUTPUTS</a:t>
                      </a:r>
                    </a:p>
                  </a:txBody>
                  <a:tcPr marL="4927" marR="4927" marT="4927" marB="0" anchor="ctr">
                    <a:lnL w="6350" cap="flat" cmpd="sng" algn="ctr">
                      <a:solidFill>
                        <a:srgbClr val="B7B7B7"/>
                      </a:solidFill>
                      <a:prstDash val="solid"/>
                      <a:round/>
                      <a:headEnd type="none" w="med" len="med"/>
                      <a:tailEnd type="none" w="med" len="med"/>
                    </a:lnL>
                    <a:lnR w="6350" cap="flat" cmpd="sng" algn="ctr">
                      <a:solidFill>
                        <a:srgbClr val="B7B7B7"/>
                      </a:solidFill>
                      <a:prstDash val="solid"/>
                      <a:round/>
                      <a:headEnd type="none" w="med" len="med"/>
                      <a:tailEnd type="none" w="med" len="med"/>
                    </a:lnR>
                    <a:lnT w="6350" cap="flat" cmpd="sng" algn="ctr">
                      <a:solidFill>
                        <a:srgbClr val="B7B7B7"/>
                      </a:solidFill>
                      <a:prstDash val="solid"/>
                      <a:round/>
                      <a:headEnd type="none" w="med" len="med"/>
                      <a:tailEnd type="none" w="med" len="med"/>
                    </a:lnT>
                    <a:lnB w="6350" cap="flat" cmpd="sng" algn="ctr">
                      <a:solidFill>
                        <a:srgbClr val="B7B7B7"/>
                      </a:solidFill>
                      <a:prstDash val="solid"/>
                      <a:round/>
                      <a:headEnd type="none" w="med" len="med"/>
                      <a:tailEnd type="none" w="med" len="med"/>
                    </a:lnB>
                    <a:solidFill>
                      <a:srgbClr val="D9E6F2"/>
                    </a:solidFill>
                  </a:tcPr>
                </a:tc>
                <a:tc hMerge="1">
                  <a:txBody>
                    <a:bodyPr/>
                    <a:lstStyle/>
                    <a:p>
                      <a:endParaRPr lang="en-KE"/>
                    </a:p>
                  </a:txBody>
                  <a:tcPr/>
                </a:tc>
                <a:tc hMerge="1">
                  <a:txBody>
                    <a:bodyPr/>
                    <a:lstStyle/>
                    <a:p>
                      <a:endParaRPr lang="en-KE"/>
                    </a:p>
                  </a:txBody>
                  <a:tcPr/>
                </a:tc>
                <a:tc hMerge="1">
                  <a:txBody>
                    <a:bodyPr/>
                    <a:lstStyle/>
                    <a:p>
                      <a:endParaRPr lang="en-KE"/>
                    </a:p>
                  </a:txBody>
                  <a:tcPr/>
                </a:tc>
                <a:extLst>
                  <a:ext uri="{0D108BD9-81ED-4DB2-BD59-A6C34878D82A}">
                    <a16:rowId xmlns:a16="http://schemas.microsoft.com/office/drawing/2014/main" val="2919370328"/>
                  </a:ext>
                </a:extLst>
              </a:tr>
              <a:tr h="665567">
                <a:tc>
                  <a:txBody>
                    <a:bodyPr/>
                    <a:lstStyle/>
                    <a:p>
                      <a:pPr algn="l" fontAlgn="t">
                        <a:buNone/>
                      </a:pPr>
                      <a:r>
                        <a:rPr lang="en-KE" sz="900" b="0" i="0" u="none" strike="noStrike">
                          <a:solidFill>
                            <a:srgbClr val="000000"/>
                          </a:solidFill>
                          <a:effectLst/>
                          <a:latin typeface="Poppins" panose="00000500000000000000" pitchFamily="2" charset="0"/>
                          <a:cs typeface="Poppins" panose="00000500000000000000" pitchFamily="2" charset="0"/>
                        </a:rPr>
                        <a:t>1. Field trial evidence on yield performance under drought</a:t>
                      </a:r>
                      <a:br>
                        <a:rPr lang="en-KE" sz="900" b="0" i="0" u="none" strike="noStrike">
                          <a:solidFill>
                            <a:srgbClr val="000000"/>
                          </a:solidFill>
                          <a:effectLst/>
                          <a:latin typeface="Poppins" panose="00000500000000000000" pitchFamily="2" charset="0"/>
                          <a:cs typeface="Poppins" panose="00000500000000000000" pitchFamily="2" charset="0"/>
                        </a:rPr>
                      </a:br>
                      <a:r>
                        <a:rPr lang="en-KE" sz="900" b="0" i="0" u="none" strike="noStrike">
                          <a:solidFill>
                            <a:srgbClr val="000000"/>
                          </a:solidFill>
                          <a:effectLst/>
                          <a:latin typeface="Poppins" panose="00000500000000000000" pitchFamily="2" charset="0"/>
                          <a:cs typeface="Poppins" panose="00000500000000000000" pitchFamily="2" charset="0"/>
                        </a:rPr>
                        <a:t>2. Farmers trained on variety management</a:t>
                      </a:r>
                      <a:br>
                        <a:rPr lang="en-KE" sz="900" b="0" i="0" u="none" strike="noStrike">
                          <a:solidFill>
                            <a:srgbClr val="000000"/>
                          </a:solidFill>
                          <a:effectLst/>
                          <a:latin typeface="Poppins" panose="00000500000000000000" pitchFamily="2" charset="0"/>
                          <a:cs typeface="Poppins" panose="00000500000000000000" pitchFamily="2" charset="0"/>
                        </a:rPr>
                      </a:br>
                      <a:r>
                        <a:rPr lang="en-KE" sz="900" b="0" i="0" u="none" strike="noStrike">
                          <a:solidFill>
                            <a:srgbClr val="000000"/>
                          </a:solidFill>
                          <a:effectLst/>
                          <a:latin typeface="Poppins" panose="00000500000000000000" pitchFamily="2" charset="0"/>
                          <a:cs typeface="Poppins" panose="00000500000000000000" pitchFamily="2" charset="0"/>
                        </a:rPr>
                        <a:t>3. Extension materials disseminated</a:t>
                      </a:r>
                    </a:p>
                  </a:txBody>
                  <a:tcPr marL="4927" marR="4927" marT="4927" marB="0">
                    <a:lnL w="6350" cap="flat" cmpd="sng" algn="ctr">
                      <a:solidFill>
                        <a:srgbClr val="B7B7B7"/>
                      </a:solidFill>
                      <a:prstDash val="solid"/>
                      <a:round/>
                      <a:headEnd type="none" w="med" len="med"/>
                      <a:tailEnd type="none" w="med" len="med"/>
                    </a:lnL>
                    <a:lnR w="6350" cap="flat" cmpd="sng" algn="ctr">
                      <a:solidFill>
                        <a:srgbClr val="B7B7B7"/>
                      </a:solidFill>
                      <a:prstDash val="solid"/>
                      <a:round/>
                      <a:headEnd type="none" w="med" len="med"/>
                      <a:tailEnd type="none" w="med" len="med"/>
                    </a:lnR>
                    <a:lnT w="6350" cap="flat" cmpd="sng" algn="ctr">
                      <a:solidFill>
                        <a:srgbClr val="B7B7B7"/>
                      </a:solidFill>
                      <a:prstDash val="solid"/>
                      <a:round/>
                      <a:headEnd type="none" w="med" len="med"/>
                      <a:tailEnd type="none" w="med" len="med"/>
                    </a:lnT>
                    <a:lnB w="6350" cap="flat" cmpd="sng" algn="ctr">
                      <a:solidFill>
                        <a:srgbClr val="B7B7B7"/>
                      </a:solidFill>
                      <a:prstDash val="solid"/>
                      <a:round/>
                      <a:headEnd type="none" w="med" len="med"/>
                      <a:tailEnd type="none" w="med" len="med"/>
                    </a:lnB>
                    <a:noFill/>
                  </a:tcPr>
                </a:tc>
                <a:tc>
                  <a:txBody>
                    <a:bodyPr/>
                    <a:lstStyle/>
                    <a:p>
                      <a:pPr algn="l" fontAlgn="t">
                        <a:buNone/>
                      </a:pPr>
                      <a:r>
                        <a:rPr lang="en-KE" sz="900" b="0" i="0" u="none" strike="noStrike">
                          <a:solidFill>
                            <a:srgbClr val="000000"/>
                          </a:solidFill>
                          <a:effectLst/>
                          <a:latin typeface="Poppins" panose="00000500000000000000" pitchFamily="2" charset="0"/>
                          <a:cs typeface="Poppins" panose="00000500000000000000" pitchFamily="2" charset="0"/>
                        </a:rPr>
                        <a:t>Number of trial sites completed; number of farmers trained (disaggregated by gender); number of extension materials distributed</a:t>
                      </a:r>
                    </a:p>
                  </a:txBody>
                  <a:tcPr marL="4927" marR="4927" marT="4927" marB="0">
                    <a:lnL w="6350" cap="flat" cmpd="sng" algn="ctr">
                      <a:solidFill>
                        <a:srgbClr val="B7B7B7"/>
                      </a:solidFill>
                      <a:prstDash val="solid"/>
                      <a:round/>
                      <a:headEnd type="none" w="med" len="med"/>
                      <a:tailEnd type="none" w="med" len="med"/>
                    </a:lnL>
                    <a:lnR w="6350" cap="flat" cmpd="sng" algn="ctr">
                      <a:solidFill>
                        <a:srgbClr val="B7B7B7"/>
                      </a:solidFill>
                      <a:prstDash val="solid"/>
                      <a:round/>
                      <a:headEnd type="none" w="med" len="med"/>
                      <a:tailEnd type="none" w="med" len="med"/>
                    </a:lnR>
                    <a:lnT w="6350" cap="flat" cmpd="sng" algn="ctr">
                      <a:solidFill>
                        <a:srgbClr val="B7B7B7"/>
                      </a:solidFill>
                      <a:prstDash val="solid"/>
                      <a:round/>
                      <a:headEnd type="none" w="med" len="med"/>
                      <a:tailEnd type="none" w="med" len="med"/>
                    </a:lnT>
                    <a:lnB w="6350" cap="flat" cmpd="sng" algn="ctr">
                      <a:solidFill>
                        <a:srgbClr val="B7B7B7"/>
                      </a:solidFill>
                      <a:prstDash val="solid"/>
                      <a:round/>
                      <a:headEnd type="none" w="med" len="med"/>
                      <a:tailEnd type="none" w="med" len="med"/>
                    </a:lnB>
                    <a:noFill/>
                  </a:tcPr>
                </a:tc>
                <a:tc>
                  <a:txBody>
                    <a:bodyPr/>
                    <a:lstStyle/>
                    <a:p>
                      <a:pPr algn="l" fontAlgn="t">
                        <a:buNone/>
                      </a:pPr>
                      <a:r>
                        <a:rPr lang="en-KE" sz="900" b="0" i="0" u="none" strike="noStrike">
                          <a:solidFill>
                            <a:srgbClr val="000000"/>
                          </a:solidFill>
                          <a:effectLst/>
                          <a:latin typeface="Poppins" panose="00000500000000000000" pitchFamily="2" charset="0"/>
                          <a:cs typeface="Poppins" panose="00000500000000000000" pitchFamily="2" charset="0"/>
                        </a:rPr>
                        <a:t>Trial site reports; training attendance registers; distribution logs</a:t>
                      </a:r>
                    </a:p>
                  </a:txBody>
                  <a:tcPr marL="4927" marR="4927" marT="4927" marB="0">
                    <a:lnL w="6350" cap="flat" cmpd="sng" algn="ctr">
                      <a:solidFill>
                        <a:srgbClr val="B7B7B7"/>
                      </a:solidFill>
                      <a:prstDash val="solid"/>
                      <a:round/>
                      <a:headEnd type="none" w="med" len="med"/>
                      <a:tailEnd type="none" w="med" len="med"/>
                    </a:lnL>
                    <a:lnR w="6350" cap="flat" cmpd="sng" algn="ctr">
                      <a:solidFill>
                        <a:srgbClr val="B7B7B7"/>
                      </a:solidFill>
                      <a:prstDash val="solid"/>
                      <a:round/>
                      <a:headEnd type="none" w="med" len="med"/>
                      <a:tailEnd type="none" w="med" len="med"/>
                    </a:lnR>
                    <a:lnT w="6350" cap="flat" cmpd="sng" algn="ctr">
                      <a:solidFill>
                        <a:srgbClr val="B7B7B7"/>
                      </a:solidFill>
                      <a:prstDash val="solid"/>
                      <a:round/>
                      <a:headEnd type="none" w="med" len="med"/>
                      <a:tailEnd type="none" w="med" len="med"/>
                    </a:lnT>
                    <a:lnB w="6350" cap="flat" cmpd="sng" algn="ctr">
                      <a:solidFill>
                        <a:srgbClr val="B7B7B7"/>
                      </a:solidFill>
                      <a:prstDash val="solid"/>
                      <a:round/>
                      <a:headEnd type="none" w="med" len="med"/>
                      <a:tailEnd type="none" w="med" len="med"/>
                    </a:lnB>
                    <a:noFill/>
                  </a:tcPr>
                </a:tc>
                <a:tc>
                  <a:txBody>
                    <a:bodyPr/>
                    <a:lstStyle/>
                    <a:p>
                      <a:pPr algn="l" fontAlgn="t">
                        <a:buNone/>
                      </a:pPr>
                      <a:r>
                        <a:rPr lang="en-KE" sz="900" b="0" i="0" u="none" strike="noStrike">
                          <a:solidFill>
                            <a:srgbClr val="000000"/>
                          </a:solidFill>
                          <a:effectLst/>
                          <a:latin typeface="Poppins" panose="00000500000000000000" pitchFamily="2" charset="0"/>
                          <a:cs typeface="Poppins" panose="00000500000000000000" pitchFamily="2" charset="0"/>
                        </a:rPr>
                        <a:t>Extension officers deliver training as designed; materials reach intended farmers</a:t>
                      </a:r>
                    </a:p>
                  </a:txBody>
                  <a:tcPr marL="4927" marR="4927" marT="4927" marB="0">
                    <a:lnL w="6350" cap="flat" cmpd="sng" algn="ctr">
                      <a:solidFill>
                        <a:srgbClr val="B7B7B7"/>
                      </a:solidFill>
                      <a:prstDash val="solid"/>
                      <a:round/>
                      <a:headEnd type="none" w="med" len="med"/>
                      <a:tailEnd type="none" w="med" len="med"/>
                    </a:lnL>
                    <a:lnR w="6350" cap="flat" cmpd="sng" algn="ctr">
                      <a:solidFill>
                        <a:srgbClr val="B7B7B7"/>
                      </a:solidFill>
                      <a:prstDash val="solid"/>
                      <a:round/>
                      <a:headEnd type="none" w="med" len="med"/>
                      <a:tailEnd type="none" w="med" len="med"/>
                    </a:lnR>
                    <a:lnT w="6350" cap="flat" cmpd="sng" algn="ctr">
                      <a:solidFill>
                        <a:srgbClr val="B7B7B7"/>
                      </a:solidFill>
                      <a:prstDash val="solid"/>
                      <a:round/>
                      <a:headEnd type="none" w="med" len="med"/>
                      <a:tailEnd type="none" w="med" len="med"/>
                    </a:lnT>
                    <a:lnB w="6350" cap="flat" cmpd="sng" algn="ctr">
                      <a:solidFill>
                        <a:srgbClr val="B7B7B7"/>
                      </a:solidFill>
                      <a:prstDash val="solid"/>
                      <a:round/>
                      <a:headEnd type="none" w="med" len="med"/>
                      <a:tailEnd type="none" w="med" len="med"/>
                    </a:lnB>
                    <a:noFill/>
                  </a:tcPr>
                </a:tc>
                <a:extLst>
                  <a:ext uri="{0D108BD9-81ED-4DB2-BD59-A6C34878D82A}">
                    <a16:rowId xmlns:a16="http://schemas.microsoft.com/office/drawing/2014/main" val="2489831813"/>
                  </a:ext>
                </a:extLst>
              </a:tr>
              <a:tr h="133113">
                <a:tc gridSpan="4">
                  <a:txBody>
                    <a:bodyPr/>
                    <a:lstStyle/>
                    <a:p>
                      <a:pPr algn="l" fontAlgn="ctr">
                        <a:buNone/>
                      </a:pPr>
                      <a:r>
                        <a:rPr lang="en-KE" sz="900" b="1" i="0" u="none" strike="noStrike">
                          <a:solidFill>
                            <a:srgbClr val="000000"/>
                          </a:solidFill>
                          <a:effectLst/>
                          <a:latin typeface="Poppins" panose="00000500000000000000" pitchFamily="2" charset="0"/>
                          <a:cs typeface="Poppins" panose="00000500000000000000" pitchFamily="2" charset="0"/>
                        </a:rPr>
                        <a:t>ACTIVITIES</a:t>
                      </a:r>
                    </a:p>
                  </a:txBody>
                  <a:tcPr marL="4927" marR="4927" marT="4927" marB="0" anchor="ctr">
                    <a:lnL w="6350" cap="flat" cmpd="sng" algn="ctr">
                      <a:solidFill>
                        <a:srgbClr val="B7B7B7"/>
                      </a:solidFill>
                      <a:prstDash val="solid"/>
                      <a:round/>
                      <a:headEnd type="none" w="med" len="med"/>
                      <a:tailEnd type="none" w="med" len="med"/>
                    </a:lnL>
                    <a:lnR w="6350" cap="flat" cmpd="sng" algn="ctr">
                      <a:solidFill>
                        <a:srgbClr val="B7B7B7"/>
                      </a:solidFill>
                      <a:prstDash val="solid"/>
                      <a:round/>
                      <a:headEnd type="none" w="med" len="med"/>
                      <a:tailEnd type="none" w="med" len="med"/>
                    </a:lnR>
                    <a:lnT w="6350" cap="flat" cmpd="sng" algn="ctr">
                      <a:solidFill>
                        <a:srgbClr val="B7B7B7"/>
                      </a:solidFill>
                      <a:prstDash val="solid"/>
                      <a:round/>
                      <a:headEnd type="none" w="med" len="med"/>
                      <a:tailEnd type="none" w="med" len="med"/>
                    </a:lnT>
                    <a:lnB w="6350" cap="flat" cmpd="sng" algn="ctr">
                      <a:solidFill>
                        <a:srgbClr val="B7B7B7"/>
                      </a:solidFill>
                      <a:prstDash val="solid"/>
                      <a:round/>
                      <a:headEnd type="none" w="med" len="med"/>
                      <a:tailEnd type="none" w="med" len="med"/>
                    </a:lnB>
                    <a:solidFill>
                      <a:srgbClr val="F2F2F2"/>
                    </a:solidFill>
                  </a:tcPr>
                </a:tc>
                <a:tc hMerge="1">
                  <a:txBody>
                    <a:bodyPr/>
                    <a:lstStyle/>
                    <a:p>
                      <a:endParaRPr lang="en-KE"/>
                    </a:p>
                  </a:txBody>
                  <a:tcPr/>
                </a:tc>
                <a:tc hMerge="1">
                  <a:txBody>
                    <a:bodyPr/>
                    <a:lstStyle/>
                    <a:p>
                      <a:endParaRPr lang="en-KE"/>
                    </a:p>
                  </a:txBody>
                  <a:tcPr/>
                </a:tc>
                <a:tc hMerge="1">
                  <a:txBody>
                    <a:bodyPr/>
                    <a:lstStyle/>
                    <a:p>
                      <a:endParaRPr lang="en-KE"/>
                    </a:p>
                  </a:txBody>
                  <a:tcPr/>
                </a:tc>
                <a:extLst>
                  <a:ext uri="{0D108BD9-81ED-4DB2-BD59-A6C34878D82A}">
                    <a16:rowId xmlns:a16="http://schemas.microsoft.com/office/drawing/2014/main" val="2797585365"/>
                  </a:ext>
                </a:extLst>
              </a:tr>
              <a:tr h="665567">
                <a:tc>
                  <a:txBody>
                    <a:bodyPr/>
                    <a:lstStyle/>
                    <a:p>
                      <a:pPr algn="l" fontAlgn="t">
                        <a:buNone/>
                      </a:pPr>
                      <a:r>
                        <a:rPr lang="en-KE" sz="900" b="0" i="0" u="none" strike="noStrike">
                          <a:solidFill>
                            <a:srgbClr val="000000"/>
                          </a:solidFill>
                          <a:effectLst/>
                          <a:latin typeface="Poppins" panose="00000500000000000000" pitchFamily="2" charset="0"/>
                          <a:cs typeface="Poppins" panose="00000500000000000000" pitchFamily="2" charset="0"/>
                        </a:rPr>
                        <a:t>1.1 Conduct randomized field trials across 3 sites</a:t>
                      </a:r>
                      <a:br>
                        <a:rPr lang="en-KE" sz="900" b="0" i="0" u="none" strike="noStrike">
                          <a:solidFill>
                            <a:srgbClr val="000000"/>
                          </a:solidFill>
                          <a:effectLst/>
                          <a:latin typeface="Poppins" panose="00000500000000000000" pitchFamily="2" charset="0"/>
                          <a:cs typeface="Poppins" panose="00000500000000000000" pitchFamily="2" charset="0"/>
                        </a:rPr>
                      </a:br>
                      <a:r>
                        <a:rPr lang="en-KE" sz="900" b="0" i="0" u="none" strike="noStrike">
                          <a:solidFill>
                            <a:srgbClr val="000000"/>
                          </a:solidFill>
                          <a:effectLst/>
                          <a:latin typeface="Poppins" panose="00000500000000000000" pitchFamily="2" charset="0"/>
                          <a:cs typeface="Poppins" panose="00000500000000000000" pitchFamily="2" charset="0"/>
                        </a:rPr>
                        <a:t>2.1 Deliver farmer training sessions</a:t>
                      </a:r>
                      <a:br>
                        <a:rPr lang="en-KE" sz="900" b="0" i="0" u="none" strike="noStrike">
                          <a:solidFill>
                            <a:srgbClr val="000000"/>
                          </a:solidFill>
                          <a:effectLst/>
                          <a:latin typeface="Poppins" panose="00000500000000000000" pitchFamily="2" charset="0"/>
                          <a:cs typeface="Poppins" panose="00000500000000000000" pitchFamily="2" charset="0"/>
                        </a:rPr>
                      </a:br>
                      <a:r>
                        <a:rPr lang="en-KE" sz="900" b="0" i="0" u="none" strike="noStrike">
                          <a:solidFill>
                            <a:srgbClr val="000000"/>
                          </a:solidFill>
                          <a:effectLst/>
                          <a:latin typeface="Poppins" panose="00000500000000000000" pitchFamily="2" charset="0"/>
                          <a:cs typeface="Poppins" panose="00000500000000000000" pitchFamily="2" charset="0"/>
                        </a:rPr>
                        <a:t>3.1 Develop and print extension materials</a:t>
                      </a:r>
                    </a:p>
                  </a:txBody>
                  <a:tcPr marL="4927" marR="4927" marT="4927" marB="0">
                    <a:lnL w="6350" cap="flat" cmpd="sng" algn="ctr">
                      <a:solidFill>
                        <a:srgbClr val="B7B7B7"/>
                      </a:solidFill>
                      <a:prstDash val="solid"/>
                      <a:round/>
                      <a:headEnd type="none" w="med" len="med"/>
                      <a:tailEnd type="none" w="med" len="med"/>
                    </a:lnL>
                    <a:lnR w="6350" cap="flat" cmpd="sng" algn="ctr">
                      <a:solidFill>
                        <a:srgbClr val="B7B7B7"/>
                      </a:solidFill>
                      <a:prstDash val="solid"/>
                      <a:round/>
                      <a:headEnd type="none" w="med" len="med"/>
                      <a:tailEnd type="none" w="med" len="med"/>
                    </a:lnR>
                    <a:lnT w="6350" cap="flat" cmpd="sng" algn="ctr">
                      <a:solidFill>
                        <a:srgbClr val="B7B7B7"/>
                      </a:solidFill>
                      <a:prstDash val="solid"/>
                      <a:round/>
                      <a:headEnd type="none" w="med" len="med"/>
                      <a:tailEnd type="none" w="med" len="med"/>
                    </a:lnT>
                    <a:lnB w="6350" cap="flat" cmpd="sng" algn="ctr">
                      <a:solidFill>
                        <a:srgbClr val="B7B7B7"/>
                      </a:solidFill>
                      <a:prstDash val="solid"/>
                      <a:round/>
                      <a:headEnd type="none" w="med" len="med"/>
                      <a:tailEnd type="none" w="med" len="med"/>
                    </a:lnB>
                    <a:noFill/>
                  </a:tcPr>
                </a:tc>
                <a:tc>
                  <a:txBody>
                    <a:bodyPr/>
                    <a:lstStyle/>
                    <a:p>
                      <a:pPr algn="l" fontAlgn="t">
                        <a:buNone/>
                      </a:pPr>
                      <a:r>
                        <a:rPr lang="en-KE" sz="900" b="0" i="0" u="none" strike="noStrike">
                          <a:solidFill>
                            <a:srgbClr val="000000"/>
                          </a:solidFill>
                          <a:effectLst/>
                          <a:latin typeface="Poppins" panose="00000500000000000000" pitchFamily="2" charset="0"/>
                          <a:cs typeface="Poppins" panose="00000500000000000000" pitchFamily="2" charset="0"/>
                        </a:rPr>
                        <a:t>Trial protocol adherence rate; number of training sessions delivered on schedule</a:t>
                      </a:r>
                    </a:p>
                  </a:txBody>
                  <a:tcPr marL="4927" marR="4927" marT="4927" marB="0">
                    <a:lnL w="6350" cap="flat" cmpd="sng" algn="ctr">
                      <a:solidFill>
                        <a:srgbClr val="B7B7B7"/>
                      </a:solidFill>
                      <a:prstDash val="solid"/>
                      <a:round/>
                      <a:headEnd type="none" w="med" len="med"/>
                      <a:tailEnd type="none" w="med" len="med"/>
                    </a:lnL>
                    <a:lnR w="6350" cap="flat" cmpd="sng" algn="ctr">
                      <a:solidFill>
                        <a:srgbClr val="B7B7B7"/>
                      </a:solidFill>
                      <a:prstDash val="solid"/>
                      <a:round/>
                      <a:headEnd type="none" w="med" len="med"/>
                      <a:tailEnd type="none" w="med" len="med"/>
                    </a:lnR>
                    <a:lnT w="6350" cap="flat" cmpd="sng" algn="ctr">
                      <a:solidFill>
                        <a:srgbClr val="B7B7B7"/>
                      </a:solidFill>
                      <a:prstDash val="solid"/>
                      <a:round/>
                      <a:headEnd type="none" w="med" len="med"/>
                      <a:tailEnd type="none" w="med" len="med"/>
                    </a:lnT>
                    <a:lnB w="6350" cap="flat" cmpd="sng" algn="ctr">
                      <a:solidFill>
                        <a:srgbClr val="B7B7B7"/>
                      </a:solidFill>
                      <a:prstDash val="solid"/>
                      <a:round/>
                      <a:headEnd type="none" w="med" len="med"/>
                      <a:tailEnd type="none" w="med" len="med"/>
                    </a:lnB>
                    <a:noFill/>
                  </a:tcPr>
                </a:tc>
                <a:tc>
                  <a:txBody>
                    <a:bodyPr/>
                    <a:lstStyle/>
                    <a:p>
                      <a:pPr algn="l" fontAlgn="t">
                        <a:buNone/>
                      </a:pPr>
                      <a:r>
                        <a:rPr lang="en-KE" sz="900" b="0" i="0" u="none" strike="noStrike">
                          <a:solidFill>
                            <a:srgbClr val="000000"/>
                          </a:solidFill>
                          <a:effectLst/>
                          <a:latin typeface="Poppins" panose="00000500000000000000" pitchFamily="2" charset="0"/>
                          <a:cs typeface="Poppins" panose="00000500000000000000" pitchFamily="2" charset="0"/>
                        </a:rPr>
                        <a:t>Field diaries; session logs; budget/expenditure records</a:t>
                      </a:r>
                    </a:p>
                  </a:txBody>
                  <a:tcPr marL="4927" marR="4927" marT="4927" marB="0">
                    <a:lnL w="6350" cap="flat" cmpd="sng" algn="ctr">
                      <a:solidFill>
                        <a:srgbClr val="B7B7B7"/>
                      </a:solidFill>
                      <a:prstDash val="solid"/>
                      <a:round/>
                      <a:headEnd type="none" w="med" len="med"/>
                      <a:tailEnd type="none" w="med" len="med"/>
                    </a:lnL>
                    <a:lnR w="6350" cap="flat" cmpd="sng" algn="ctr">
                      <a:solidFill>
                        <a:srgbClr val="B7B7B7"/>
                      </a:solidFill>
                      <a:prstDash val="solid"/>
                      <a:round/>
                      <a:headEnd type="none" w="med" len="med"/>
                      <a:tailEnd type="none" w="med" len="med"/>
                    </a:lnR>
                    <a:lnT w="6350" cap="flat" cmpd="sng" algn="ctr">
                      <a:solidFill>
                        <a:srgbClr val="B7B7B7"/>
                      </a:solidFill>
                      <a:prstDash val="solid"/>
                      <a:round/>
                      <a:headEnd type="none" w="med" len="med"/>
                      <a:tailEnd type="none" w="med" len="med"/>
                    </a:lnT>
                    <a:lnB w="6350" cap="flat" cmpd="sng" algn="ctr">
                      <a:solidFill>
                        <a:srgbClr val="B7B7B7"/>
                      </a:solidFill>
                      <a:prstDash val="solid"/>
                      <a:round/>
                      <a:headEnd type="none" w="med" len="med"/>
                      <a:tailEnd type="none" w="med" len="med"/>
                    </a:lnB>
                    <a:noFill/>
                  </a:tcPr>
                </a:tc>
                <a:tc>
                  <a:txBody>
                    <a:bodyPr/>
                    <a:lstStyle/>
                    <a:p>
                      <a:pPr algn="l" fontAlgn="t">
                        <a:buNone/>
                      </a:pPr>
                      <a:r>
                        <a:rPr lang="en-KE" sz="900" b="0" i="0" u="none" strike="noStrike" dirty="0">
                          <a:solidFill>
                            <a:srgbClr val="000000"/>
                          </a:solidFill>
                          <a:effectLst/>
                          <a:latin typeface="Poppins" panose="00000500000000000000" pitchFamily="2" charset="0"/>
                          <a:cs typeface="Poppins" panose="00000500000000000000" pitchFamily="2" charset="0"/>
                        </a:rPr>
                        <a:t>Timely funding disbursement; </a:t>
                      </a:r>
                      <a:r>
                        <a:rPr lang="en-KE" sz="900" b="0" i="0" u="none" strike="noStrike" dirty="0" err="1">
                          <a:solidFill>
                            <a:srgbClr val="000000"/>
                          </a:solidFill>
                          <a:effectLst/>
                          <a:latin typeface="Poppins" panose="00000500000000000000" pitchFamily="2" charset="0"/>
                          <a:cs typeface="Poppins" panose="00000500000000000000" pitchFamily="2" charset="0"/>
                        </a:rPr>
                        <a:t>favorable</a:t>
                      </a:r>
                      <a:r>
                        <a:rPr lang="en-KE" sz="900" b="0" i="0" u="none" strike="noStrike" dirty="0">
                          <a:solidFill>
                            <a:srgbClr val="000000"/>
                          </a:solidFill>
                          <a:effectLst/>
                          <a:latin typeface="Poppins" panose="00000500000000000000" pitchFamily="2" charset="0"/>
                          <a:cs typeface="Poppins" panose="00000500000000000000" pitchFamily="2" charset="0"/>
                        </a:rPr>
                        <a:t> weather allows trials to proceed as planned</a:t>
                      </a:r>
                    </a:p>
                  </a:txBody>
                  <a:tcPr marL="4927" marR="4927" marT="4927" marB="0">
                    <a:lnL w="6350" cap="flat" cmpd="sng" algn="ctr">
                      <a:solidFill>
                        <a:srgbClr val="B7B7B7"/>
                      </a:solidFill>
                      <a:prstDash val="solid"/>
                      <a:round/>
                      <a:headEnd type="none" w="med" len="med"/>
                      <a:tailEnd type="none" w="med" len="med"/>
                    </a:lnL>
                    <a:lnR w="6350" cap="flat" cmpd="sng" algn="ctr">
                      <a:solidFill>
                        <a:srgbClr val="B7B7B7"/>
                      </a:solidFill>
                      <a:prstDash val="solid"/>
                      <a:round/>
                      <a:headEnd type="none" w="med" len="med"/>
                      <a:tailEnd type="none" w="med" len="med"/>
                    </a:lnR>
                    <a:lnT w="6350" cap="flat" cmpd="sng" algn="ctr">
                      <a:solidFill>
                        <a:srgbClr val="B7B7B7"/>
                      </a:solidFill>
                      <a:prstDash val="solid"/>
                      <a:round/>
                      <a:headEnd type="none" w="med" len="med"/>
                      <a:tailEnd type="none" w="med" len="med"/>
                    </a:lnT>
                    <a:lnB w="6350" cap="flat" cmpd="sng" algn="ctr">
                      <a:solidFill>
                        <a:srgbClr val="B7B7B7"/>
                      </a:solidFill>
                      <a:prstDash val="solid"/>
                      <a:round/>
                      <a:headEnd type="none" w="med" len="med"/>
                      <a:tailEnd type="none" w="med" len="med"/>
                    </a:lnB>
                    <a:noFill/>
                  </a:tcPr>
                </a:tc>
                <a:extLst>
                  <a:ext uri="{0D108BD9-81ED-4DB2-BD59-A6C34878D82A}">
                    <a16:rowId xmlns:a16="http://schemas.microsoft.com/office/drawing/2014/main" val="3770402914"/>
                  </a:ext>
                </a:extLst>
              </a:tr>
            </a:tbl>
          </a:graphicData>
        </a:graphic>
      </p:graphicFrame>
      <p:sp>
        <p:nvSpPr>
          <p:cNvPr id="9" name="Title 1">
            <a:extLst>
              <a:ext uri="{FF2B5EF4-FFF2-40B4-BE49-F238E27FC236}">
                <a16:creationId xmlns:a16="http://schemas.microsoft.com/office/drawing/2014/main" id="{20DDE06F-ED83-9C8A-F561-D322143CBC61}"/>
              </a:ext>
            </a:extLst>
          </p:cNvPr>
          <p:cNvSpPr>
            <a:spLocks noGrp="1"/>
          </p:cNvSpPr>
          <p:nvPr>
            <p:ph type="title"/>
          </p:nvPr>
        </p:nvSpPr>
        <p:spPr>
          <a:xfrm>
            <a:off x="1181450" y="411689"/>
            <a:ext cx="7314550" cy="601288"/>
          </a:xfrm>
        </p:spPr>
        <p:txBody>
          <a:bodyPr/>
          <a:lstStyle/>
          <a:p>
            <a:r>
              <a:rPr lang="en-GB" sz="2400" b="1" dirty="0"/>
              <a:t>Sample Log frame</a:t>
            </a:r>
          </a:p>
        </p:txBody>
      </p:sp>
    </p:spTree>
    <p:extLst>
      <p:ext uri="{BB962C8B-B14F-4D97-AF65-F5344CB8AC3E}">
        <p14:creationId xmlns:p14="http://schemas.microsoft.com/office/powerpoint/2010/main" val="875702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a:extLst>
            <a:ext uri="{FF2B5EF4-FFF2-40B4-BE49-F238E27FC236}">
              <a16:creationId xmlns:a16="http://schemas.microsoft.com/office/drawing/2014/main" id="{8501538A-F510-4909-0FA0-515D341510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CF139A-D799-6112-0FB4-53A4598D761F}"/>
              </a:ext>
            </a:extLst>
          </p:cNvPr>
          <p:cNvSpPr>
            <a:spLocks noGrp="1"/>
          </p:cNvSpPr>
          <p:nvPr>
            <p:ph type="title"/>
          </p:nvPr>
        </p:nvSpPr>
        <p:spPr>
          <a:xfrm>
            <a:off x="736050" y="221438"/>
            <a:ext cx="7852200" cy="861000"/>
          </a:xfrm>
        </p:spPr>
        <p:txBody>
          <a:bodyPr/>
          <a:lstStyle/>
          <a:p>
            <a:r>
              <a:rPr lang="en-GB" sz="2800" b="1" dirty="0">
                <a:solidFill>
                  <a:srgbClr val="002060"/>
                </a:solidFill>
              </a:rPr>
              <a:t>Sample Theory of Change</a:t>
            </a:r>
          </a:p>
        </p:txBody>
      </p:sp>
      <p:pic>
        <p:nvPicPr>
          <p:cNvPr id="6" name="Picture 5">
            <a:extLst>
              <a:ext uri="{FF2B5EF4-FFF2-40B4-BE49-F238E27FC236}">
                <a16:creationId xmlns:a16="http://schemas.microsoft.com/office/drawing/2014/main" id="{20187009-959F-0DB0-8794-9A2CF3E90FB1}"/>
              </a:ext>
            </a:extLst>
          </p:cNvPr>
          <p:cNvPicPr>
            <a:picLocks noChangeAspect="1"/>
          </p:cNvPicPr>
          <p:nvPr/>
        </p:nvPicPr>
        <p:blipFill>
          <a:blip r:embed="rId2"/>
          <a:stretch>
            <a:fillRect/>
          </a:stretch>
        </p:blipFill>
        <p:spPr>
          <a:xfrm>
            <a:off x="736050" y="1076373"/>
            <a:ext cx="3695344" cy="3423628"/>
          </a:xfrm>
          <a:prstGeom prst="rect">
            <a:avLst/>
          </a:prstGeom>
          <a:solidFill>
            <a:schemeClr val="tx1"/>
          </a:solidFill>
          <a:ln>
            <a:solidFill>
              <a:schemeClr val="tx1"/>
            </a:solidFill>
          </a:ln>
        </p:spPr>
      </p:pic>
      <p:sp>
        <p:nvSpPr>
          <p:cNvPr id="9" name="TextBox 8">
            <a:extLst>
              <a:ext uri="{FF2B5EF4-FFF2-40B4-BE49-F238E27FC236}">
                <a16:creationId xmlns:a16="http://schemas.microsoft.com/office/drawing/2014/main" id="{CE65377D-0736-A447-0412-8EAEA00C4D07}"/>
              </a:ext>
            </a:extLst>
          </p:cNvPr>
          <p:cNvSpPr txBox="1"/>
          <p:nvPr/>
        </p:nvSpPr>
        <p:spPr>
          <a:xfrm>
            <a:off x="4572000" y="1508724"/>
            <a:ext cx="4422028" cy="2492990"/>
          </a:xfrm>
          <a:prstGeom prst="rect">
            <a:avLst/>
          </a:prstGeom>
          <a:noFill/>
        </p:spPr>
        <p:txBody>
          <a:bodyPr wrap="square">
            <a:spAutoFit/>
          </a:bodyPr>
          <a:lstStyle/>
          <a:p>
            <a:pPr marL="342900" lvl="0" indent="-342900">
              <a:buFont typeface="Arial" panose="020B0604020202020204" pitchFamily="34" charset="0"/>
              <a:buChar char="•"/>
            </a:pPr>
            <a:r>
              <a:rPr lang="en-KE" sz="1200" b="1" dirty="0">
                <a:solidFill>
                  <a:srgbClr val="002060"/>
                </a:solidFill>
                <a:latin typeface="Poppins" panose="00000500000000000000" pitchFamily="2" charset="0"/>
                <a:cs typeface="Poppins" panose="00000500000000000000" pitchFamily="2" charset="0"/>
              </a:rPr>
              <a:t>Inputs → Activities → Outputs</a:t>
            </a:r>
            <a:r>
              <a:rPr lang="en-KE" sz="1200" dirty="0">
                <a:solidFill>
                  <a:srgbClr val="002060"/>
                </a:solidFill>
                <a:latin typeface="Poppins" panose="00000500000000000000" pitchFamily="2" charset="0"/>
                <a:cs typeface="Poppins" panose="00000500000000000000" pitchFamily="2" charset="0"/>
              </a:rPr>
              <a:t> </a:t>
            </a:r>
            <a:r>
              <a:rPr lang="en-KE" sz="1200" dirty="0">
                <a:latin typeface="Poppins" panose="00000500000000000000" pitchFamily="2" charset="0"/>
                <a:cs typeface="Poppins" panose="00000500000000000000" pitchFamily="2" charset="0"/>
              </a:rPr>
              <a:t>are the "build" stages — the parts a research team directly controls (funding, fieldwork, training materials).</a:t>
            </a:r>
            <a:endParaRPr lang="en-US" sz="1200" dirty="0">
              <a:latin typeface="Poppins" panose="00000500000000000000" pitchFamily="2" charset="0"/>
              <a:cs typeface="Poppins" panose="00000500000000000000" pitchFamily="2" charset="0"/>
            </a:endParaRPr>
          </a:p>
          <a:p>
            <a:pPr marL="342900" lvl="0" indent="-342900">
              <a:buFont typeface="Arial" panose="020B0604020202020204" pitchFamily="34" charset="0"/>
              <a:buChar char="•"/>
            </a:pPr>
            <a:endParaRPr lang="en-KE" sz="1200" dirty="0">
              <a:latin typeface="Poppins" panose="00000500000000000000" pitchFamily="2" charset="0"/>
              <a:cs typeface="Poppins" panose="00000500000000000000" pitchFamily="2" charset="0"/>
            </a:endParaRPr>
          </a:p>
          <a:p>
            <a:pPr marL="342900" lvl="0" indent="-342900">
              <a:buFont typeface="Arial" panose="020B0604020202020204" pitchFamily="34" charset="0"/>
              <a:buChar char="•"/>
            </a:pPr>
            <a:r>
              <a:rPr lang="en-KE" sz="1200" b="1" dirty="0">
                <a:solidFill>
                  <a:srgbClr val="002060"/>
                </a:solidFill>
                <a:latin typeface="Poppins" panose="00000500000000000000" pitchFamily="2" charset="0"/>
                <a:cs typeface="Poppins" panose="00000500000000000000" pitchFamily="2" charset="0"/>
              </a:rPr>
              <a:t>Outcomes → Impact</a:t>
            </a:r>
            <a:r>
              <a:rPr lang="en-KE" sz="1200" dirty="0">
                <a:solidFill>
                  <a:srgbClr val="002060"/>
                </a:solidFill>
                <a:latin typeface="Poppins" panose="00000500000000000000" pitchFamily="2" charset="0"/>
                <a:cs typeface="Poppins" panose="00000500000000000000" pitchFamily="2" charset="0"/>
              </a:rPr>
              <a:t> </a:t>
            </a:r>
            <a:r>
              <a:rPr lang="en-KE" sz="1200" dirty="0">
                <a:latin typeface="Poppins" panose="00000500000000000000" pitchFamily="2" charset="0"/>
                <a:cs typeface="Poppins" panose="00000500000000000000" pitchFamily="2" charset="0"/>
              </a:rPr>
              <a:t>are the "result" stages — changes in the world that depend on other people acting (farmers adopting, households benefiting), which the project can influence but not fully control.</a:t>
            </a:r>
            <a:endParaRPr lang="en-US" sz="1200" dirty="0">
              <a:latin typeface="Poppins" panose="00000500000000000000" pitchFamily="2" charset="0"/>
              <a:cs typeface="Poppins" panose="00000500000000000000" pitchFamily="2" charset="0"/>
            </a:endParaRPr>
          </a:p>
          <a:p>
            <a:pPr marL="342900" lvl="0" indent="-342900">
              <a:buFont typeface="Arial" panose="020B0604020202020204" pitchFamily="34" charset="0"/>
              <a:buChar char="•"/>
            </a:pPr>
            <a:endParaRPr lang="en-KE" sz="1200" dirty="0">
              <a:latin typeface="Poppins" panose="00000500000000000000" pitchFamily="2" charset="0"/>
              <a:cs typeface="Poppins" panose="00000500000000000000" pitchFamily="2" charset="0"/>
            </a:endParaRPr>
          </a:p>
          <a:p>
            <a:pPr marL="342900" lvl="0" indent="-342900">
              <a:buFont typeface="Arial" panose="020B0604020202020204" pitchFamily="34" charset="0"/>
              <a:buChar char="•"/>
            </a:pPr>
            <a:r>
              <a:rPr lang="en-KE" sz="1200" dirty="0">
                <a:latin typeface="Poppins" panose="00000500000000000000" pitchFamily="2" charset="0"/>
                <a:cs typeface="Poppins" panose="00000500000000000000" pitchFamily="2" charset="0"/>
              </a:rPr>
              <a:t>Each arrow carries its own </a:t>
            </a:r>
            <a:r>
              <a:rPr lang="en-KE" sz="1200" b="1" dirty="0">
                <a:solidFill>
                  <a:srgbClr val="002060"/>
                </a:solidFill>
                <a:latin typeface="Poppins" panose="00000500000000000000" pitchFamily="2" charset="0"/>
                <a:cs typeface="Poppins" panose="00000500000000000000" pitchFamily="2" charset="0"/>
              </a:rPr>
              <a:t>assumption</a:t>
            </a:r>
            <a:r>
              <a:rPr lang="en-KE" sz="1200" dirty="0">
                <a:latin typeface="Poppins" panose="00000500000000000000" pitchFamily="2" charset="0"/>
                <a:cs typeface="Poppins" panose="00000500000000000000" pitchFamily="2" charset="0"/>
              </a:rPr>
              <a:t> — the thing that has to hold true for the pathway to keep moving forward.</a:t>
            </a:r>
          </a:p>
        </p:txBody>
      </p:sp>
    </p:spTree>
    <p:extLst>
      <p:ext uri="{BB962C8B-B14F-4D97-AF65-F5344CB8AC3E}">
        <p14:creationId xmlns:p14="http://schemas.microsoft.com/office/powerpoint/2010/main" val="23586414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a:extLst>
            <a:ext uri="{FF2B5EF4-FFF2-40B4-BE49-F238E27FC236}">
              <a16:creationId xmlns:a16="http://schemas.microsoft.com/office/drawing/2014/main" id="{D380E31F-04C4-68F4-1083-A0F4C9C2EE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997049-21F3-BFE4-A9A7-A7132DA0E352}"/>
              </a:ext>
            </a:extLst>
          </p:cNvPr>
          <p:cNvSpPr>
            <a:spLocks noGrp="1"/>
          </p:cNvSpPr>
          <p:nvPr>
            <p:ph type="title"/>
          </p:nvPr>
        </p:nvSpPr>
        <p:spPr>
          <a:xfrm>
            <a:off x="1224650" y="457112"/>
            <a:ext cx="7688950" cy="478888"/>
          </a:xfrm>
        </p:spPr>
        <p:txBody>
          <a:bodyPr/>
          <a:lstStyle/>
          <a:p>
            <a:r>
              <a:rPr lang="en-GB" sz="3600" b="1" dirty="0">
                <a:sym typeface="Wingdings" panose="05000000000000000000" pitchFamily="2" charset="2"/>
              </a:rPr>
              <a:t>Measuring impact, example</a:t>
            </a:r>
            <a:r>
              <a:rPr lang="en-GB" sz="3600" b="1" dirty="0"/>
              <a:t> </a:t>
            </a:r>
          </a:p>
        </p:txBody>
      </p:sp>
      <p:graphicFrame>
        <p:nvGraphicFramePr>
          <p:cNvPr id="5" name="Table 0">
            <a:extLst>
              <a:ext uri="{FF2B5EF4-FFF2-40B4-BE49-F238E27FC236}">
                <a16:creationId xmlns:a16="http://schemas.microsoft.com/office/drawing/2014/main" id="{08C133C5-06C2-29CC-D5ED-0274FF651A7C}"/>
              </a:ext>
            </a:extLst>
          </p:cNvPr>
          <p:cNvGraphicFramePr>
            <a:graphicFrameLocks noGrp="1"/>
          </p:cNvGraphicFramePr>
          <p:nvPr>
            <p:extLst>
              <p:ext uri="{D42A27DB-BD31-4B8C-83A1-F6EECF244321}">
                <p14:modId xmlns:p14="http://schemas.microsoft.com/office/powerpoint/2010/main" val="290506446"/>
              </p:ext>
            </p:extLst>
          </p:nvPr>
        </p:nvGraphicFramePr>
        <p:xfrm>
          <a:off x="1224650" y="1379160"/>
          <a:ext cx="6188029" cy="3115056"/>
        </p:xfrm>
        <a:graphic>
          <a:graphicData uri="http://schemas.openxmlformats.org/drawingml/2006/table">
            <a:tbl>
              <a:tblPr/>
              <a:tblGrid>
                <a:gridCol w="1896331">
                  <a:extLst>
                    <a:ext uri="{9D8B030D-6E8A-4147-A177-3AD203B41FA5}">
                      <a16:colId xmlns:a16="http://schemas.microsoft.com/office/drawing/2014/main" val="20000"/>
                    </a:ext>
                  </a:extLst>
                </a:gridCol>
                <a:gridCol w="4291698">
                  <a:extLst>
                    <a:ext uri="{9D8B030D-6E8A-4147-A177-3AD203B41FA5}">
                      <a16:colId xmlns:a16="http://schemas.microsoft.com/office/drawing/2014/main" val="20001"/>
                    </a:ext>
                  </a:extLst>
                </a:gridCol>
              </a:tblGrid>
              <a:tr h="438912">
                <a:tc>
                  <a:txBody>
                    <a:bodyPr/>
                    <a:lstStyle/>
                    <a:p>
                      <a:pPr marL="0" indent="0">
                        <a:buNone/>
                      </a:pPr>
                      <a:r>
                        <a:rPr lang="en-US" sz="1400" b="1" dirty="0">
                          <a:solidFill>
                            <a:srgbClr val="FFFFFF"/>
                          </a:solidFill>
                          <a:latin typeface="Poppins" panose="00000500000000000000" pitchFamily="2" charset="0"/>
                          <a:ea typeface="Calibri" pitchFamily="34" charset="-122"/>
                          <a:cs typeface="Poppins" panose="00000500000000000000" pitchFamily="2" charset="0"/>
                        </a:rPr>
                        <a:t>Domain</a:t>
                      </a:r>
                      <a:endParaRPr lang="en-US" sz="1400" dirty="0">
                        <a:latin typeface="Poppins" panose="00000500000000000000" pitchFamily="2" charset="0"/>
                        <a:ea typeface="Calibri" charset="0"/>
                        <a:cs typeface="Poppins" panose="00000500000000000000" pitchFamily="2" charset="0"/>
                      </a:endParaRPr>
                    </a:p>
                  </a:txBody>
                  <a:tcPr marL="76200" marR="76200" marT="50800" marB="50800" anchor="ctr">
                    <a:lnL w="6350" cap="flat" cmpd="sng" algn="ctr">
                      <a:solidFill>
                        <a:srgbClr val="DADFE3"/>
                      </a:solidFill>
                      <a:prstDash val="solid"/>
                      <a:round/>
                      <a:headEnd type="none" w="med" len="med"/>
                      <a:tailEnd type="none" w="med" len="med"/>
                    </a:lnL>
                    <a:lnR w="6350" cap="flat" cmpd="sng" algn="ctr">
                      <a:solidFill>
                        <a:srgbClr val="DADFE3"/>
                      </a:solidFill>
                      <a:prstDash val="solid"/>
                      <a:round/>
                      <a:headEnd type="none" w="med" len="med"/>
                      <a:tailEnd type="none" w="med" len="med"/>
                    </a:lnR>
                    <a:lnT w="6350" cap="flat" cmpd="sng" algn="ctr">
                      <a:solidFill>
                        <a:srgbClr val="DADFE3"/>
                      </a:solidFill>
                      <a:prstDash val="solid"/>
                      <a:round/>
                      <a:headEnd type="none" w="med" len="med"/>
                      <a:tailEnd type="none" w="med" len="med"/>
                    </a:lnT>
                    <a:lnB w="6350" cap="flat" cmpd="sng" algn="ctr">
                      <a:solidFill>
                        <a:srgbClr val="DADFE3"/>
                      </a:solidFill>
                      <a:prstDash val="solid"/>
                      <a:round/>
                      <a:headEnd type="none" w="med" len="med"/>
                      <a:tailEnd type="none" w="med" len="med"/>
                    </a:lnB>
                    <a:solidFill>
                      <a:srgbClr val="002060"/>
                    </a:solidFill>
                  </a:tcPr>
                </a:tc>
                <a:tc>
                  <a:txBody>
                    <a:bodyPr/>
                    <a:lstStyle/>
                    <a:p>
                      <a:pPr marL="0" indent="0">
                        <a:buNone/>
                      </a:pPr>
                      <a:r>
                        <a:rPr lang="en-US" sz="1400" b="1" dirty="0">
                          <a:solidFill>
                            <a:srgbClr val="FFFFFF"/>
                          </a:solidFill>
                          <a:latin typeface="Poppins" panose="00000500000000000000" pitchFamily="2" charset="0"/>
                          <a:ea typeface="Calibri" pitchFamily="34" charset="-122"/>
                          <a:cs typeface="Poppins" panose="00000500000000000000" pitchFamily="2" charset="0"/>
                        </a:rPr>
                        <a:t>Example Indicator</a:t>
                      </a:r>
                      <a:endParaRPr lang="en-US" sz="1400" dirty="0">
                        <a:latin typeface="Poppins" panose="00000500000000000000" pitchFamily="2" charset="0"/>
                        <a:ea typeface="Calibri" charset="0"/>
                        <a:cs typeface="Poppins" panose="00000500000000000000" pitchFamily="2" charset="0"/>
                      </a:endParaRPr>
                    </a:p>
                  </a:txBody>
                  <a:tcPr marL="76200" marR="76200" marT="50800" marB="50800" anchor="ctr">
                    <a:lnL w="6350" cap="flat" cmpd="sng" algn="ctr">
                      <a:solidFill>
                        <a:srgbClr val="DADFE3"/>
                      </a:solidFill>
                      <a:prstDash val="solid"/>
                      <a:round/>
                      <a:headEnd type="none" w="med" len="med"/>
                      <a:tailEnd type="none" w="med" len="med"/>
                    </a:lnL>
                    <a:lnR w="6350" cap="flat" cmpd="sng" algn="ctr">
                      <a:solidFill>
                        <a:srgbClr val="DADFE3"/>
                      </a:solidFill>
                      <a:prstDash val="solid"/>
                      <a:round/>
                      <a:headEnd type="none" w="med" len="med"/>
                      <a:tailEnd type="none" w="med" len="med"/>
                    </a:lnR>
                    <a:lnT w="6350" cap="flat" cmpd="sng" algn="ctr">
                      <a:solidFill>
                        <a:srgbClr val="DADFE3"/>
                      </a:solidFill>
                      <a:prstDash val="solid"/>
                      <a:round/>
                      <a:headEnd type="none" w="med" len="med"/>
                      <a:tailEnd type="none" w="med" len="med"/>
                    </a:lnT>
                    <a:lnB w="6350" cap="flat" cmpd="sng" algn="ctr">
                      <a:solidFill>
                        <a:srgbClr val="DADFE3"/>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438912">
                <a:tc>
                  <a:txBody>
                    <a:bodyPr/>
                    <a:lstStyle/>
                    <a:p>
                      <a:pPr marL="0" indent="0">
                        <a:buNone/>
                      </a:pPr>
                      <a:r>
                        <a:rPr lang="en-US" sz="1400" dirty="0">
                          <a:solidFill>
                            <a:srgbClr val="232B32"/>
                          </a:solidFill>
                          <a:latin typeface="Poppins" panose="00000500000000000000" pitchFamily="2" charset="0"/>
                          <a:ea typeface="Calibri" pitchFamily="34" charset="-122"/>
                          <a:cs typeface="Poppins" panose="00000500000000000000" pitchFamily="2" charset="0"/>
                        </a:rPr>
                        <a:t>Policy</a:t>
                      </a:r>
                      <a:endParaRPr lang="en-US" sz="1400" dirty="0">
                        <a:latin typeface="Poppins" panose="00000500000000000000" pitchFamily="2" charset="0"/>
                        <a:ea typeface="Calibri" charset="0"/>
                        <a:cs typeface="Poppins" panose="00000500000000000000" pitchFamily="2" charset="0"/>
                      </a:endParaRPr>
                    </a:p>
                  </a:txBody>
                  <a:tcPr marL="76200" marR="76200" marT="50800" marB="50800" anchor="ctr">
                    <a:lnL w="6350" cap="flat" cmpd="sng" algn="ctr">
                      <a:solidFill>
                        <a:srgbClr val="DADFE3"/>
                      </a:solidFill>
                      <a:prstDash val="solid"/>
                      <a:round/>
                      <a:headEnd type="none" w="med" len="med"/>
                      <a:tailEnd type="none" w="med" len="med"/>
                    </a:lnL>
                    <a:lnR w="6350" cap="flat" cmpd="sng" algn="ctr">
                      <a:solidFill>
                        <a:srgbClr val="DADFE3"/>
                      </a:solidFill>
                      <a:prstDash val="solid"/>
                      <a:round/>
                      <a:headEnd type="none" w="med" len="med"/>
                      <a:tailEnd type="none" w="med" len="med"/>
                    </a:lnR>
                    <a:lnT w="6350" cap="flat" cmpd="sng" algn="ctr">
                      <a:solidFill>
                        <a:srgbClr val="DADFE3"/>
                      </a:solidFill>
                      <a:prstDash val="solid"/>
                      <a:round/>
                      <a:headEnd type="none" w="med" len="med"/>
                      <a:tailEnd type="none" w="med" len="med"/>
                    </a:lnT>
                    <a:lnB w="6350" cap="flat" cmpd="sng" algn="ctr">
                      <a:solidFill>
                        <a:srgbClr val="DADFE3"/>
                      </a:solidFill>
                      <a:prstDash val="solid"/>
                      <a:round/>
                      <a:headEnd type="none" w="med" len="med"/>
                      <a:tailEnd type="none" w="med" len="med"/>
                    </a:lnB>
                    <a:solidFill>
                      <a:srgbClr val="FFFFFF"/>
                    </a:solidFill>
                  </a:tcPr>
                </a:tc>
                <a:tc>
                  <a:txBody>
                    <a:bodyPr/>
                    <a:lstStyle/>
                    <a:p>
                      <a:pPr marL="0" indent="0">
                        <a:buNone/>
                      </a:pPr>
                      <a:r>
                        <a:rPr lang="en-US" sz="1400" dirty="0">
                          <a:solidFill>
                            <a:srgbClr val="232B32"/>
                          </a:solidFill>
                          <a:latin typeface="Poppins" panose="00000500000000000000" pitchFamily="2" charset="0"/>
                          <a:ea typeface="Calibri" pitchFamily="34" charset="-122"/>
                          <a:cs typeface="Poppins" panose="00000500000000000000" pitchFamily="2" charset="0"/>
                        </a:rPr>
                        <a:t>Adaptation policies/bills citing the research</a:t>
                      </a:r>
                      <a:endParaRPr lang="en-US" sz="1400" dirty="0">
                        <a:latin typeface="Poppins" panose="00000500000000000000" pitchFamily="2" charset="0"/>
                        <a:ea typeface="Calibri" charset="0"/>
                        <a:cs typeface="Poppins" panose="00000500000000000000" pitchFamily="2" charset="0"/>
                      </a:endParaRPr>
                    </a:p>
                  </a:txBody>
                  <a:tcPr marL="76200" marR="76200" marT="50800" marB="50800" anchor="ctr">
                    <a:lnL w="6350" cap="flat" cmpd="sng" algn="ctr">
                      <a:solidFill>
                        <a:srgbClr val="DADFE3"/>
                      </a:solidFill>
                      <a:prstDash val="solid"/>
                      <a:round/>
                      <a:headEnd type="none" w="med" len="med"/>
                      <a:tailEnd type="none" w="med" len="med"/>
                    </a:lnL>
                    <a:lnR w="6350" cap="flat" cmpd="sng" algn="ctr">
                      <a:solidFill>
                        <a:srgbClr val="DADFE3"/>
                      </a:solidFill>
                      <a:prstDash val="solid"/>
                      <a:round/>
                      <a:headEnd type="none" w="med" len="med"/>
                      <a:tailEnd type="none" w="med" len="med"/>
                    </a:lnR>
                    <a:lnT w="6350" cap="flat" cmpd="sng" algn="ctr">
                      <a:solidFill>
                        <a:srgbClr val="DADFE3"/>
                      </a:solidFill>
                      <a:prstDash val="solid"/>
                      <a:round/>
                      <a:headEnd type="none" w="med" len="med"/>
                      <a:tailEnd type="none" w="med" len="med"/>
                    </a:lnT>
                    <a:lnB w="6350" cap="flat" cmpd="sng" algn="ctr">
                      <a:solidFill>
                        <a:srgbClr val="DADF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buNone/>
                      </a:pPr>
                      <a:r>
                        <a:rPr lang="en-US" sz="1400" dirty="0">
                          <a:solidFill>
                            <a:srgbClr val="232B32"/>
                          </a:solidFill>
                          <a:latin typeface="Poppins" panose="00000500000000000000" pitchFamily="2" charset="0"/>
                          <a:ea typeface="Calibri" pitchFamily="34" charset="-122"/>
                          <a:cs typeface="Poppins" panose="00000500000000000000" pitchFamily="2" charset="0"/>
                        </a:rPr>
                        <a:t>Practice</a:t>
                      </a:r>
                      <a:endParaRPr lang="en-US" sz="1400" dirty="0">
                        <a:latin typeface="Poppins" panose="00000500000000000000" pitchFamily="2" charset="0"/>
                        <a:ea typeface="Calibri" charset="0"/>
                        <a:cs typeface="Poppins" panose="00000500000000000000" pitchFamily="2" charset="0"/>
                      </a:endParaRPr>
                    </a:p>
                  </a:txBody>
                  <a:tcPr marL="76200" marR="76200" marT="50800" marB="50800" anchor="ctr">
                    <a:lnL w="6350" cap="flat" cmpd="sng" algn="ctr">
                      <a:solidFill>
                        <a:srgbClr val="DADFE3"/>
                      </a:solidFill>
                      <a:prstDash val="solid"/>
                      <a:round/>
                      <a:headEnd type="none" w="med" len="med"/>
                      <a:tailEnd type="none" w="med" len="med"/>
                    </a:lnL>
                    <a:lnR w="6350" cap="flat" cmpd="sng" algn="ctr">
                      <a:solidFill>
                        <a:srgbClr val="DADFE3"/>
                      </a:solidFill>
                      <a:prstDash val="solid"/>
                      <a:round/>
                      <a:headEnd type="none" w="med" len="med"/>
                      <a:tailEnd type="none" w="med" len="med"/>
                    </a:lnR>
                    <a:lnT w="6350" cap="flat" cmpd="sng" algn="ctr">
                      <a:solidFill>
                        <a:srgbClr val="DADFE3"/>
                      </a:solidFill>
                      <a:prstDash val="solid"/>
                      <a:round/>
                      <a:headEnd type="none" w="med" len="med"/>
                      <a:tailEnd type="none" w="med" len="med"/>
                    </a:lnT>
                    <a:lnB w="6350" cap="flat" cmpd="sng" algn="ctr">
                      <a:solidFill>
                        <a:srgbClr val="DADFE3"/>
                      </a:solidFill>
                      <a:prstDash val="solid"/>
                      <a:round/>
                      <a:headEnd type="none" w="med" len="med"/>
                      <a:tailEnd type="none" w="med" len="med"/>
                    </a:lnB>
                    <a:solidFill>
                      <a:srgbClr val="EEF1F4"/>
                    </a:solidFill>
                  </a:tcPr>
                </a:tc>
                <a:tc>
                  <a:txBody>
                    <a:bodyPr/>
                    <a:lstStyle/>
                    <a:p>
                      <a:pPr marL="0" indent="0">
                        <a:buNone/>
                      </a:pPr>
                      <a:r>
                        <a:rPr lang="en-US" sz="1400" dirty="0">
                          <a:solidFill>
                            <a:srgbClr val="232B32"/>
                          </a:solidFill>
                          <a:latin typeface="Poppins" panose="00000500000000000000" pitchFamily="2" charset="0"/>
                          <a:ea typeface="Calibri" pitchFamily="34" charset="-122"/>
                          <a:cs typeface="Poppins" panose="00000500000000000000" pitchFamily="2" charset="0"/>
                        </a:rPr>
                        <a:t>Farmers/communities adopting a practice from the research. Use of new tools from the research</a:t>
                      </a:r>
                      <a:endParaRPr lang="en-US" sz="1400" dirty="0">
                        <a:latin typeface="Poppins" panose="00000500000000000000" pitchFamily="2" charset="0"/>
                        <a:ea typeface="Calibri" charset="0"/>
                        <a:cs typeface="Poppins" panose="00000500000000000000" pitchFamily="2" charset="0"/>
                      </a:endParaRPr>
                    </a:p>
                  </a:txBody>
                  <a:tcPr marL="76200" marR="76200" marT="50800" marB="50800" anchor="ctr">
                    <a:lnL w="6350" cap="flat" cmpd="sng" algn="ctr">
                      <a:solidFill>
                        <a:srgbClr val="DADFE3"/>
                      </a:solidFill>
                      <a:prstDash val="solid"/>
                      <a:round/>
                      <a:headEnd type="none" w="med" len="med"/>
                      <a:tailEnd type="none" w="med" len="med"/>
                    </a:lnL>
                    <a:lnR w="6350" cap="flat" cmpd="sng" algn="ctr">
                      <a:solidFill>
                        <a:srgbClr val="DADFE3"/>
                      </a:solidFill>
                      <a:prstDash val="solid"/>
                      <a:round/>
                      <a:headEnd type="none" w="med" len="med"/>
                      <a:tailEnd type="none" w="med" len="med"/>
                    </a:lnR>
                    <a:lnT w="6350" cap="flat" cmpd="sng" algn="ctr">
                      <a:solidFill>
                        <a:srgbClr val="DADFE3"/>
                      </a:solidFill>
                      <a:prstDash val="solid"/>
                      <a:round/>
                      <a:headEnd type="none" w="med" len="med"/>
                      <a:tailEnd type="none" w="med" len="med"/>
                    </a:lnT>
                    <a:lnB w="6350" cap="flat" cmpd="sng" algn="ctr">
                      <a:solidFill>
                        <a:srgbClr val="DADFE3"/>
                      </a:solidFill>
                      <a:prstDash val="solid"/>
                      <a:round/>
                      <a:headEnd type="none" w="med" len="med"/>
                      <a:tailEnd type="none" w="med" len="med"/>
                    </a:lnB>
                    <a:solidFill>
                      <a:srgbClr val="EEF1F4"/>
                    </a:solidFill>
                  </a:tcPr>
                </a:tc>
                <a:extLst>
                  <a:ext uri="{0D108BD9-81ED-4DB2-BD59-A6C34878D82A}">
                    <a16:rowId xmlns:a16="http://schemas.microsoft.com/office/drawing/2014/main" val="10002"/>
                  </a:ext>
                </a:extLst>
              </a:tr>
              <a:tr h="438912">
                <a:tc>
                  <a:txBody>
                    <a:bodyPr/>
                    <a:lstStyle/>
                    <a:p>
                      <a:pPr marL="0" indent="0">
                        <a:buNone/>
                      </a:pPr>
                      <a:r>
                        <a:rPr lang="en-US" sz="1400" dirty="0">
                          <a:solidFill>
                            <a:srgbClr val="232B32"/>
                          </a:solidFill>
                          <a:latin typeface="Poppins" panose="00000500000000000000" pitchFamily="2" charset="0"/>
                          <a:ea typeface="Calibri" pitchFamily="34" charset="-122"/>
                          <a:cs typeface="Poppins" panose="00000500000000000000" pitchFamily="2" charset="0"/>
                        </a:rPr>
                        <a:t>Capacity</a:t>
                      </a:r>
                      <a:endParaRPr lang="en-US" sz="1400" dirty="0">
                        <a:latin typeface="Poppins" panose="00000500000000000000" pitchFamily="2" charset="0"/>
                        <a:ea typeface="Calibri" charset="0"/>
                        <a:cs typeface="Poppins" panose="00000500000000000000" pitchFamily="2" charset="0"/>
                      </a:endParaRPr>
                    </a:p>
                  </a:txBody>
                  <a:tcPr marL="76200" marR="76200" marT="50800" marB="50800" anchor="ctr">
                    <a:lnL w="6350" cap="flat" cmpd="sng" algn="ctr">
                      <a:solidFill>
                        <a:srgbClr val="DADFE3"/>
                      </a:solidFill>
                      <a:prstDash val="solid"/>
                      <a:round/>
                      <a:headEnd type="none" w="med" len="med"/>
                      <a:tailEnd type="none" w="med" len="med"/>
                    </a:lnL>
                    <a:lnR w="6350" cap="flat" cmpd="sng" algn="ctr">
                      <a:solidFill>
                        <a:srgbClr val="DADFE3"/>
                      </a:solidFill>
                      <a:prstDash val="solid"/>
                      <a:round/>
                      <a:headEnd type="none" w="med" len="med"/>
                      <a:tailEnd type="none" w="med" len="med"/>
                    </a:lnR>
                    <a:lnT w="6350" cap="flat" cmpd="sng" algn="ctr">
                      <a:solidFill>
                        <a:srgbClr val="DADFE3"/>
                      </a:solidFill>
                      <a:prstDash val="solid"/>
                      <a:round/>
                      <a:headEnd type="none" w="med" len="med"/>
                      <a:tailEnd type="none" w="med" len="med"/>
                    </a:lnT>
                    <a:lnB w="6350" cap="flat" cmpd="sng" algn="ctr">
                      <a:solidFill>
                        <a:srgbClr val="DADFE3"/>
                      </a:solidFill>
                      <a:prstDash val="solid"/>
                      <a:round/>
                      <a:headEnd type="none" w="med" len="med"/>
                      <a:tailEnd type="none" w="med" len="med"/>
                    </a:lnB>
                    <a:solidFill>
                      <a:srgbClr val="FFFFFF"/>
                    </a:solidFill>
                  </a:tcPr>
                </a:tc>
                <a:tc>
                  <a:txBody>
                    <a:bodyPr/>
                    <a:lstStyle/>
                    <a:p>
                      <a:pPr marL="0" indent="0">
                        <a:buNone/>
                      </a:pPr>
                      <a:r>
                        <a:rPr lang="en-US" sz="1400" dirty="0">
                          <a:solidFill>
                            <a:srgbClr val="232B32"/>
                          </a:solidFill>
                          <a:latin typeface="Poppins" panose="00000500000000000000" pitchFamily="2" charset="0"/>
                          <a:ea typeface="Calibri" pitchFamily="34" charset="-122"/>
                          <a:cs typeface="Poppins" panose="00000500000000000000" pitchFamily="2" charset="0"/>
                        </a:rPr>
                        <a:t>Researchers trained and using tools from research</a:t>
                      </a:r>
                      <a:endParaRPr lang="en-US" sz="1400" dirty="0">
                        <a:latin typeface="Poppins" panose="00000500000000000000" pitchFamily="2" charset="0"/>
                        <a:ea typeface="Calibri" charset="0"/>
                        <a:cs typeface="Poppins" panose="00000500000000000000" pitchFamily="2" charset="0"/>
                      </a:endParaRPr>
                    </a:p>
                  </a:txBody>
                  <a:tcPr marL="76200" marR="76200" marT="50800" marB="50800" anchor="ctr">
                    <a:lnL w="6350" cap="flat" cmpd="sng" algn="ctr">
                      <a:solidFill>
                        <a:srgbClr val="DADFE3"/>
                      </a:solidFill>
                      <a:prstDash val="solid"/>
                      <a:round/>
                      <a:headEnd type="none" w="med" len="med"/>
                      <a:tailEnd type="none" w="med" len="med"/>
                    </a:lnL>
                    <a:lnR w="6350" cap="flat" cmpd="sng" algn="ctr">
                      <a:solidFill>
                        <a:srgbClr val="DADFE3"/>
                      </a:solidFill>
                      <a:prstDash val="solid"/>
                      <a:round/>
                      <a:headEnd type="none" w="med" len="med"/>
                      <a:tailEnd type="none" w="med" len="med"/>
                    </a:lnR>
                    <a:lnT w="6350" cap="flat" cmpd="sng" algn="ctr">
                      <a:solidFill>
                        <a:srgbClr val="DADFE3"/>
                      </a:solidFill>
                      <a:prstDash val="solid"/>
                      <a:round/>
                      <a:headEnd type="none" w="med" len="med"/>
                      <a:tailEnd type="none" w="med" len="med"/>
                    </a:lnT>
                    <a:lnB w="6350" cap="flat" cmpd="sng" algn="ctr">
                      <a:solidFill>
                        <a:srgbClr val="DADF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buNone/>
                      </a:pPr>
                      <a:r>
                        <a:rPr lang="en-US" sz="1400" dirty="0">
                          <a:solidFill>
                            <a:srgbClr val="232B32"/>
                          </a:solidFill>
                          <a:latin typeface="Poppins" panose="00000500000000000000" pitchFamily="2" charset="0"/>
                          <a:ea typeface="Calibri" pitchFamily="34" charset="-122"/>
                          <a:cs typeface="Poppins" panose="00000500000000000000" pitchFamily="2" charset="0"/>
                        </a:rPr>
                        <a:t>Resilience</a:t>
                      </a:r>
                      <a:endParaRPr lang="en-US" sz="1400" dirty="0">
                        <a:latin typeface="Poppins" panose="00000500000000000000" pitchFamily="2" charset="0"/>
                        <a:ea typeface="Calibri" charset="0"/>
                        <a:cs typeface="Poppins" panose="00000500000000000000" pitchFamily="2" charset="0"/>
                      </a:endParaRPr>
                    </a:p>
                  </a:txBody>
                  <a:tcPr marL="76200" marR="76200" marT="50800" marB="50800" anchor="ctr">
                    <a:lnL w="6350" cap="flat" cmpd="sng" algn="ctr">
                      <a:solidFill>
                        <a:srgbClr val="DADFE3"/>
                      </a:solidFill>
                      <a:prstDash val="solid"/>
                      <a:round/>
                      <a:headEnd type="none" w="med" len="med"/>
                      <a:tailEnd type="none" w="med" len="med"/>
                    </a:lnL>
                    <a:lnR w="6350" cap="flat" cmpd="sng" algn="ctr">
                      <a:solidFill>
                        <a:srgbClr val="DADFE3"/>
                      </a:solidFill>
                      <a:prstDash val="solid"/>
                      <a:round/>
                      <a:headEnd type="none" w="med" len="med"/>
                      <a:tailEnd type="none" w="med" len="med"/>
                    </a:lnR>
                    <a:lnT w="6350" cap="flat" cmpd="sng" algn="ctr">
                      <a:solidFill>
                        <a:srgbClr val="DADFE3"/>
                      </a:solidFill>
                      <a:prstDash val="solid"/>
                      <a:round/>
                      <a:headEnd type="none" w="med" len="med"/>
                      <a:tailEnd type="none" w="med" len="med"/>
                    </a:lnT>
                    <a:lnB w="6350" cap="flat" cmpd="sng" algn="ctr">
                      <a:solidFill>
                        <a:srgbClr val="DADFE3"/>
                      </a:solidFill>
                      <a:prstDash val="solid"/>
                      <a:round/>
                      <a:headEnd type="none" w="med" len="med"/>
                      <a:tailEnd type="none" w="med" len="med"/>
                    </a:lnB>
                    <a:solidFill>
                      <a:srgbClr val="EEF1F4"/>
                    </a:solidFill>
                  </a:tcPr>
                </a:tc>
                <a:tc>
                  <a:txBody>
                    <a:bodyPr/>
                    <a:lstStyle/>
                    <a:p>
                      <a:pPr marL="0" indent="0">
                        <a:buNone/>
                      </a:pPr>
                      <a:r>
                        <a:rPr lang="en-US" sz="1400" dirty="0">
                          <a:solidFill>
                            <a:srgbClr val="232B32"/>
                          </a:solidFill>
                          <a:latin typeface="Poppins" panose="00000500000000000000" pitchFamily="2" charset="0"/>
                          <a:ea typeface="Calibri" pitchFamily="34" charset="-122"/>
                          <a:cs typeface="Poppins" panose="00000500000000000000" pitchFamily="2" charset="0"/>
                        </a:rPr>
                        <a:t>Reduction in crop loss or displacement based on adoption of the knowledge from research</a:t>
                      </a:r>
                      <a:endParaRPr lang="en-US" sz="1400" dirty="0">
                        <a:latin typeface="Poppins" panose="00000500000000000000" pitchFamily="2" charset="0"/>
                        <a:ea typeface="Calibri" charset="0"/>
                        <a:cs typeface="Poppins" panose="00000500000000000000" pitchFamily="2" charset="0"/>
                      </a:endParaRPr>
                    </a:p>
                  </a:txBody>
                  <a:tcPr marL="76200" marR="76200" marT="50800" marB="50800" anchor="ctr">
                    <a:lnL w="6350" cap="flat" cmpd="sng" algn="ctr">
                      <a:solidFill>
                        <a:srgbClr val="DADFE3"/>
                      </a:solidFill>
                      <a:prstDash val="solid"/>
                      <a:round/>
                      <a:headEnd type="none" w="med" len="med"/>
                      <a:tailEnd type="none" w="med" len="med"/>
                    </a:lnL>
                    <a:lnR w="6350" cap="flat" cmpd="sng" algn="ctr">
                      <a:solidFill>
                        <a:srgbClr val="DADFE3"/>
                      </a:solidFill>
                      <a:prstDash val="solid"/>
                      <a:round/>
                      <a:headEnd type="none" w="med" len="med"/>
                      <a:tailEnd type="none" w="med" len="med"/>
                    </a:lnR>
                    <a:lnT w="6350" cap="flat" cmpd="sng" algn="ctr">
                      <a:solidFill>
                        <a:srgbClr val="DADFE3"/>
                      </a:solidFill>
                      <a:prstDash val="solid"/>
                      <a:round/>
                      <a:headEnd type="none" w="med" len="med"/>
                      <a:tailEnd type="none" w="med" len="med"/>
                    </a:lnT>
                    <a:lnB w="6350" cap="flat" cmpd="sng" algn="ctr">
                      <a:solidFill>
                        <a:srgbClr val="DADFE3"/>
                      </a:solidFill>
                      <a:prstDash val="solid"/>
                      <a:round/>
                      <a:headEnd type="none" w="med" len="med"/>
                      <a:tailEnd type="none" w="med" len="med"/>
                    </a:lnB>
                    <a:solidFill>
                      <a:srgbClr val="EEF1F4"/>
                    </a:solidFill>
                  </a:tcPr>
                </a:tc>
                <a:extLst>
                  <a:ext uri="{0D108BD9-81ED-4DB2-BD59-A6C34878D82A}">
                    <a16:rowId xmlns:a16="http://schemas.microsoft.com/office/drawing/2014/main" val="10004"/>
                  </a:ext>
                </a:extLst>
              </a:tr>
              <a:tr h="438912">
                <a:tc>
                  <a:txBody>
                    <a:bodyPr/>
                    <a:lstStyle/>
                    <a:p>
                      <a:pPr marL="0" indent="0">
                        <a:buNone/>
                      </a:pPr>
                      <a:r>
                        <a:rPr lang="en-US" sz="1400" dirty="0">
                          <a:solidFill>
                            <a:srgbClr val="232B32"/>
                          </a:solidFill>
                          <a:latin typeface="Poppins" panose="00000500000000000000" pitchFamily="2" charset="0"/>
                          <a:ea typeface="Calibri" pitchFamily="34" charset="-122"/>
                          <a:cs typeface="Poppins" panose="00000500000000000000" pitchFamily="2" charset="0"/>
                        </a:rPr>
                        <a:t>Finance</a:t>
                      </a:r>
                      <a:endParaRPr lang="en-US" sz="1400" dirty="0">
                        <a:latin typeface="Poppins" panose="00000500000000000000" pitchFamily="2" charset="0"/>
                        <a:ea typeface="Calibri" charset="0"/>
                        <a:cs typeface="Poppins" panose="00000500000000000000" pitchFamily="2" charset="0"/>
                      </a:endParaRPr>
                    </a:p>
                  </a:txBody>
                  <a:tcPr marL="76200" marR="76200" marT="50800" marB="50800" anchor="ctr">
                    <a:lnL w="6350" cap="flat" cmpd="sng" algn="ctr">
                      <a:solidFill>
                        <a:srgbClr val="DADFE3"/>
                      </a:solidFill>
                      <a:prstDash val="solid"/>
                      <a:round/>
                      <a:headEnd type="none" w="med" len="med"/>
                      <a:tailEnd type="none" w="med" len="med"/>
                    </a:lnL>
                    <a:lnR w="6350" cap="flat" cmpd="sng" algn="ctr">
                      <a:solidFill>
                        <a:srgbClr val="DADFE3"/>
                      </a:solidFill>
                      <a:prstDash val="solid"/>
                      <a:round/>
                      <a:headEnd type="none" w="med" len="med"/>
                      <a:tailEnd type="none" w="med" len="med"/>
                    </a:lnR>
                    <a:lnT w="6350" cap="flat" cmpd="sng" algn="ctr">
                      <a:solidFill>
                        <a:srgbClr val="DADFE3"/>
                      </a:solidFill>
                      <a:prstDash val="solid"/>
                      <a:round/>
                      <a:headEnd type="none" w="med" len="med"/>
                      <a:tailEnd type="none" w="med" len="med"/>
                    </a:lnT>
                    <a:lnB w="6350" cap="flat" cmpd="sng" algn="ctr">
                      <a:solidFill>
                        <a:srgbClr val="DADFE3"/>
                      </a:solidFill>
                      <a:prstDash val="solid"/>
                      <a:round/>
                      <a:headEnd type="none" w="med" len="med"/>
                      <a:tailEnd type="none" w="med" len="med"/>
                    </a:lnB>
                    <a:solidFill>
                      <a:srgbClr val="FFFFFF"/>
                    </a:solidFill>
                  </a:tcPr>
                </a:tc>
                <a:tc>
                  <a:txBody>
                    <a:bodyPr/>
                    <a:lstStyle/>
                    <a:p>
                      <a:pPr marL="0" indent="0">
                        <a:buNone/>
                      </a:pPr>
                      <a:r>
                        <a:rPr lang="en-US" sz="1400" dirty="0">
                          <a:solidFill>
                            <a:srgbClr val="232B32"/>
                          </a:solidFill>
                          <a:latin typeface="Poppins" panose="00000500000000000000" pitchFamily="2" charset="0"/>
                          <a:ea typeface="Calibri" pitchFamily="34" charset="-122"/>
                          <a:cs typeface="Poppins" panose="00000500000000000000" pitchFamily="2" charset="0"/>
                        </a:rPr>
                        <a:t>Finance mobilized citing the evidence</a:t>
                      </a:r>
                      <a:endParaRPr lang="en-US" sz="1400" dirty="0">
                        <a:latin typeface="Poppins" panose="00000500000000000000" pitchFamily="2" charset="0"/>
                        <a:ea typeface="Calibri" charset="0"/>
                        <a:cs typeface="Poppins" panose="00000500000000000000" pitchFamily="2" charset="0"/>
                      </a:endParaRPr>
                    </a:p>
                  </a:txBody>
                  <a:tcPr marL="76200" marR="76200" marT="50800" marB="50800" anchor="ctr">
                    <a:lnL w="6350" cap="flat" cmpd="sng" algn="ctr">
                      <a:solidFill>
                        <a:srgbClr val="DADFE3"/>
                      </a:solidFill>
                      <a:prstDash val="solid"/>
                      <a:round/>
                      <a:headEnd type="none" w="med" len="med"/>
                      <a:tailEnd type="none" w="med" len="med"/>
                    </a:lnL>
                    <a:lnR w="6350" cap="flat" cmpd="sng" algn="ctr">
                      <a:solidFill>
                        <a:srgbClr val="DADFE3"/>
                      </a:solidFill>
                      <a:prstDash val="solid"/>
                      <a:round/>
                      <a:headEnd type="none" w="med" len="med"/>
                      <a:tailEnd type="none" w="med" len="med"/>
                    </a:lnR>
                    <a:lnT w="6350" cap="flat" cmpd="sng" algn="ctr">
                      <a:solidFill>
                        <a:srgbClr val="DADFE3"/>
                      </a:solidFill>
                      <a:prstDash val="solid"/>
                      <a:round/>
                      <a:headEnd type="none" w="med" len="med"/>
                      <a:tailEnd type="none" w="med" len="med"/>
                    </a:lnT>
                    <a:lnB w="6350" cap="flat" cmpd="sng" algn="ctr">
                      <a:solidFill>
                        <a:srgbClr val="DADF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6577773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BAFA5E4-EDB7-AC0D-E1A2-A49E5EF0F763}"/>
              </a:ext>
            </a:extLst>
          </p:cNvPr>
          <p:cNvSpPr>
            <a:spLocks noGrp="1"/>
          </p:cNvSpPr>
          <p:nvPr>
            <p:ph type="title"/>
          </p:nvPr>
        </p:nvSpPr>
        <p:spPr>
          <a:xfrm>
            <a:off x="572100" y="576702"/>
            <a:ext cx="3579571" cy="572700"/>
          </a:xfrm>
        </p:spPr>
        <p:txBody>
          <a:bodyPr/>
          <a:lstStyle/>
          <a:p>
            <a:r>
              <a:rPr lang="en-US" sz="1800" b="1" dirty="0">
                <a:solidFill>
                  <a:srgbClr val="FFFF00"/>
                </a:solidFill>
              </a:rPr>
              <a:t>Pitfalls undermining research impact</a:t>
            </a:r>
            <a:endParaRPr lang="en-KE" sz="1800" b="1" dirty="0">
              <a:solidFill>
                <a:srgbClr val="FFFF00"/>
              </a:solidFill>
            </a:endParaRPr>
          </a:p>
        </p:txBody>
      </p:sp>
      <p:sp>
        <p:nvSpPr>
          <p:cNvPr id="8" name="TextBox 7">
            <a:extLst>
              <a:ext uri="{FF2B5EF4-FFF2-40B4-BE49-F238E27FC236}">
                <a16:creationId xmlns:a16="http://schemas.microsoft.com/office/drawing/2014/main" id="{1C47C1A0-7E10-A000-3E2E-C968CBE4C86B}"/>
              </a:ext>
            </a:extLst>
          </p:cNvPr>
          <p:cNvSpPr txBox="1"/>
          <p:nvPr/>
        </p:nvSpPr>
        <p:spPr>
          <a:xfrm>
            <a:off x="501445" y="1680400"/>
            <a:ext cx="3650226" cy="2031325"/>
          </a:xfrm>
          <a:prstGeom prst="rect">
            <a:avLst/>
          </a:prstGeom>
          <a:noFill/>
        </p:spPr>
        <p:txBody>
          <a:bodyPr wrap="square">
            <a:spAutoFit/>
          </a:bodyPr>
          <a:lstStyle/>
          <a:p>
            <a:pPr marL="285750" indent="-285750">
              <a:buClr>
                <a:schemeClr val="tx1">
                  <a:lumMod val="95000"/>
                </a:schemeClr>
              </a:buClr>
              <a:buFont typeface="Arial" panose="020B0604020202020204" pitchFamily="34" charset="0"/>
              <a:buChar char="•"/>
            </a:pPr>
            <a:r>
              <a:rPr lang="en-US" dirty="0">
                <a:solidFill>
                  <a:schemeClr val="tx2"/>
                </a:solidFill>
                <a:latin typeface="Oswald" panose="00000500000000000000" pitchFamily="2" charset="0"/>
              </a:rPr>
              <a:t>Treating dissemination as equivalent to impact</a:t>
            </a:r>
          </a:p>
          <a:p>
            <a:pPr marL="285750" indent="-285750">
              <a:buClr>
                <a:schemeClr val="tx1">
                  <a:lumMod val="95000"/>
                </a:schemeClr>
              </a:buClr>
              <a:buFont typeface="Arial" panose="020B0604020202020204" pitchFamily="34" charset="0"/>
              <a:buChar char="•"/>
            </a:pPr>
            <a:r>
              <a:rPr lang="en-US" dirty="0">
                <a:solidFill>
                  <a:schemeClr val="tx2"/>
                </a:solidFill>
                <a:latin typeface="Oswald" panose="00000500000000000000" pitchFamily="2" charset="0"/>
              </a:rPr>
              <a:t>Designing impact plans only after research is complete</a:t>
            </a:r>
          </a:p>
          <a:p>
            <a:pPr marL="285750" indent="-285750">
              <a:buClr>
                <a:schemeClr val="tx1">
                  <a:lumMod val="95000"/>
                </a:schemeClr>
              </a:buClr>
              <a:buFont typeface="Arial" panose="020B0604020202020204" pitchFamily="34" charset="0"/>
              <a:buChar char="•"/>
            </a:pPr>
            <a:r>
              <a:rPr lang="en-US" dirty="0">
                <a:solidFill>
                  <a:schemeClr val="tx2"/>
                </a:solidFill>
                <a:latin typeface="Oswald" panose="00000500000000000000" pitchFamily="2" charset="0"/>
              </a:rPr>
              <a:t>Over-claiming attribution for multi-actor outcomes</a:t>
            </a:r>
          </a:p>
          <a:p>
            <a:pPr marL="285750" indent="-285750">
              <a:buClr>
                <a:schemeClr val="tx1">
                  <a:lumMod val="95000"/>
                </a:schemeClr>
              </a:buClr>
              <a:buFont typeface="Arial" panose="020B0604020202020204" pitchFamily="34" charset="0"/>
              <a:buChar char="•"/>
            </a:pPr>
            <a:r>
              <a:rPr lang="en-US" dirty="0">
                <a:solidFill>
                  <a:schemeClr val="tx2"/>
                </a:solidFill>
                <a:latin typeface="Oswald" panose="00000500000000000000" pitchFamily="2" charset="0"/>
              </a:rPr>
              <a:t>Producing policy briefs with no follow-up engagement</a:t>
            </a:r>
          </a:p>
          <a:p>
            <a:pPr marL="285750" indent="-285750">
              <a:buClr>
                <a:schemeClr val="tx1">
                  <a:lumMod val="95000"/>
                </a:schemeClr>
              </a:buClr>
              <a:buFont typeface="Arial" panose="020B0604020202020204" pitchFamily="34" charset="0"/>
              <a:buChar char="•"/>
            </a:pPr>
            <a:r>
              <a:rPr lang="en-US" dirty="0">
                <a:solidFill>
                  <a:schemeClr val="tx2"/>
                </a:solidFill>
                <a:latin typeface="Oswald" panose="00000500000000000000" pitchFamily="2" charset="0"/>
              </a:rPr>
              <a:t>Ignoring negative or null results</a:t>
            </a:r>
          </a:p>
          <a:p>
            <a:pPr marL="285750" indent="-285750">
              <a:buClr>
                <a:schemeClr val="tx1">
                  <a:lumMod val="95000"/>
                </a:schemeClr>
              </a:buClr>
              <a:buFont typeface="Arial" panose="020B0604020202020204" pitchFamily="34" charset="0"/>
              <a:buChar char="•"/>
            </a:pPr>
            <a:r>
              <a:rPr lang="en-US" dirty="0">
                <a:solidFill>
                  <a:schemeClr val="tx2"/>
                </a:solidFill>
                <a:latin typeface="Oswald" panose="00000500000000000000" pitchFamily="2" charset="0"/>
              </a:rPr>
              <a:t>Under-investing in translation capacity</a:t>
            </a:r>
          </a:p>
        </p:txBody>
      </p:sp>
      <p:sp>
        <p:nvSpPr>
          <p:cNvPr id="10" name="TextBox 9">
            <a:extLst>
              <a:ext uri="{FF2B5EF4-FFF2-40B4-BE49-F238E27FC236}">
                <a16:creationId xmlns:a16="http://schemas.microsoft.com/office/drawing/2014/main" id="{7F6D14B0-3A9B-8E83-166A-42F8DF1CCFF4}"/>
              </a:ext>
            </a:extLst>
          </p:cNvPr>
          <p:cNvSpPr txBox="1"/>
          <p:nvPr/>
        </p:nvSpPr>
        <p:spPr>
          <a:xfrm>
            <a:off x="4858006" y="1504421"/>
            <a:ext cx="3997993" cy="2416046"/>
          </a:xfrm>
          <a:prstGeom prst="rect">
            <a:avLst/>
          </a:prstGeom>
          <a:noFill/>
        </p:spPr>
        <p:txBody>
          <a:bodyPr wrap="square">
            <a:spAutoFit/>
          </a:bodyPr>
          <a:lstStyle/>
          <a:p>
            <a:pPr marL="285750" indent="-285750">
              <a:spcAft>
                <a:spcPts val="600"/>
              </a:spcAft>
              <a:buClr>
                <a:schemeClr val="tx1">
                  <a:lumMod val="95000"/>
                </a:schemeClr>
              </a:buClr>
              <a:buFont typeface="Arial" panose="020B0604020202020204" pitchFamily="34" charset="0"/>
              <a:buChar char="•"/>
            </a:pPr>
            <a:r>
              <a:rPr lang="en-US" dirty="0">
                <a:solidFill>
                  <a:schemeClr val="accent5">
                    <a:lumMod val="20000"/>
                    <a:lumOff val="80000"/>
                  </a:schemeClr>
                </a:solidFill>
                <a:latin typeface="Oswald" panose="00000500000000000000" pitchFamily="2" charset="0"/>
              </a:rPr>
              <a:t>Design for impact at the onset</a:t>
            </a:r>
          </a:p>
          <a:p>
            <a:pPr marL="285750" indent="-285750">
              <a:spcAft>
                <a:spcPts val="600"/>
              </a:spcAft>
              <a:buClr>
                <a:schemeClr val="tx1">
                  <a:lumMod val="95000"/>
                </a:schemeClr>
              </a:buClr>
              <a:buFont typeface="Arial" panose="020B0604020202020204" pitchFamily="34" charset="0"/>
              <a:buChar char="•"/>
            </a:pPr>
            <a:r>
              <a:rPr lang="en-US" dirty="0">
                <a:solidFill>
                  <a:schemeClr val="accent5">
                    <a:lumMod val="20000"/>
                    <a:lumOff val="80000"/>
                  </a:schemeClr>
                </a:solidFill>
                <a:latin typeface="Oswald" panose="00000500000000000000" pitchFamily="2" charset="0"/>
              </a:rPr>
              <a:t>Invest in translation capacity</a:t>
            </a:r>
          </a:p>
          <a:p>
            <a:pPr marL="285750" indent="-285750">
              <a:spcAft>
                <a:spcPts val="600"/>
              </a:spcAft>
              <a:buClr>
                <a:schemeClr val="tx1">
                  <a:lumMod val="95000"/>
                </a:schemeClr>
              </a:buClr>
              <a:buFont typeface="Arial" panose="020B0604020202020204" pitchFamily="34" charset="0"/>
              <a:buChar char="•"/>
            </a:pPr>
            <a:r>
              <a:rPr lang="en-US" dirty="0">
                <a:solidFill>
                  <a:schemeClr val="accent5">
                    <a:lumMod val="20000"/>
                    <a:lumOff val="80000"/>
                  </a:schemeClr>
                </a:solidFill>
                <a:latin typeface="Oswald" panose="00000500000000000000" pitchFamily="2" charset="0"/>
              </a:rPr>
              <a:t>Build durable relationships with policy &amp; community actors</a:t>
            </a:r>
          </a:p>
          <a:p>
            <a:pPr marL="285750" indent="-285750">
              <a:spcAft>
                <a:spcPts val="600"/>
              </a:spcAft>
              <a:buClr>
                <a:schemeClr val="tx1">
                  <a:lumMod val="95000"/>
                </a:schemeClr>
              </a:buClr>
              <a:buFont typeface="Arial" panose="020B0604020202020204" pitchFamily="34" charset="0"/>
              <a:buChar char="•"/>
            </a:pPr>
            <a:r>
              <a:rPr lang="en-US" dirty="0">
                <a:solidFill>
                  <a:schemeClr val="accent5">
                    <a:lumMod val="20000"/>
                    <a:lumOff val="80000"/>
                  </a:schemeClr>
                </a:solidFill>
                <a:latin typeface="Oswald" panose="00000500000000000000" pitchFamily="2" charset="0"/>
              </a:rPr>
              <a:t>Build durable relationships with policy &amp; community actors</a:t>
            </a:r>
          </a:p>
          <a:p>
            <a:pPr marL="285750" indent="-285750">
              <a:spcAft>
                <a:spcPts val="600"/>
              </a:spcAft>
              <a:buClr>
                <a:schemeClr val="tx1">
                  <a:lumMod val="95000"/>
                </a:schemeClr>
              </a:buClr>
              <a:buFont typeface="Arial" panose="020B0604020202020204" pitchFamily="34" charset="0"/>
              <a:buChar char="•"/>
            </a:pPr>
            <a:r>
              <a:rPr lang="en-US" dirty="0">
                <a:solidFill>
                  <a:schemeClr val="accent5">
                    <a:lumMod val="20000"/>
                    <a:lumOff val="80000"/>
                  </a:schemeClr>
                </a:solidFill>
                <a:latin typeface="Oswald" panose="00000500000000000000" pitchFamily="2" charset="0"/>
              </a:rPr>
              <a:t>Track outcomes, not just outputs</a:t>
            </a:r>
          </a:p>
          <a:p>
            <a:pPr marL="285750" indent="-285750">
              <a:spcAft>
                <a:spcPts val="600"/>
              </a:spcAft>
              <a:buClr>
                <a:schemeClr val="tx1">
                  <a:lumMod val="95000"/>
                </a:schemeClr>
              </a:buClr>
              <a:buFont typeface="Arial" panose="020B0604020202020204" pitchFamily="34" charset="0"/>
              <a:buChar char="•"/>
            </a:pPr>
            <a:r>
              <a:rPr lang="en-US" dirty="0">
                <a:solidFill>
                  <a:schemeClr val="accent5">
                    <a:lumMod val="20000"/>
                    <a:lumOff val="80000"/>
                  </a:schemeClr>
                </a:solidFill>
                <a:latin typeface="Oswald" panose="00000500000000000000" pitchFamily="2" charset="0"/>
              </a:rPr>
              <a:t>Plan for resource mobilization as part of impact strategy</a:t>
            </a:r>
          </a:p>
        </p:txBody>
      </p:sp>
      <p:sp>
        <p:nvSpPr>
          <p:cNvPr id="11" name="Title 3">
            <a:extLst>
              <a:ext uri="{FF2B5EF4-FFF2-40B4-BE49-F238E27FC236}">
                <a16:creationId xmlns:a16="http://schemas.microsoft.com/office/drawing/2014/main" id="{9CF983FD-4D9E-9767-EEC0-33A9A3D2A227}"/>
              </a:ext>
            </a:extLst>
          </p:cNvPr>
          <p:cNvSpPr txBox="1">
            <a:spLocks/>
          </p:cNvSpPr>
          <p:nvPr/>
        </p:nvSpPr>
        <p:spPr>
          <a:xfrm>
            <a:off x="4802428" y="576702"/>
            <a:ext cx="3866372"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dk1"/>
              </a:buClr>
              <a:buSzPts val="3000"/>
              <a:buFont typeface="Oswald"/>
              <a:buNone/>
              <a:defRPr sz="3000" b="0" i="0" u="none" strike="noStrike" cap="none">
                <a:solidFill>
                  <a:schemeClr val="dk1"/>
                </a:solidFill>
                <a:latin typeface="Oswald"/>
                <a:ea typeface="Oswald"/>
                <a:cs typeface="Oswald"/>
                <a:sym typeface="Oswald"/>
              </a:defRPr>
            </a:lvl1pPr>
            <a:lvl2pPr marR="0" lvl="1" algn="l" rtl="0" eaLnBrk="1" hangingPunct="1">
              <a:lnSpc>
                <a:spcPct val="100000"/>
              </a:lnSpc>
              <a:spcBef>
                <a:spcPts val="0"/>
              </a:spcBef>
              <a:spcAft>
                <a:spcPts val="0"/>
              </a:spcAft>
              <a:buClr>
                <a:schemeClr val="dk1"/>
              </a:buClr>
              <a:buSzPts val="3000"/>
              <a:buFont typeface="Oswald"/>
              <a:buNone/>
              <a:defRPr sz="3000" b="0" i="0" u="none" strike="noStrike" cap="none">
                <a:solidFill>
                  <a:schemeClr val="dk1"/>
                </a:solidFill>
                <a:latin typeface="Oswald"/>
                <a:ea typeface="Oswald"/>
                <a:cs typeface="Oswald"/>
                <a:sym typeface="Oswald"/>
              </a:defRPr>
            </a:lvl2pPr>
            <a:lvl3pPr marR="0" lvl="2" algn="l" rtl="0" eaLnBrk="1" hangingPunct="1">
              <a:lnSpc>
                <a:spcPct val="100000"/>
              </a:lnSpc>
              <a:spcBef>
                <a:spcPts val="0"/>
              </a:spcBef>
              <a:spcAft>
                <a:spcPts val="0"/>
              </a:spcAft>
              <a:buClr>
                <a:schemeClr val="dk1"/>
              </a:buClr>
              <a:buSzPts val="3000"/>
              <a:buFont typeface="Oswald"/>
              <a:buNone/>
              <a:defRPr sz="3000" b="0" i="0" u="none" strike="noStrike" cap="none">
                <a:solidFill>
                  <a:schemeClr val="dk1"/>
                </a:solidFill>
                <a:latin typeface="Oswald"/>
                <a:ea typeface="Oswald"/>
                <a:cs typeface="Oswald"/>
                <a:sym typeface="Oswald"/>
              </a:defRPr>
            </a:lvl3pPr>
            <a:lvl4pPr marR="0" lvl="3" algn="l" rtl="0" eaLnBrk="1" hangingPunct="1">
              <a:lnSpc>
                <a:spcPct val="100000"/>
              </a:lnSpc>
              <a:spcBef>
                <a:spcPts val="0"/>
              </a:spcBef>
              <a:spcAft>
                <a:spcPts val="0"/>
              </a:spcAft>
              <a:buClr>
                <a:schemeClr val="dk1"/>
              </a:buClr>
              <a:buSzPts val="3000"/>
              <a:buFont typeface="Oswald"/>
              <a:buNone/>
              <a:defRPr sz="3000" b="0" i="0" u="none" strike="noStrike" cap="none">
                <a:solidFill>
                  <a:schemeClr val="dk1"/>
                </a:solidFill>
                <a:latin typeface="Oswald"/>
                <a:ea typeface="Oswald"/>
                <a:cs typeface="Oswald"/>
                <a:sym typeface="Oswald"/>
              </a:defRPr>
            </a:lvl4pPr>
            <a:lvl5pPr marR="0" lvl="4" algn="l" rtl="0" eaLnBrk="1" hangingPunct="1">
              <a:lnSpc>
                <a:spcPct val="100000"/>
              </a:lnSpc>
              <a:spcBef>
                <a:spcPts val="0"/>
              </a:spcBef>
              <a:spcAft>
                <a:spcPts val="0"/>
              </a:spcAft>
              <a:buClr>
                <a:schemeClr val="dk1"/>
              </a:buClr>
              <a:buSzPts val="3000"/>
              <a:buFont typeface="Oswald"/>
              <a:buNone/>
              <a:defRPr sz="3000" b="0" i="0" u="none" strike="noStrike" cap="none">
                <a:solidFill>
                  <a:schemeClr val="dk1"/>
                </a:solidFill>
                <a:latin typeface="Oswald"/>
                <a:ea typeface="Oswald"/>
                <a:cs typeface="Oswald"/>
                <a:sym typeface="Oswald"/>
              </a:defRPr>
            </a:lvl5pPr>
            <a:lvl6pPr marR="0" lvl="5" algn="l" rtl="0" eaLnBrk="1" hangingPunct="1">
              <a:lnSpc>
                <a:spcPct val="100000"/>
              </a:lnSpc>
              <a:spcBef>
                <a:spcPts val="0"/>
              </a:spcBef>
              <a:spcAft>
                <a:spcPts val="0"/>
              </a:spcAft>
              <a:buClr>
                <a:schemeClr val="dk1"/>
              </a:buClr>
              <a:buSzPts val="3000"/>
              <a:buFont typeface="Oswald"/>
              <a:buNone/>
              <a:defRPr sz="3000" b="0" i="0" u="none" strike="noStrike" cap="none">
                <a:solidFill>
                  <a:schemeClr val="dk1"/>
                </a:solidFill>
                <a:latin typeface="Oswald"/>
                <a:ea typeface="Oswald"/>
                <a:cs typeface="Oswald"/>
                <a:sym typeface="Oswald"/>
              </a:defRPr>
            </a:lvl6pPr>
            <a:lvl7pPr marR="0" lvl="6" algn="l" rtl="0" eaLnBrk="1" hangingPunct="1">
              <a:lnSpc>
                <a:spcPct val="100000"/>
              </a:lnSpc>
              <a:spcBef>
                <a:spcPts val="0"/>
              </a:spcBef>
              <a:spcAft>
                <a:spcPts val="0"/>
              </a:spcAft>
              <a:buClr>
                <a:schemeClr val="dk1"/>
              </a:buClr>
              <a:buSzPts val="3000"/>
              <a:buFont typeface="Oswald"/>
              <a:buNone/>
              <a:defRPr sz="3000" b="0" i="0" u="none" strike="noStrike" cap="none">
                <a:solidFill>
                  <a:schemeClr val="dk1"/>
                </a:solidFill>
                <a:latin typeface="Oswald"/>
                <a:ea typeface="Oswald"/>
                <a:cs typeface="Oswald"/>
                <a:sym typeface="Oswald"/>
              </a:defRPr>
            </a:lvl7pPr>
            <a:lvl8pPr marR="0" lvl="7" algn="l" rtl="0" eaLnBrk="1" hangingPunct="1">
              <a:lnSpc>
                <a:spcPct val="100000"/>
              </a:lnSpc>
              <a:spcBef>
                <a:spcPts val="0"/>
              </a:spcBef>
              <a:spcAft>
                <a:spcPts val="0"/>
              </a:spcAft>
              <a:buClr>
                <a:schemeClr val="dk1"/>
              </a:buClr>
              <a:buSzPts val="3000"/>
              <a:buFont typeface="Oswald"/>
              <a:buNone/>
              <a:defRPr sz="3000" b="0" i="0" u="none" strike="noStrike" cap="none">
                <a:solidFill>
                  <a:schemeClr val="dk1"/>
                </a:solidFill>
                <a:latin typeface="Oswald"/>
                <a:ea typeface="Oswald"/>
                <a:cs typeface="Oswald"/>
                <a:sym typeface="Oswald"/>
              </a:defRPr>
            </a:lvl8pPr>
            <a:lvl9pPr marR="0" lvl="8" algn="l" rtl="0" eaLnBrk="1" hangingPunct="1">
              <a:lnSpc>
                <a:spcPct val="100000"/>
              </a:lnSpc>
              <a:spcBef>
                <a:spcPts val="0"/>
              </a:spcBef>
              <a:spcAft>
                <a:spcPts val="0"/>
              </a:spcAft>
              <a:buClr>
                <a:schemeClr val="dk1"/>
              </a:buClr>
              <a:buSzPts val="3000"/>
              <a:buFont typeface="Oswald"/>
              <a:buNone/>
              <a:defRPr sz="3000" b="0" i="0" u="none" strike="noStrike" cap="none">
                <a:solidFill>
                  <a:schemeClr val="dk1"/>
                </a:solidFill>
                <a:latin typeface="Oswald"/>
                <a:ea typeface="Oswald"/>
                <a:cs typeface="Oswald"/>
                <a:sym typeface="Oswald"/>
              </a:defRPr>
            </a:lvl9pPr>
          </a:lstStyle>
          <a:p>
            <a:r>
              <a:rPr lang="en-US" sz="1800" b="1" dirty="0">
                <a:solidFill>
                  <a:srgbClr val="00FF00"/>
                </a:solidFill>
              </a:rPr>
              <a:t>Principles of maximizing Research Impact</a:t>
            </a:r>
            <a:endParaRPr lang="en-KE" sz="1800" b="1" dirty="0">
              <a:solidFill>
                <a:srgbClr val="00FF00"/>
              </a:solidFill>
            </a:endParaRPr>
          </a:p>
        </p:txBody>
      </p:sp>
    </p:spTree>
    <p:extLst>
      <p:ext uri="{BB962C8B-B14F-4D97-AF65-F5344CB8AC3E}">
        <p14:creationId xmlns:p14="http://schemas.microsoft.com/office/powerpoint/2010/main" val="12479947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D170D-858D-E165-3B9F-5FE1F0F582F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898E3FE-E64C-91C1-F3C2-6F1E40A3C674}"/>
              </a:ext>
            </a:extLst>
          </p:cNvPr>
          <p:cNvSpPr txBox="1"/>
          <p:nvPr/>
        </p:nvSpPr>
        <p:spPr>
          <a:xfrm>
            <a:off x="1270800" y="691157"/>
            <a:ext cx="7254000" cy="400110"/>
          </a:xfrm>
          <a:prstGeom prst="rect">
            <a:avLst/>
          </a:prstGeom>
          <a:noFill/>
        </p:spPr>
        <p:txBody>
          <a:bodyPr wrap="square">
            <a:spAutoFit/>
          </a:bodyPr>
          <a:lstStyle/>
          <a:p>
            <a:r>
              <a:rPr lang="en-GB" sz="2000" b="1" dirty="0">
                <a:solidFill>
                  <a:srgbClr val="002060"/>
                </a:solidFill>
                <a:latin typeface="Oswald" panose="00000500000000000000" pitchFamily="2" charset="0"/>
              </a:rPr>
              <a:t>Assignment</a:t>
            </a:r>
            <a:endParaRPr lang="en-KE" sz="2000" dirty="0">
              <a:solidFill>
                <a:srgbClr val="002060"/>
              </a:solidFill>
              <a:latin typeface="Oswald" panose="00000500000000000000" pitchFamily="2" charset="0"/>
            </a:endParaRPr>
          </a:p>
        </p:txBody>
      </p:sp>
      <p:sp>
        <p:nvSpPr>
          <p:cNvPr id="3" name="Shape 6">
            <a:extLst>
              <a:ext uri="{FF2B5EF4-FFF2-40B4-BE49-F238E27FC236}">
                <a16:creationId xmlns:a16="http://schemas.microsoft.com/office/drawing/2014/main" id="{5C43A543-A741-2F97-C6AB-D9D8C526B4F6}"/>
              </a:ext>
            </a:extLst>
          </p:cNvPr>
          <p:cNvSpPr/>
          <p:nvPr/>
        </p:nvSpPr>
        <p:spPr>
          <a:xfrm>
            <a:off x="1167840" y="1553760"/>
            <a:ext cx="457200" cy="457200"/>
          </a:xfrm>
          <a:prstGeom prst="ellipse">
            <a:avLst/>
          </a:prstGeom>
          <a:solidFill>
            <a:srgbClr val="1F4E79"/>
          </a:solidFill>
          <a:ln/>
        </p:spPr>
      </p:sp>
      <p:sp>
        <p:nvSpPr>
          <p:cNvPr id="7" name="Text 7">
            <a:extLst>
              <a:ext uri="{FF2B5EF4-FFF2-40B4-BE49-F238E27FC236}">
                <a16:creationId xmlns:a16="http://schemas.microsoft.com/office/drawing/2014/main" id="{9F003844-C8EC-2B01-B211-E288E949CDBD}"/>
              </a:ext>
            </a:extLst>
          </p:cNvPr>
          <p:cNvSpPr/>
          <p:nvPr/>
        </p:nvSpPr>
        <p:spPr>
          <a:xfrm>
            <a:off x="1167840" y="155376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Poppins" panose="00000500000000000000" pitchFamily="2" charset="0"/>
                <a:cs typeface="Poppins" panose="00000500000000000000" pitchFamily="2" charset="0"/>
              </a:rPr>
              <a:t>1</a:t>
            </a:r>
            <a:endParaRPr lang="en-US" sz="1800" dirty="0">
              <a:latin typeface="Poppins" panose="00000500000000000000" pitchFamily="2" charset="0"/>
              <a:cs typeface="Poppins" panose="00000500000000000000" pitchFamily="2" charset="0"/>
            </a:endParaRPr>
          </a:p>
        </p:txBody>
      </p:sp>
      <p:sp>
        <p:nvSpPr>
          <p:cNvPr id="10" name="Text 8">
            <a:extLst>
              <a:ext uri="{FF2B5EF4-FFF2-40B4-BE49-F238E27FC236}">
                <a16:creationId xmlns:a16="http://schemas.microsoft.com/office/drawing/2014/main" id="{80547E40-CDA8-E200-25F4-F89E21F6ACA3}"/>
              </a:ext>
            </a:extLst>
          </p:cNvPr>
          <p:cNvSpPr/>
          <p:nvPr/>
        </p:nvSpPr>
        <p:spPr>
          <a:xfrm>
            <a:off x="1807920" y="1508040"/>
            <a:ext cx="6168240" cy="548640"/>
          </a:xfrm>
          <a:prstGeom prst="rect">
            <a:avLst/>
          </a:prstGeom>
          <a:noFill/>
          <a:ln/>
        </p:spPr>
        <p:txBody>
          <a:bodyPr wrap="square" lIns="0" tIns="0" rIns="0" bIns="0" rtlCol="0" anchor="ctr"/>
          <a:lstStyle/>
          <a:p>
            <a:pPr marL="0" indent="0">
              <a:buNone/>
            </a:pPr>
            <a:r>
              <a:rPr lang="en-US" sz="1800" dirty="0">
                <a:solidFill>
                  <a:srgbClr val="232B32"/>
                </a:solidFill>
                <a:latin typeface="Poppins" panose="00000500000000000000" pitchFamily="2" charset="0"/>
                <a:cs typeface="Poppins" panose="00000500000000000000" pitchFamily="2" charset="0"/>
              </a:rPr>
              <a:t>Map the primary users, influencers, and beneficiaries of your research outputs</a:t>
            </a:r>
            <a:endParaRPr lang="en-US" sz="1800" dirty="0">
              <a:latin typeface="Poppins" panose="00000500000000000000" pitchFamily="2" charset="0"/>
              <a:cs typeface="Poppins" panose="00000500000000000000" pitchFamily="2" charset="0"/>
            </a:endParaRPr>
          </a:p>
        </p:txBody>
      </p:sp>
      <p:sp>
        <p:nvSpPr>
          <p:cNvPr id="12" name="Shape 9">
            <a:extLst>
              <a:ext uri="{FF2B5EF4-FFF2-40B4-BE49-F238E27FC236}">
                <a16:creationId xmlns:a16="http://schemas.microsoft.com/office/drawing/2014/main" id="{39847CD6-E4E1-E568-0770-F1689440A89C}"/>
              </a:ext>
            </a:extLst>
          </p:cNvPr>
          <p:cNvSpPr/>
          <p:nvPr/>
        </p:nvSpPr>
        <p:spPr>
          <a:xfrm>
            <a:off x="1167840" y="2513880"/>
            <a:ext cx="457200" cy="457200"/>
          </a:xfrm>
          <a:prstGeom prst="ellipse">
            <a:avLst/>
          </a:prstGeom>
          <a:solidFill>
            <a:srgbClr val="1F4E79"/>
          </a:solidFill>
          <a:ln/>
        </p:spPr>
      </p:sp>
      <p:sp>
        <p:nvSpPr>
          <p:cNvPr id="14" name="Text 10">
            <a:extLst>
              <a:ext uri="{FF2B5EF4-FFF2-40B4-BE49-F238E27FC236}">
                <a16:creationId xmlns:a16="http://schemas.microsoft.com/office/drawing/2014/main" id="{57CB5247-33FB-A20A-C30A-CDCACC340021}"/>
              </a:ext>
            </a:extLst>
          </p:cNvPr>
          <p:cNvSpPr/>
          <p:nvPr/>
        </p:nvSpPr>
        <p:spPr>
          <a:xfrm>
            <a:off x="1167840" y="25138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Poppins" panose="00000500000000000000" pitchFamily="2" charset="0"/>
                <a:cs typeface="Poppins" panose="00000500000000000000" pitchFamily="2" charset="0"/>
              </a:rPr>
              <a:t>2</a:t>
            </a:r>
            <a:endParaRPr lang="en-US" sz="1800" dirty="0">
              <a:latin typeface="Poppins" panose="00000500000000000000" pitchFamily="2" charset="0"/>
              <a:cs typeface="Poppins" panose="00000500000000000000" pitchFamily="2" charset="0"/>
            </a:endParaRPr>
          </a:p>
        </p:txBody>
      </p:sp>
      <p:sp>
        <p:nvSpPr>
          <p:cNvPr id="16" name="Text 11">
            <a:extLst>
              <a:ext uri="{FF2B5EF4-FFF2-40B4-BE49-F238E27FC236}">
                <a16:creationId xmlns:a16="http://schemas.microsoft.com/office/drawing/2014/main" id="{38B39963-9A31-8CF0-59B3-6E94CD756CD7}"/>
              </a:ext>
            </a:extLst>
          </p:cNvPr>
          <p:cNvSpPr/>
          <p:nvPr/>
        </p:nvSpPr>
        <p:spPr>
          <a:xfrm>
            <a:off x="1807920" y="2538181"/>
            <a:ext cx="6727115" cy="548640"/>
          </a:xfrm>
          <a:prstGeom prst="rect">
            <a:avLst/>
          </a:prstGeom>
          <a:noFill/>
          <a:ln/>
        </p:spPr>
        <p:txBody>
          <a:bodyPr wrap="square" lIns="0" tIns="0" rIns="0" bIns="0" rtlCol="0" anchor="ctr"/>
          <a:lstStyle/>
          <a:p>
            <a:pPr marL="0" indent="0">
              <a:buNone/>
            </a:pPr>
            <a:r>
              <a:rPr lang="en-US" sz="1800" dirty="0">
                <a:solidFill>
                  <a:srgbClr val="232B32"/>
                </a:solidFill>
                <a:latin typeface="Poppins" panose="00000500000000000000" pitchFamily="2" charset="0"/>
                <a:cs typeface="Poppins" panose="00000500000000000000" pitchFamily="2" charset="0"/>
              </a:rPr>
              <a:t>Sketch log frame of research question to include activities, outputs, out comes and impact. Also include the verifiable indicators, means of verification and assumptions</a:t>
            </a:r>
            <a:endParaRPr lang="en-US" sz="1800"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5537909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39"/>
          <p:cNvSpPr txBox="1">
            <a:spLocks noGrp="1"/>
          </p:cNvSpPr>
          <p:nvPr>
            <p:ph type="title"/>
          </p:nvPr>
        </p:nvSpPr>
        <p:spPr>
          <a:xfrm>
            <a:off x="645900" y="2141250"/>
            <a:ext cx="7852200" cy="861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dirty="0">
                <a:latin typeface="Poppins"/>
                <a:ea typeface="Poppins"/>
                <a:cs typeface="Poppins"/>
                <a:sym typeface="Poppins"/>
              </a:rPr>
              <a:t>Questions and discussions</a:t>
            </a:r>
            <a:endParaRPr b="1" dirty="0">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name="Slate">
  <a:themeElements>
    <a:clrScheme name="Slate">
      <a:dk1>
        <a:srgbClr val="FFFFFF"/>
      </a:dk1>
      <a:lt1>
        <a:srgbClr val="073A35"/>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ARIN PPT Template" id="{53380C18-BCFF-204B-8B61-35E0BC1D6498}" vid="{889FEF5D-2F43-1249-83CE-7023C32503F8}"/>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Slate</Template>
  <TotalTime>4381</TotalTime>
  <Words>1213</Words>
  <Application>Microsoft Office PowerPoint</Application>
  <PresentationFormat>On-screen Show (16:9)</PresentationFormat>
  <Paragraphs>111</Paragraphs>
  <Slides>14</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Wingdings</vt:lpstr>
      <vt:lpstr>Poppins</vt:lpstr>
      <vt:lpstr>Oswald</vt:lpstr>
      <vt:lpstr>Rubik</vt:lpstr>
      <vt:lpstr>Average</vt:lpstr>
      <vt:lpstr>Arial</vt:lpstr>
      <vt:lpstr>Slate</vt:lpstr>
      <vt:lpstr>Research Impact and Open Science</vt:lpstr>
      <vt:lpstr>Outline</vt:lpstr>
      <vt:lpstr>Recap</vt:lpstr>
      <vt:lpstr>Recap 5-Step Move Model (Social Science)</vt:lpstr>
      <vt:lpstr>Research Impact</vt:lpstr>
      <vt:lpstr>Output Outcome Impact</vt:lpstr>
      <vt:lpstr>Domains of Impact</vt:lpstr>
      <vt:lpstr>Frameworks for planning and tracing impact</vt:lpstr>
      <vt:lpstr>Sample Log frame</vt:lpstr>
      <vt:lpstr>Sample Theory of Change</vt:lpstr>
      <vt:lpstr>Measuring impact, example </vt:lpstr>
      <vt:lpstr>Pitfalls undermining research impact</vt:lpstr>
      <vt:lpstr>PowerPoint Presentation</vt:lpstr>
      <vt:lpstr>Questions and discussions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George Masila</dc:creator>
  <cp:lastModifiedBy>FO</cp:lastModifiedBy>
  <cp:revision>10</cp:revision>
  <dcterms:created xsi:type="dcterms:W3CDTF">2026-07-06T08:09:00Z</dcterms:created>
  <dcterms:modified xsi:type="dcterms:W3CDTF">2026-07-30T11:52:45Z</dcterms:modified>
</cp:coreProperties>
</file>